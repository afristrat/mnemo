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86868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E3F0EF"/>
                </a:solidFill>
                <a:latin typeface="Inter"/>
              </a:rPr>
              <a:t>CAS D'USAGE · COHORTE ENTREPRENEURS ÉLITE IA · LE LABO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3172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Space Grotesk"/>
              </a:rPr>
              <a:t>Mnémo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Space Grotesk"/>
              </a:rPr>
              <a:t>Modèle économique &amp; monétisation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 i="0">
                <a:solidFill>
                  <a:srgbClr val="C9D6D6"/>
                </a:solidFill>
                <a:latin typeface="Inter"/>
              </a:rPr>
              <a:t>Pourquoi nous avons fait évoluer le produit — les pivots de modèle économique et la correction de ses faiblesses.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44768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E3F0EF"/>
                </a:solidFill>
                <a:latin typeface="Inter"/>
              </a:rPr>
              <a:t>La base mémorielle souveraine qui grandit avec votre organisation.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La recommandation, seule, ne vaut plus rien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50" b="0" i="0">
                <a:solidFill>
                  <a:srgbClr val="3C4A50"/>
                </a:solidFill>
                <a:latin typeface="Inter"/>
              </a:rPr>
              <a:t>Demander « quelle infra de mémoire IA me faut-il ? » est devenu gratuit : un grand modèle de langage répond en quelques secondes. Conseiller ne suffit donc plus à construire une entreprise.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45643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3063240"/>
            <a:ext cx="50292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46120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50" b="1" i="0">
                <a:solidFill>
                  <a:srgbClr val="141B1F"/>
                </a:solidFill>
                <a:latin typeface="Space Grotesk"/>
              </a:rPr>
              <a:t>La reco est commoditisée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114800"/>
            <a:ext cx="2871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N'importe quel LLM généraliste produit une recommandation crédible, gratuitement. Aucune barrière concurrentielle à ce niveau.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743200"/>
            <a:ext cx="345643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36008" y="3063240"/>
            <a:ext cx="50292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3246120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50" b="1" i="0">
                <a:solidFill>
                  <a:srgbClr val="141B1F"/>
                </a:solidFill>
                <a:latin typeface="Space Grotesk"/>
              </a:rPr>
              <a:t>Les options existantes sont bancales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4114800"/>
            <a:ext cx="2871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Outils grand public (mémoire faible, données chez un tiers), projet sur-mesure (30–200 k€, non réutilisable) ou SaaS locataire à vie.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43200"/>
            <a:ext cx="345643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8" y="3063240"/>
            <a:ext cx="502920" cy="508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3246120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50" b="1" i="0">
                <a:solidFill>
                  <a:srgbClr val="141B1F"/>
                </a:solidFill>
                <a:latin typeface="Space Grotesk"/>
              </a:rPr>
              <a:t>Le vrai problème est ailleurs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114800"/>
            <a:ext cx="2871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Exécuter, maintenir dans le temps et ne pas se faire verrouiller par le fournisseur : c'est là que se cache la valeur défendable.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0A5C5B"/>
                </a:solidFill>
                <a:latin typeface="Space Grotesk"/>
              </a:rPr>
              <a:t>La question stratégique : que vend-on quand le conseil est gratuit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LA RÉPONSE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Recette ouverte, cuisine payante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881360" cy="1417320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50" b="0" i="0">
                <a:solidFill>
                  <a:srgbClr val="141B1F"/>
                </a:solidFill>
                <a:latin typeface="Inter"/>
              </a:rPr>
              <a:t>Mnémo profile le besoin d'un dirigeant, recommande une stack de base mémorielle souveraine sur 7 couches — chiffrée et exportable — puis, en montée en gamme, la déploie et l'exploite via un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5321808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146304" cy="24688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4681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0E7C7B"/>
                </a:solidFill>
                <a:latin typeface="Space Grotesk"/>
              </a:rPr>
              <a:t>La recette — OUVERTE &amp; GRATUITE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60"/>
            <a:ext cx="46817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b="0" i="0">
                <a:solidFill>
                  <a:srgbClr val="3C4A50"/>
                </a:solidFill>
                <a:latin typeface="Inter"/>
              </a:rPr>
              <a:t>On montre tout le « quoi » : la reco, la carte de coûts, le livrable exportable, le bundle de sortie reproductible. La transparence crée la confiance et tue le verrouillage.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4864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L'hameçon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566160"/>
            <a:ext cx="5321808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566160"/>
            <a:ext cx="146304" cy="246888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858768"/>
            <a:ext cx="4681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0A5C5B"/>
                </a:solidFill>
                <a:latin typeface="Space Grotesk"/>
              </a:rPr>
              <a:t>La cuisine — PAYANTE &amp; RÉCURRENTE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480560"/>
            <a:ext cx="46817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b="0" i="0">
                <a:solidFill>
                  <a:srgbClr val="3C4A50"/>
                </a:solidFill>
                <a:latin typeface="Inter"/>
              </a:rPr>
              <a:t>On facture l'opération continue : déploiement assisté, monitoring, recalibration, négociation tarifaire au nom du client. C'est là que rentre l'argent récurrent.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54864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La rente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Ce qui a changé depuis la 1ʳᵉ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0" i="0">
                <a:solidFill>
                  <a:srgbClr val="3C4A50"/>
                </a:solidFill>
                <a:latin typeface="Inter"/>
              </a:rPr>
              <a:t>Sept pivots ont transformé une simple idée de conseil en un produit défendable. Chacun corrige une faiblesse identifiée.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3456432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6609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i="0">
                <a:solidFill>
                  <a:srgbClr val="0E7C7B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60904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Version mince refusée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1752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80" b="0" i="0">
                <a:solidFill>
                  <a:srgbClr val="3C4A50"/>
                </a:solidFill>
                <a:latin typeface="Inter"/>
              </a:rPr>
              <a:t>Production-ready par lots, zéro dette — crédibilité.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514600"/>
            <a:ext cx="3456432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6609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i="0">
                <a:solidFill>
                  <a:srgbClr val="0E7C7B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660904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On ne vend plus la reco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01752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80" b="0" i="0">
                <a:solidFill>
                  <a:srgbClr val="3C4A50"/>
                </a:solidFill>
                <a:latin typeface="Inter"/>
              </a:rPr>
              <a:t>« Recette ouverte, cuisine payante » : on facture l'opération.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514600"/>
            <a:ext cx="3456432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6609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i="0">
                <a:solidFill>
                  <a:srgbClr val="0E7C7B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60904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Mandataire fiduciaire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01752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80" b="0" i="0">
                <a:solidFill>
                  <a:srgbClr val="3C4A50"/>
                </a:solidFill>
                <a:latin typeface="Inter"/>
              </a:rPr>
              <a:t>Payé par le client, jamais commissionné par les fournisseurs.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57600"/>
            <a:ext cx="3456432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8039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i="0">
                <a:solidFill>
                  <a:srgbClr val="0E7C7B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03904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Trio d'avantages défendables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6052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80" b="0" i="0">
                <a:solidFill>
                  <a:srgbClr val="3C4A50"/>
                </a:solidFill>
                <a:latin typeface="Inter"/>
              </a:rPr>
              <a:t>Sortie certifiée + mode fiduciaire + effet réseau de données.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657600"/>
            <a:ext cx="3456432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38039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i="0">
                <a:solidFill>
                  <a:srgbClr val="0E7C7B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803904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Honnêteté ±30 % assumée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16052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80" b="0" i="0">
                <a:solidFill>
                  <a:srgbClr val="3C4A50"/>
                </a:solidFill>
                <a:latin typeface="Inter"/>
              </a:rPr>
              <a:t>Slider de projection + prix dynamiques, pas de fausse précision.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657600"/>
            <a:ext cx="3456432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8039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i="0">
                <a:solidFill>
                  <a:srgbClr val="0E7C7B"/>
                </a:solidFill>
                <a:latin typeface="Consola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803904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Agent supervisé par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16052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80" b="0" i="0">
                <a:solidFill>
                  <a:srgbClr val="3C4A50"/>
                </a:solidFill>
                <a:latin typeface="Inter"/>
              </a:rPr>
              <a:t>Jamais de création de compte ni de carte — risque juridique levé.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800600"/>
            <a:ext cx="3456432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9469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i="0">
                <a:solidFill>
                  <a:srgbClr val="0E7C7B"/>
                </a:solidFill>
                <a:latin typeface="Consolas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946904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Effet réseau « en rails 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303520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80" b="0" i="0">
                <a:solidFill>
                  <a:srgbClr val="3C4A50"/>
                </a:solidFill>
                <a:latin typeface="Inter"/>
              </a:rPr>
              <a:t>La donnée se densifie dès les premiers déploiements monitorés.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0A5C5B"/>
                </a:solidFill>
                <a:latin typeface="Space Grotesk"/>
              </a:rPr>
              <a:t>Fil conducteur : passer d'une idée copiable à un système où la confiance, l'anti-verrouillage et la donnée deviennent des barrières concurrentielles.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PIVOT · MODÈLE ÉCONOMIQUE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De « vendre la reco » à « cuisine payante »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B04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AVANT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APRÈS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233172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9631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La valeur = la recommandation, vendue une fois.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49631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141B1F"/>
                </a:solidFill>
                <a:latin typeface="Inter"/>
              </a:rPr>
              <a:t>La valeur = l'opération continue, facturée en récurrent.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9632" y="352044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Faiblesse : un LLM produit la même reco gratuitement.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68503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141B1F"/>
                </a:solidFill>
                <a:latin typeface="Inter"/>
              </a:rPr>
              <a:t>On ouvre la recette (transparence) et on facture la cuisine.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0916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470916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7375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Le livrable était notre produit — donc copiable.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87375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141B1F"/>
                </a:solidFill>
                <a:latin typeface="Inter"/>
              </a:rPr>
              <a:t>Le livrable devient l'hameçon ; la rente est ailleurs.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10881360" cy="713232"/>
          </a:xfrm>
          <a:prstGeom prst="roundRect">
            <a:avLst>
              <a:gd name="adj" fmla="val 4500"/>
            </a:avLst>
          </a:prstGeom>
          <a:solidFill>
            <a:srgbClr val="14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806440"/>
            <a:ext cx="10332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Space Grotesk"/>
              </a:rPr>
              <a:t>Faiblesse corrigée : la commoditisation.  Impact : un revenu récurrent, pas un one-shot.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PIVOT · MONÉTISATION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Le mandataire fiduciaire, condition de survie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B04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AVANT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APRÈS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233172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9631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Tentation : se faire commissionner par les fournisseurs.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49631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141B1F"/>
                </a:solidFill>
                <a:latin typeface="Inter"/>
              </a:rPr>
              <a:t>Payé uniquement par le client, jamais par les fournisseurs.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9632" y="352044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Faiblesse : conflit d'intérêt, perte de confiance.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68503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141B1F"/>
                </a:solidFill>
                <a:latin typeface="Inter"/>
              </a:rPr>
              <a:t>Rémunération affichée ; négociation tarifaire au nom du client.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0916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470916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7375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Modèle des comparateurs « gratuits » qui orientent vers qui paie.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87375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141B1F"/>
                </a:solidFill>
                <a:latin typeface="Inter"/>
              </a:rPr>
              <a:t>Engagement contractuel : zéro commission cachée.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10881360" cy="713232"/>
          </a:xfrm>
          <a:prstGeom prst="roundRect">
            <a:avLst>
              <a:gd name="adj" fmla="val 4500"/>
            </a:avLst>
          </a:prstGeom>
          <a:solidFill>
            <a:srgbClr val="14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806440"/>
            <a:ext cx="10332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Space Grotesk"/>
              </a:rPr>
              <a:t>Faiblesse corrigée : le conflit d'intérêt.  Un mandataire payé par le fournisseur trahit le mandat — et meurt.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PIVOT · PRODUIT &amp; RISQUE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Honnêteté des coûts &amp; agent supervisé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B04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AVANT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APRÈS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233172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9631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Prétendre prédire le coût exact (fausse précision).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49631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141B1F"/>
                </a:solidFill>
                <a:latin typeface="Inter"/>
              </a:rPr>
              <a:t>Honnêteté ±30 % assumée : slider de projection + fourchettes.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9632" y="352044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Table de prix figée → dette de maintenance permanente.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68503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141B1F"/>
                </a:solidFill>
                <a:latin typeface="Inter"/>
              </a:rPr>
              <a:t>Flux de prix dynamique : la dette devient un flux automatisé.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0916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4709160"/>
            <a:ext cx="5321808" cy="1024128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7375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3C4A50"/>
                </a:solidFill>
                <a:latin typeface="Inter"/>
              </a:rPr>
              <a:t>Agent autonome qui crée comptes et saisit la carte.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873752"/>
            <a:ext cx="4773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 i="0">
                <a:solidFill>
                  <a:srgbClr val="141B1F"/>
                </a:solidFill>
                <a:latin typeface="Inter"/>
              </a:rPr>
              <a:t>Agent supervisé : jamais de compte ni de carte — risque juridique levé.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10881360" cy="713232"/>
          </a:xfrm>
          <a:prstGeom prst="roundRect">
            <a:avLst>
              <a:gd name="adj" fmla="val 4500"/>
            </a:avLst>
          </a:prstGeom>
          <a:solidFill>
            <a:srgbClr val="14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806440"/>
            <a:ext cx="10332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Space Grotesk"/>
              </a:rPr>
              <a:t>Faiblesses corrigées : fausse rigueur, dette fournisseur et risque de responsabilité.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MODÈLE ÉCONOMIQUE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Gratuit (l'hameçon) vs payant (la rente)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21808" cy="56692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47731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pace Grotesk"/>
              </a:rPr>
              <a:t>GRATUIT — créer l'habitude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28800"/>
            <a:ext cx="5321808" cy="566928"/>
          </a:xfrm>
          <a:prstGeom prst="round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828800"/>
            <a:ext cx="47731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pace Grotesk"/>
              </a:rPr>
              <a:t>PAYANT — le revenu récurrent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42032"/>
            <a:ext cx="5321808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2542032"/>
            <a:ext cx="5321808" cy="3246120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16352"/>
            <a:ext cx="468172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0E7C7B"/>
                </a:solidFill>
                <a:latin typeface="Inter"/>
              </a:rPr>
              <a:t>—  </a:t>
            </a:r>
            <a:r>
              <a:rPr sz="1400" b="0" i="0">
                <a:solidFill>
                  <a:srgbClr val="3C4A50"/>
                </a:solidFill>
                <a:latin typeface="Inter"/>
              </a:rPr>
              <a:t>Recommandation de stack sur 7 couches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0E7C7B"/>
                </a:solidFill>
                <a:latin typeface="Inter"/>
              </a:rPr>
              <a:t>—  </a:t>
            </a:r>
            <a:r>
              <a:rPr sz="1400" b="0" i="0">
                <a:solidFill>
                  <a:srgbClr val="3C4A50"/>
                </a:solidFill>
                <a:latin typeface="Inter"/>
              </a:rPr>
              <a:t>Carte de coûts projetée (fourchettes sourcées)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0E7C7B"/>
                </a:solidFill>
                <a:latin typeface="Inter"/>
              </a:rPr>
              <a:t>—  </a:t>
            </a:r>
            <a:r>
              <a:rPr sz="1400" b="0" i="0">
                <a:solidFill>
                  <a:srgbClr val="3C4A50"/>
                </a:solidFill>
                <a:latin typeface="Inter"/>
              </a:rPr>
              <a:t>Livrable exportable (plan + stack)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0E7C7B"/>
                </a:solidFill>
                <a:latin typeface="Inter"/>
              </a:rPr>
              <a:t>—  </a:t>
            </a:r>
            <a:r>
              <a:rPr sz="1400" b="0" i="0">
                <a:solidFill>
                  <a:srgbClr val="3C4A50"/>
                </a:solidFill>
                <a:latin typeface="Inter"/>
              </a:rPr>
              <a:t>Bundle de sortie reproductible (anti-verrouillage)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816352"/>
            <a:ext cx="468172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0A5C5B"/>
                </a:solidFill>
                <a:latin typeface="Inter"/>
              </a:rPr>
              <a:t>—  </a:t>
            </a:r>
            <a:r>
              <a:rPr sz="1400" b="0" i="0">
                <a:solidFill>
                  <a:srgbClr val="3C4A50"/>
                </a:solidFill>
                <a:latin typeface="Inter"/>
              </a:rPr>
              <a:t>Déploiement assisté de l'infrastructure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0A5C5B"/>
                </a:solidFill>
                <a:latin typeface="Inter"/>
              </a:rPr>
              <a:t>—  </a:t>
            </a:r>
            <a:r>
              <a:rPr sz="1400" b="0" i="0">
                <a:solidFill>
                  <a:srgbClr val="3C4A50"/>
                </a:solidFill>
                <a:latin typeface="Inter"/>
              </a:rPr>
              <a:t>Monitoring continu &amp; recalibration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0A5C5B"/>
                </a:solidFill>
                <a:latin typeface="Inter"/>
              </a:rPr>
              <a:t>—  </a:t>
            </a:r>
            <a:r>
              <a:rPr sz="1400" b="0" i="0">
                <a:solidFill>
                  <a:srgbClr val="3C4A50"/>
                </a:solidFill>
                <a:latin typeface="Inter"/>
              </a:rPr>
              <a:t>Négociation tarifaire au nom du client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0A5C5B"/>
                </a:solidFill>
                <a:latin typeface="Inter"/>
              </a:rPr>
              <a:t>—  </a:t>
            </a:r>
            <a:r>
              <a:rPr sz="1400" b="0" i="0">
                <a:solidFill>
                  <a:srgbClr val="3C4A50"/>
                </a:solidFill>
                <a:latin typeface="Inter"/>
              </a:rPr>
              <a:t>Bundle de sortie premium &amp; garanties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30952"/>
            <a:ext cx="4681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1">
                <a:solidFill>
                  <a:srgbClr val="6B7A80"/>
                </a:solidFill>
                <a:latin typeface="Inter"/>
              </a:rPr>
              <a:t>Aucune rétention d'information : tout le « quoi » est offert.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5330952"/>
            <a:ext cx="4681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1">
                <a:solidFill>
                  <a:srgbClr val="0A5C5B"/>
                </a:solidFill>
                <a:latin typeface="Inter"/>
              </a:rPr>
              <a:t>On facture le « faire » et le « maintenir », pas le « savoir ».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3C4A50"/>
                </a:solidFill>
                <a:latin typeface="Space Grotesk"/>
              </a:rPr>
              <a:t>Logique du palier gratuit généreux : créer l'habitude, puis monétiser l'exploitation.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MONÉTISATION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Flux de revenus &amp; rôle fiduciaire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456432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3456432" cy="1097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0E7C7B"/>
                </a:solidFill>
                <a:latin typeface="Space Grotesk"/>
              </a:rPr>
              <a:t>Ce qui est ponctuel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2907792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Bundle de sortie premium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Mise en place initiale du déploiement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7548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Inter"/>
              </a:rPr>
              <a:t>Déclencheur d'entrée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20240"/>
            <a:ext cx="3456432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3456432" cy="109728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24028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0A5C5B"/>
                </a:solidFill>
                <a:latin typeface="Space Grotesk"/>
              </a:rPr>
              <a:t>Ce qui est récurrent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2907792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A5C5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Abonnement de monitoring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A5C5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Recalibration continue de la stack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A5C5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Re-optimisation sur économie validée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47548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Inter"/>
              </a:rPr>
              <a:t>Le cœur de la rente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920240"/>
            <a:ext cx="3456432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920240"/>
            <a:ext cx="3456432" cy="10972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24028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B88A2E"/>
                </a:solidFill>
                <a:latin typeface="Space Grotesk"/>
              </a:rPr>
              <a:t>Le rôle fiduciaire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80360"/>
            <a:ext cx="2907792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B88A2E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Négociation tarifaire au nom du client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B88A2E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Rémunération affichée, zéro commission cachée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B88A2E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Aligne nos revenus sur ceux du client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7548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Inter"/>
              </a:rPr>
              <a:t>La confiance monétisée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1" i="0">
                <a:solidFill>
                  <a:srgbClr val="0A5C5B"/>
                </a:solidFill>
                <a:latin typeface="Space Grotesk"/>
              </a:rPr>
              <a:t>Le récurrent est la colonne vertébrale du modèle : la valeur se mesure dans la durée, pas à la signature. Le rôle fiduciaire transforme la confiance en ligne de revenu.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EFFET RÉSEAU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Le flywheel de la donnée de coût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0" i="0">
                <a:solidFill>
                  <a:srgbClr val="3C4A50"/>
                </a:solidFill>
                <a:latin typeface="Inter"/>
              </a:rPr>
              <a:t>Chaque déploiement monitoré nourrit le suivant. Une donnée que personne ne peut répliquer.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34640"/>
            <a:ext cx="1874519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032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34640"/>
            <a:ext cx="1655063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141B1F"/>
                </a:solidFill>
                <a:latin typeface="Space Grotesk"/>
              </a:rPr>
              <a:t>Déploiement
monitoré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70048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004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51175" y="3300984"/>
            <a:ext cx="256032" cy="256032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25495" y="2834640"/>
            <a:ext cx="1874519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0320">
            <a:solidFill>
              <a:srgbClr val="2A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3" y="2834640"/>
            <a:ext cx="1655063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141B1F"/>
                </a:solidFill>
                <a:latin typeface="Space Grotesk"/>
              </a:rPr>
              <a:t>Coût réel
anonymisé remonté</a:t>
            </a:r>
          </a:p>
        </p:txBody>
      </p:sp>
      <p:sp>
        <p:nvSpPr>
          <p:cNvPr id="17" name="Oval 16"/>
          <p:cNvSpPr/>
          <p:nvPr/>
        </p:nvSpPr>
        <p:spPr>
          <a:xfrm>
            <a:off x="2898647" y="2670048"/>
            <a:ext cx="329184" cy="329184"/>
          </a:xfrm>
          <a:prstGeom prst="ellipse">
            <a:avLst/>
          </a:prstGeom>
          <a:solidFill>
            <a:srgbClr val="2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8647" y="267004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718302" y="3300984"/>
            <a:ext cx="256032" cy="256032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92622" y="2834640"/>
            <a:ext cx="1874519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032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0" y="2834640"/>
            <a:ext cx="1655063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141B1F"/>
                </a:solidFill>
                <a:latin typeface="Space Grotesk"/>
              </a:rPr>
              <a:t>La reco du client
suivant s'affine</a:t>
            </a:r>
          </a:p>
        </p:txBody>
      </p:sp>
      <p:sp>
        <p:nvSpPr>
          <p:cNvPr id="22" name="Oval 21"/>
          <p:cNvSpPr/>
          <p:nvPr/>
        </p:nvSpPr>
        <p:spPr>
          <a:xfrm>
            <a:off x="5065774" y="2670048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5774" y="267004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85429" y="3300984"/>
            <a:ext cx="256032" cy="256032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59749" y="2834640"/>
            <a:ext cx="1874519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0320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77" y="2834640"/>
            <a:ext cx="1655063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141B1F"/>
                </a:solidFill>
                <a:latin typeface="Space Grotesk"/>
              </a:rPr>
              <a:t>Donnée
irréplicable</a:t>
            </a:r>
          </a:p>
        </p:txBody>
      </p:sp>
      <p:sp>
        <p:nvSpPr>
          <p:cNvPr id="27" name="Oval 26"/>
          <p:cNvSpPr/>
          <p:nvPr/>
        </p:nvSpPr>
        <p:spPr>
          <a:xfrm>
            <a:off x="7232901" y="2670048"/>
            <a:ext cx="329184" cy="329184"/>
          </a:xfrm>
          <a:prstGeom prst="ellipse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2901" y="267004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052556" y="3300984"/>
            <a:ext cx="256032" cy="256032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26876" y="2834640"/>
            <a:ext cx="1874519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0320">
            <a:solidFill>
              <a:srgbClr val="0A5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6604" y="2834640"/>
            <a:ext cx="1655063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141B1F"/>
                </a:solidFill>
                <a:latin typeface="Space Grotesk"/>
              </a:rPr>
              <a:t>Plus de clients
→ retour à l'étape 1</a:t>
            </a:r>
          </a:p>
        </p:txBody>
      </p:sp>
      <p:sp>
        <p:nvSpPr>
          <p:cNvPr id="32" name="Oval 31"/>
          <p:cNvSpPr/>
          <p:nvPr/>
        </p:nvSpPr>
        <p:spPr>
          <a:xfrm>
            <a:off x="9400028" y="2670048"/>
            <a:ext cx="329184" cy="329184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0028" y="267004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343400"/>
            <a:ext cx="10835640" cy="54864"/>
          </a:xfrm>
          <a:prstGeom prst="rect">
            <a:avLst/>
          </a:prstGeom>
          <a:solidFill>
            <a:srgbClr val="D7D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" y="4617720"/>
            <a:ext cx="10835640" cy="1325880"/>
          </a:xfrm>
          <a:prstGeom prst="roundRect">
            <a:avLst>
              <a:gd name="adj" fmla="val 4500"/>
            </a:avLst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800600"/>
            <a:ext cx="10149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0" i="0">
                <a:solidFill>
                  <a:srgbClr val="141B1F"/>
                </a:solidFill>
                <a:latin typeface="Inter"/>
              </a:rPr>
              <a:t>Plus le réseau grossit, plus les recommandations sont précises — et plus la précision attire de clients. Cette boucle de données est la barrière concurrentielle la plus profonde : elle se construit dans le temps et ne se copie pas.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AVANTAGES DÉFENDABLES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Trois remparts, pas une simple reco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0" i="0">
                <a:solidFill>
                  <a:srgbClr val="3C4A50"/>
                </a:solidFill>
                <a:latin typeface="Inter"/>
              </a:rPr>
              <a:t>La recommandation seule n'est pas défendable. Trois mécanismes le rendent — chacun inspiré d'une autre industrie.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3456432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141B1F"/>
                </a:solidFill>
                <a:latin typeface="Space Grotesk"/>
              </a:rPr>
              <a:t>Sortie certifiée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2907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80" b="0" i="0">
                <a:solidFill>
                  <a:srgbClr val="3C4A50"/>
                </a:solidFill>
                <a:latin typeface="Inter"/>
              </a:rPr>
              <a:t>En un clic, un bundle reproductible redéployable ailleurs.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709160"/>
            <a:ext cx="2907792" cy="25400"/>
          </a:xfrm>
          <a:prstGeom prst="rect">
            <a:avLst/>
          </a:prstGeom>
          <a:solidFill>
            <a:srgbClr val="D7D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2907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i="0">
                <a:solidFill>
                  <a:srgbClr val="0E7C7B"/>
                </a:solidFill>
                <a:latin typeface="Inter"/>
              </a:rPr>
              <a:t>Défend contre la capture — l'anti-verrouillage devient contractuel.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514600"/>
            <a:ext cx="3456432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7720" y="2834640"/>
            <a:ext cx="566928" cy="566928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8346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5661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141B1F"/>
                </a:solidFill>
                <a:latin typeface="Space Grotesk"/>
              </a:rPr>
              <a:t>Mode fiduciaire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160520"/>
            <a:ext cx="2907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80" b="0" i="0">
                <a:solidFill>
                  <a:srgbClr val="3C4A50"/>
                </a:solidFill>
                <a:latin typeface="Inter"/>
              </a:rPr>
              <a:t>Payé par le client, jamais commissionné par les fournisseurs.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4709160"/>
            <a:ext cx="2907792" cy="25400"/>
          </a:xfrm>
          <a:prstGeom prst="rect">
            <a:avLst/>
          </a:prstGeom>
          <a:solidFill>
            <a:srgbClr val="D7D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846320"/>
            <a:ext cx="2907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i="0">
                <a:solidFill>
                  <a:srgbClr val="0A5C5B"/>
                </a:solidFill>
                <a:latin typeface="Inter"/>
              </a:rPr>
              <a:t>Défend la confiance — un concurrent commissionné ne peut pas copier.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514600"/>
            <a:ext cx="3456432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2834640"/>
            <a:ext cx="566928" cy="566928"/>
          </a:xfrm>
          <a:prstGeom prst="ellipse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8346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5661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141B1F"/>
                </a:solidFill>
                <a:latin typeface="Space Grotesk"/>
              </a:rPr>
              <a:t>Effet réseau de données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160520"/>
            <a:ext cx="2907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80" b="0" i="0">
                <a:solidFill>
                  <a:srgbClr val="3C4A50"/>
                </a:solidFill>
                <a:latin typeface="Inter"/>
              </a:rPr>
              <a:t>Le coût réel anonymisé remonté par chaque déploiement.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4709160"/>
            <a:ext cx="2907792" cy="25400"/>
          </a:xfrm>
          <a:prstGeom prst="rect">
            <a:avLst/>
          </a:prstGeom>
          <a:solidFill>
            <a:srgbClr val="D7D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846320"/>
            <a:ext cx="2907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i="0">
                <a:solidFill>
                  <a:srgbClr val="B88A2E"/>
                </a:solidFill>
                <a:latin typeface="Inter"/>
              </a:rPr>
              <a:t>Défend par la donnée — une calibration que nul ne peut répliquer.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CIBLES &amp; MISE SUR LE MARCHÉ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À qui l'on vend, et dans quel ordre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0881360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46304" cy="12984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640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 i="0">
                <a:solidFill>
                  <a:srgbClr val="0E7C7B"/>
                </a:solidFill>
                <a:latin typeface="Consolas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121408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50" b="1" i="0">
                <a:solidFill>
                  <a:srgbClr val="141B1F"/>
                </a:solidFill>
                <a:latin typeface="Space Grotesk"/>
              </a:rPr>
              <a:t>Bâtisseurs souverains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084832"/>
            <a:ext cx="51206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80" b="0" i="0">
                <a:solidFill>
                  <a:srgbClr val="3C4A50"/>
                </a:solidFill>
                <a:latin typeface="Inter"/>
              </a:rPr>
              <a:t>La communauté d'Amine : dirigeants, coachs et consultants qui veulent leur base mémorielle souveraine — revendable. Accès direct, demande déjà acquise, bouche-à-oreille.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2414016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Tête de pont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64992"/>
            <a:ext cx="10881360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64992"/>
            <a:ext cx="146304" cy="1298448"/>
          </a:xfrm>
          <a:prstGeom prst="rect">
            <a:avLst/>
          </a:prstGeom>
          <a:solidFill>
            <a:srgbClr val="2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47872"/>
            <a:ext cx="640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 i="0">
                <a:solidFill>
                  <a:srgbClr val="2A5C9E"/>
                </a:solidFill>
                <a:latin typeface="Consolas"/>
              </a:rP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566160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50" b="1" i="0">
                <a:solidFill>
                  <a:srgbClr val="141B1F"/>
                </a:solidFill>
                <a:latin typeface="Space Grotesk"/>
              </a:rPr>
              <a:t>PME &amp; startups 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529584"/>
            <a:ext cx="51206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80" b="0" i="0">
                <a:solidFill>
                  <a:srgbClr val="3C4A50"/>
                </a:solidFill>
                <a:latin typeface="Inter"/>
              </a:rPr>
              <a:t>Équipes de 5 à 10 personnes, technophiles, cycle de vente court. Le segment naturel d'expansion une fois la preuve faite.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385876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2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Expansion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09744"/>
            <a:ext cx="10881360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09744"/>
            <a:ext cx="146304" cy="12984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92624"/>
            <a:ext cx="640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 i="0">
                <a:solidFill>
                  <a:srgbClr val="B88A2E"/>
                </a:solidFill>
                <a:latin typeface="Consolas"/>
              </a:rPr>
              <a:t>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10912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50" b="1" i="0">
                <a:solidFill>
                  <a:srgbClr val="141B1F"/>
                </a:solidFill>
                <a:latin typeface="Space Grotesk"/>
              </a:rPr>
              <a:t>Cabinets régulés &amp; programmes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974336"/>
            <a:ext cx="51206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80" b="0" i="0">
                <a:solidFill>
                  <a:srgbClr val="3C4A50"/>
                </a:solidFill>
                <a:latin typeface="Inter"/>
              </a:rPr>
              <a:t>Conformité forte = argument premium, mais cycle long. Volume et multi-organisations viennent plus tard. Grands groupes : hors périmètre initial.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53035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Plus tard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ROBUSTESSE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Risques neutralisés par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0" i="0">
                <a:solidFill>
                  <a:srgbClr val="3C4A50"/>
                </a:solidFill>
                <a:latin typeface="Inter"/>
              </a:rPr>
              <a:t>Chaque faiblesse du produit a une réponse intégrée dès la conception — pas un correctif tardif.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5321808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2788920"/>
            <a:ext cx="365760" cy="365760"/>
          </a:xfrm>
          <a:prstGeom prst="ellipse">
            <a:avLst/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70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0A5C5B"/>
                </a:solidFill>
                <a:latin typeface="Inter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79192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Conflit d'intérêt fournisseur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44952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80" b="0" i="0">
                <a:solidFill>
                  <a:srgbClr val="3C4A50"/>
                </a:solidFill>
                <a:latin typeface="Inter"/>
              </a:rPr>
              <a:t>Mode fiduciaire : zéro commission cachée, divulgation contractuelle.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514600"/>
            <a:ext cx="5321808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788920"/>
            <a:ext cx="365760" cy="365760"/>
          </a:xfrm>
          <a:prstGeom prst="ellipse">
            <a:avLst/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770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0A5C5B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679192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Le livrable sabote la vente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3044952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80" b="0" i="0">
                <a:solidFill>
                  <a:srgbClr val="3C4A50"/>
                </a:solidFill>
                <a:latin typeface="Inter"/>
              </a:rPr>
              <a:t>Recette ouverte assumée ; la rente, c'est l'opération continue.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39896"/>
            <a:ext cx="5321808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014216"/>
            <a:ext cx="365760" cy="365760"/>
          </a:xfrm>
          <a:prstGeom prst="ellipse">
            <a:avLst/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95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0A5C5B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904488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Fausse précision des coûts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70248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80" b="0" i="0">
                <a:solidFill>
                  <a:srgbClr val="3C4A50"/>
                </a:solidFill>
                <a:latin typeface="Inter"/>
              </a:rPr>
              <a:t>Fourchettes ±30 % + sources datées + recalibration par le réseau.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739896"/>
            <a:ext cx="5321808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5664" y="4014216"/>
            <a:ext cx="365760" cy="365760"/>
          </a:xfrm>
          <a:prstGeom prst="ellipse">
            <a:avLst/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3995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0A5C5B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904488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Dette de maintenance fournisseur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4270248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80" b="0" i="0">
                <a:solidFill>
                  <a:srgbClr val="3C4A50"/>
                </a:solidFill>
                <a:latin typeface="Inter"/>
              </a:rPr>
              <a:t>Flux de prix automatisé ; jamais de table figée.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65192"/>
            <a:ext cx="5321808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6112" y="5239512"/>
            <a:ext cx="365760" cy="365760"/>
          </a:xfrm>
          <a:prstGeom prst="ellipse">
            <a:avLst/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2212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0A5C5B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129784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Risque juridique de l'agent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495544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80" b="0" i="0">
                <a:solidFill>
                  <a:srgbClr val="3C4A50"/>
                </a:solidFill>
                <a:latin typeface="Inter"/>
              </a:rPr>
              <a:t>L'agent ne crée jamais de compte ni ne saisit de carte.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4965192"/>
            <a:ext cx="5321808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55664" y="5239512"/>
            <a:ext cx="365760" cy="365760"/>
          </a:xfrm>
          <a:prstGeom prst="ellipse">
            <a:avLst/>
          </a:prstGeom>
          <a:solidFill>
            <a:srgbClr val="E3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52212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0A5C5B"/>
                </a:solidFill>
                <a:latin typeface="Inter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6872" y="5129784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41B1F"/>
                </a:solidFill>
                <a:latin typeface="Space Grotesk"/>
              </a:rPr>
              <a:t>Démarrage à froid de la donnée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5495544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80" b="0" i="0">
                <a:solidFill>
                  <a:srgbClr val="3C4A50"/>
                </a:solidFill>
                <a:latin typeface="Inter"/>
              </a:rPr>
              <a:t>Effet réseau « en rails » : se densifie dès le 1ᵉʳ déploiement.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 i="0">
                <a:solidFill>
                  <a:srgbClr val="0E7C7B"/>
                </a:solidFill>
                <a:latin typeface="Inter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41B1F"/>
                </a:solidFill>
                <a:latin typeface="Space Grotesk"/>
              </a:rPr>
              <a:t>Trois lots — et quand l'argent rentre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000" b="0" i="0">
                <a:solidFill>
                  <a:srgbClr val="6B7A80"/>
                </a:solidFill>
                <a:latin typeface="Consola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6B7A80"/>
                </a:solidFill>
                <a:latin typeface="Inter"/>
              </a:rPr>
              <a:t>Mnémo · Cas d'usage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456432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3456432" cy="713232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79"/>
            <a:ext cx="3456432" cy="3474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65959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LOT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03703"/>
            <a:ext cx="29077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pace Grotesk"/>
              </a:rPr>
              <a:t>Conseil + remparts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4639"/>
            <a:ext cx="290779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Profilage, reco, carte de coûts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Livrable &amp; bundle de sortie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Mode fiduciaire &amp; sortie certifiée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80559"/>
            <a:ext cx="2907792" cy="25400"/>
          </a:xfrm>
          <a:prstGeom prst="rect">
            <a:avLst/>
          </a:prstGeom>
          <a:solidFill>
            <a:srgbClr val="D7D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17719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80" b="0" i="1">
                <a:solidFill>
                  <a:srgbClr val="3C4A50"/>
                </a:solidFill>
                <a:latin typeface="Inter"/>
              </a:rPr>
              <a:t>Vendable seul. Crée l'habitude.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047487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Inter"/>
              </a:rPr>
              <a:t>Argent : ponctuel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874519"/>
            <a:ext cx="3456432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1874519"/>
            <a:ext cx="3456432" cy="713232"/>
          </a:xfrm>
          <a:prstGeom prst="round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2240279"/>
            <a:ext cx="3456432" cy="347472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1965959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LOT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203703"/>
            <a:ext cx="29077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pace Grotesk"/>
              </a:rPr>
              <a:t>La cuisine payante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834639"/>
            <a:ext cx="290779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A5C5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Déploiement assisté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A5C5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Monitoring continu &amp; recalibration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A5C5B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Effet réseau activé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4480559"/>
            <a:ext cx="2907792" cy="25400"/>
          </a:xfrm>
          <a:prstGeom prst="rect">
            <a:avLst/>
          </a:prstGeom>
          <a:solidFill>
            <a:srgbClr val="D7D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617719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80" b="0" i="1">
                <a:solidFill>
                  <a:srgbClr val="3C4A50"/>
                </a:solidFill>
                <a:latin typeface="Inter"/>
              </a:rPr>
              <a:t>Le revenu récurrent rentre. Le flywheel s'allume.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5047487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Inter"/>
              </a:rPr>
              <a:t>Argent : RÉCURRENT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874519"/>
            <a:ext cx="3456432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1874519"/>
            <a:ext cx="3456432" cy="713232"/>
          </a:xfrm>
          <a:prstGeom prst="round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2240279"/>
            <a:ext cx="3456432" cy="34747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59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LOT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203703"/>
            <a:ext cx="29077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pace Grotesk"/>
              </a:rPr>
              <a:t>L'écosystème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834639"/>
            <a:ext cx="290779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B88A2E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Migration garantie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B88A2E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Re-optimisation continue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B88A2E"/>
                </a:solidFill>
                <a:latin typeface="Inter"/>
              </a:rPr>
              <a:t>—  </a:t>
            </a:r>
            <a:r>
              <a:rPr sz="1250" b="0" i="0">
                <a:solidFill>
                  <a:srgbClr val="3C4A50"/>
                </a:solidFill>
                <a:latin typeface="Inter"/>
              </a:rPr>
              <a:t>Produits dérivés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4480559"/>
            <a:ext cx="2907792" cy="25400"/>
          </a:xfrm>
          <a:prstGeom prst="rect">
            <a:avLst/>
          </a:prstGeom>
          <a:solidFill>
            <a:srgbClr val="D7D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617719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80" b="0" i="1">
                <a:solidFill>
                  <a:srgbClr val="3C4A50"/>
                </a:solidFill>
                <a:latin typeface="Inter"/>
              </a:rPr>
              <a:t>Expansion de la valeur dans la durée.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5047487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Inter"/>
              </a:rPr>
              <a:t>Argent : expansion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0A5C5B"/>
                </a:solidFill>
                <a:latin typeface="Space Grotesk"/>
              </a:rPr>
              <a:t>Le Lot 2 est le moment charnière : c'est là que le récurrent démarre et que l'effet réseau s'enclenche.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E3F0EF"/>
                </a:solidFill>
                <a:latin typeface="Inter"/>
              </a:rPr>
              <a:t>SYNTHÈSE · LA LEÇON POUR LA COHORTE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Space Grotesk"/>
              </a:rPr>
              <a:t>Ne vendez pas ce qu'un LLM offre gratuitement.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59152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408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Space Grotesk"/>
              </a:rPr>
              <a:t>Donnez la recette, facturez la cuisine.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70048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80" b="0" i="0">
                <a:solidFill>
                  <a:srgbClr val="C9D6D6"/>
                </a:solidFill>
                <a:latin typeface="Inter"/>
              </a:rPr>
              <a:t>Le conseil est commoditisé. La valeur durable est dans l'exécution et le maintien.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649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1012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Space Grotesk"/>
              </a:rPr>
              <a:t>La confiance se monétise.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94176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80" b="0" i="0">
                <a:solidFill>
                  <a:srgbClr val="C9D6D6"/>
                </a:solidFill>
                <a:latin typeface="Inter"/>
              </a:rPr>
              <a:t>Le mode fiduciaire — payé par le client, jamais par les fournisseurs — est une condition de survie, pas une option.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07408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Space Grotesk"/>
              </a:rPr>
              <a:t>Construisez une barrière qui grossit toute seule.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1830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80" b="0" i="0">
                <a:solidFill>
                  <a:srgbClr val="C9D6D6"/>
                </a:solidFill>
                <a:latin typeface="Inter"/>
              </a:rPr>
              <a:t>L'effet réseau de données et l'anti-verrouillage se renforcent avec chaque client.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431536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132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3583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Space Grotesk"/>
              </a:rPr>
              <a:t>Corrigez les faiblesses par conception.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742432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80" b="0" i="0">
                <a:solidFill>
                  <a:srgbClr val="C9D6D6"/>
                </a:solidFill>
                <a:latin typeface="Inter"/>
              </a:rPr>
              <a:t>Honnêteté des coûts, agent supervisé, risques neutralisés : la robustesse est un argument de vente.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E3F0EF"/>
                </a:solidFill>
                <a:latin typeface="Inter"/>
              </a:rPr>
              <a:t>Mnémo — la base mémorielle souveraine qui grandit avec votre organisation.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