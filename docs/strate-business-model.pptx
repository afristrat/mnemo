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5" d="100"/>
          <a:sy n="95" d="100"/>
        </p:scale>
        <p:origin x="114" y="300"/>
      </p:cViewPr>
      <p:guideLst>
        <p:guide orient="horz" pos="2160"/>
        <p:guide pos="2880"/>
      </p:guideLst>
    </p:cSldViewPr>
  </p:slideViewPr>
  <p:notesTextViewPr>
    <p:cViewPr>
      <p:scale>
        <a:sx n="100" d="100"/>
        <a:sy n="100" d="100"/>
      </p:scale>
      <p:origin x="0" y="-1422"/>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d Amine MANSOURI IDRISSI" userId="064dd4554beeb82a" providerId="LiveId" clId="{481C7261-1555-4A88-97C0-186E0252FF03}"/>
    <pc:docChg chg="modSld">
      <pc:chgData name="Med Amine MANSOURI IDRISSI" userId="064dd4554beeb82a" providerId="LiveId" clId="{481C7261-1555-4A88-97C0-186E0252FF03}" dt="2026-05-28T17:49:35.040" v="9" actId="20577"/>
      <pc:docMkLst>
        <pc:docMk/>
      </pc:docMkLst>
      <pc:sldChg chg="modSp mod">
        <pc:chgData name="Med Amine MANSOURI IDRISSI" userId="064dd4554beeb82a" providerId="LiveId" clId="{481C7261-1555-4A88-97C0-186E0252FF03}" dt="2026-05-28T17:49:35.040" v="9" actId="20577"/>
        <pc:sldMkLst>
          <pc:docMk/>
          <pc:sldMk cId="0" sldId="279"/>
        </pc:sldMkLst>
        <pc:spChg chg="mod">
          <ac:chgData name="Med Amine MANSOURI IDRISSI" userId="064dd4554beeb82a" providerId="LiveId" clId="{481C7261-1555-4A88-97C0-186E0252FF03}" dt="2026-05-28T17:49:35.040" v="9" actId="20577"/>
          <ac:spMkLst>
            <pc:docMk/>
            <pc:sldMk cId="0" sldId="279"/>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7158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d'ouverture. Cadrer en une phrase : Strate est un configurateur SaaS souverain qui aide un dirigeant non-expert à choisir, chiffrer, exporter et (en upsell) déployer puis exploiter une « base mémorielle » IA souveraine, sans se faire capturer par les fournisseurs.</a:t>
            </a:r>
          </a:p>
          <a:p>
            <a:endParaRPr/>
          </a:p>
          <a:p>
            <a:r>
              <a:t>Ce que ce deck est : un business model de travail, profond, mais EXPLICITEMENT hypothétique sur tous les chiffres. Ce qu'il n'est pas : une promesse de revenus.</a:t>
            </a:r>
          </a:p>
          <a:p>
            <a:endParaRPr/>
          </a:p>
          <a:p>
            <a:r>
              <a:t>Trois avertissements à poser d'entrée (règle DÉFCON 1 d'Amine, zéro donnée erronée présentée comme fiable) :</a:t>
            </a:r>
          </a:p>
          <a:p>
            <a:r>
              <a:t>1. Le prix de vente du service Strate est un [PLACEHOLDER] : un sondage de willingness-to-pay (Van Westendorp + conjoint CBC, cf. docs/pricing/wtp-research.md) est en cours. Aucun montant ferme ne sera asséné ici, seulement des fourchettes d'hypothèses étiquetées.</a:t>
            </a:r>
          </a:p>
          <a:p>
            <a:r>
              <a:t>2. Tout P&amp;L / toute taille de marché présenté plus loin est une hypothèse de modélisation, pas une certitude.</a:t>
            </a:r>
          </a:p>
          <a:p>
            <a:r>
              <a:t>3. Le produit décrit est le produit RÉEL du dépôt (Lot 1 livré et déployé en prod, épic LLM complet) ; ce qui est « à venir » est signalé comme tel.</a:t>
            </a:r>
          </a:p>
          <a:p>
            <a:endParaRPr/>
          </a:p>
          <a:p>
            <a:r>
              <a:t>Le nom « Strate » : une strate = mémoire sédimentée qui se conserve dans le temps + une couche (l'infra = 7 couches C0→C6). Designer l'infra = empiler les bonnes strates.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thèse d'investissement en une phrase : reproduire le playbook Cloudflare sur l'infra de mémoire IA. Cloudflare s'est mis DEVANT l'origine sans capturer le client (on peut partir), a créé l'habitude par un free tier + transparence, et a transformé sa visibilité du trafic en meilleure défense pour tous (effet réseau). Strate réplique ces trois ressorts (Exit Escrow / Fiduciary / Network).</a:t>
            </a:r>
          </a:p>
          <a:p>
            <a:endParaRPr/>
          </a:p>
          <a:p>
            <a:r>
              <a:t>Points clés à marteler :</a:t>
            </a:r>
          </a:p>
          <a:p>
            <a:r>
              <a:t>- Le problème est réel et structurel : perte de connaissance critique quand un sachant part ; re-contextualisation permanente dans chaque chat ; non-souveraineté des données ; vendor lock-in. (PRD §1, genèse P4.)</a:t>
            </a:r>
          </a:p>
          <a:p>
            <a:r>
              <a:t>- La différenciation n'est PAS le moteur de reco (un LLM généraliste le commoditise) — c'est le trio de moats.</a:t>
            </a:r>
          </a:p>
          <a:p>
            <a:r>
              <a:t>- Le modèle économique « recette ouverte, cuisine payante » désamorce le piège classique « le livrable gratuit sabote l'upsell » : on ne facture pas l'information (le QUOI), on facture l'opération continue (le déploiement, la supervision, la recalibration, la négociation vendor).</a:t>
            </a:r>
          </a:p>
          <a:p>
            <a:endParaRPr/>
          </a:p>
          <a:p>
            <a:r>
              <a:t>Honnêteté DÉFCON 1 : à ce stade, la PREUVE dure est l'anti-lock-in (Exit Escrow testable). Les autres bénéfices (gain de temps, qualité de réponse) sont « à mesurer chez vous », jamais chiffrés sans donnée.</a:t>
            </a:r>
          </a:p>
          <a:p>
            <a:endParaRPr/>
          </a:p>
          <a:p>
            <a:r>
              <a:t>Statut produit : Lot 1 (conseil + moats) livré, déployé en prod (infra.ai-mpower.com), épic LLM complet (intake libre, narration, assistant Q&amp;A, reco vivante sourcée, console admin). Lot 2 (déploiement assisté + monitoring) et résidence/DR = à venir.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Insister sur la distinction job ≠ solution (Clayton Christensen / Bob Moesta). Le dirigeant n'« embauche » pas Strate pour « designer son infra » — c'est le moyen. Il embauche Strate pour un RÉSULTAT souverain et une tranquillité d'esprit. (PRD §2.)</a:t>
            </a:r>
          </a:p>
          <a:p>
            <a:endParaRPr/>
          </a:p>
          <a:p>
            <a:r>
              <a:t>Détailler les jobs :</a:t>
            </a:r>
          </a:p>
          <a:p>
            <a:r>
              <a:t>- FONCTIONNEL : prendre une décision d'infra engageante et difficilement réversible sans être expert, et pouvoir la maintenir dans le temps (prix/CGU/API qui bougent).</a:t>
            </a:r>
          </a:p>
          <a:p>
            <a:r>
              <a:t>- ÉMOTIONNEL : ne pas avoir peur de se faire capturer / de payer trop / de perdre ses données ; sentiment de « contrôle souverain » (cf. DESIGN.md).</a:t>
            </a:r>
          </a:p>
          <a:p>
            <a:r>
              <a:t>- SOCIAL : être perçu comme un dirigeant rigoureux qui maîtrise sa donnée et sa conformité (argument fort chez les régulés et le public).</a:t>
            </a:r>
          </a:p>
          <a:p>
            <a:endParaRPr/>
          </a:p>
          <a:p>
            <a:r>
              <a:t>Moments de douleur (triggers d'achat) : départ d'un sachant ; audit RGPD/CNDP ; hausse surprise de facture cloud ; changement de CGU d'un fournisseur US ; projet sur-mesure qui dérape.</a:t>
            </a:r>
          </a:p>
          <a:p>
            <a:endParaRPr/>
          </a:p>
          <a:p>
            <a:r>
              <a:t>Pourquoi maintenant : convergence réglementaire (RGPD chap. V sur les transferts, CNDP au Maroc, règle max(RGPD, CNDP) appliquée dans le produit) + maturité technique (embeddings open Apache 2.0 self-hostables type Qwen3-VL, RAG, LLM ouverts) qui rend une base souveraine faisable hors hyperscalers.</a:t>
            </a:r>
          </a:p>
          <a:p>
            <a:endParaRPr/>
          </a:p>
          <a:p>
            <a:r>
              <a:t>Ne PAS sur-vendre la taille du marché « souveraineté IA » : on ne dispose pas d'une stat de TAM sourcée — l'avocat du diable y reviendra (slide risques). Ici on reste sur la nature et la réalité de la douleur, pas sur le volume.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cible couvre 5 ordres de grandeur (Solo ~5 €/mois → Grand groupe ~1 M€/an) : ce ne sont NI le même acheteur, NI le même cycle de vente, NI la même conformité. La discipline ICP est donc cruciale. (PRD §3.)</a:t>
            </a:r>
          </a:p>
          <a:p>
            <a:endParaRPr/>
          </a:p>
          <a:p>
            <a:r>
              <a:t>Le wedge initial = P1 (Bâtisseur souverain), parce qu'Amine y a un accès direct (communauté), une demande quasi acquise et une preuve sociale / bouche-à-oreille. C'est le segment où l'on peut valider l'offre et le pricing sans payer un CAC élevé.</a:t>
            </a:r>
          </a:p>
          <a:p>
            <a:endParaRPr/>
          </a:p>
          <a:p>
            <a:r>
              <a:t>P2 (PME tech) = extension naturelle, cycle court, technophile.</a:t>
            </a:r>
          </a:p>
          <a:p>
            <a:r>
              <a:t>P3 (agence/programme) et P4 (cabinet régulé) = lots ultérieurs : plus de valeur (multi-tenancy, premium conformité) mais cycle plus lourd / plus long.</a:t>
            </a:r>
          </a:p>
          <a:p>
            <a:r>
              <a:t>P5 (ETI/grand groupe) = EXPLICITEMENT hors périmètre self-service (appel d'offres, DPA, SecNumCloud). On ne se disperse pas.</a:t>
            </a:r>
          </a:p>
          <a:p>
            <a:endParaRPr/>
          </a:p>
          <a:p>
            <a:r>
              <a:t>Risque connu (A2 du PRD) : « cible trop large ». Mitigation = focalisation P1/P2 d'abord. À répéter : la discipline de refus (dire non à P5 pour l'instant) est une décision, pas un aveu de faiblesse.</a:t>
            </a:r>
          </a:p>
          <a:p>
            <a:endParaRPr/>
          </a:p>
          <a:p>
            <a:r>
              <a:t>Note multi-tenant : les rails sont déjà posés (RLS Supabase, pivot circle) — donc passer à P3 plus tard est un choix de go-to-market, pas un chantier technique de fond.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Value Proposition Canvas (Osterwalder) en version condensée : à gauche les douleurs (pains) du client, à droite les remèdes (pain relievers) RÉELLEMENT livrés par le produit.</a:t>
            </a:r>
          </a:p>
          <a:p>
            <a:endParaRPr/>
          </a:p>
          <a:p>
            <a:r>
              <a:t>Correspondance 1-pour-1, vérifiable dans le code :</a:t>
            </a:r>
          </a:p>
          <a:p>
            <a:r>
              <a:t>- Lock-in → Exit Escrow (F7) : bundle IaC (Terraform/Docker Compose) + dumps DB + vault markdown source-de-vérité + script de re-embedding + runbook ; test d'intégration vérifie que le manifeste == reco. C'est la PREUVE DURE.</a:t>
            </a:r>
          </a:p>
          <a:p>
            <a:r>
              <a:t>- Données hors conformité → souveraineté ; règle max(RGPD, CNDP) ; résidence/DR = épic à venir (S-043→048) : à présenter comme roadmap, pas comme livré.</a:t>
            </a:r>
          </a:p>
          <a:p>
            <a:r>
              <a:t>- Coûts opaques → price feed live Firecrawl réconcilié à une baseline sourcée (garde-fou DÉFCON 1 : un prix aberrant est rejeté au profit de la baseline), chaque chiffre porte URL + date + pastille 🟢🟡🟠 + disclaimer « une IA peut se tromper ».</a:t>
            </a:r>
          </a:p>
          <a:p>
            <a:r>
              <a:t>- Manque d'expertise → reco 7 couches + ensemble multi-config (montre l'incertitude) + verdict en 90 s ; intake en langage libre (LLM extrait, le serveur valide/borne) ; assistant Q&amp;A contextuel.</a:t>
            </a:r>
          </a:p>
          <a:p>
            <a:r>
              <a:t>- Conseil suspect → Fiduciary Mode (charte testée : le moteur ne connaît ni commission, ni affiliation, ni rétrocommission).</a:t>
            </a:r>
          </a:p>
          <a:p>
            <a:endParaRPr/>
          </a:p>
          <a:p>
            <a:r>
              <a:t>Le « gain creator » (côté positif) : repartir avec sa stack à tout moment = tranquillité. Mais ne pas chiffrer un gain de productivité sans mesure terrain (DÉFCON 1).</a:t>
            </a:r>
          </a:p>
          <a:p>
            <a:endParaRPr/>
          </a:p>
          <a:p>
            <a:r>
              <a:t>Hypothèses de PMF à valider (à dire à voix haute) : (1) P1 accepte de payer pour la « cuisine » et pas seulement de consommer la « recette » gratuite ; (2) l'Exit Escrow est un argument d'ACHAT et pas seulement de réassurance ; (3) la souveraineté est un critère de décision payant, pas un simple confort.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Positionnement concurrentiel. Présenter chaque alternative honnêtement (l'avocat du diable challengera la défensibilité — voir slide risques).</a:t>
            </a:r>
          </a:p>
          <a:p>
            <a:endParaRPr/>
          </a:p>
          <a:p>
            <a:r>
              <a:t>- Statu quo / grand public : le concurrent réel le plus fréquent est « ne rien faire » ou ChatGPT/Claude. Faiblesse : mémoire faible, données US, zéro souveraineté.</a:t>
            </a:r>
          </a:p>
          <a:p>
            <a:r>
              <a:t>- Intégrateur sur-mesure : 30-200 k€, 6 mois, non réutilisable (chiffres = repère de genèse P4, à traiter comme ordre de grandeur, pas comme stat sourcée). Strate offre un conseil chiffré, reproductible, en 90 s pour le diagnostic.</a:t>
            </a:r>
          </a:p>
          <a:p>
            <a:r>
              <a:t>- Hyperscalers : ce sont AUSSI des fournisseurs potentiels DANS la stack recommandée — Strate n'est pas anti-cloud, il est anti-CAPTURE. Argument : neutralité + anti-lock-in.</a:t>
            </a:r>
          </a:p>
          <a:p>
            <a:r>
              <a:t>- RAG-as-a-Service US : la cible directe à déloger ; faiblesse = locataire à vie, pas d'exit, données hors UE.</a:t>
            </a:r>
          </a:p>
          <a:p>
            <a:endParaRPr/>
          </a:p>
          <a:p>
            <a:r>
              <a:t>Le fil rouge de la différenciation : ce que les autres ne peuvent PAS faire sans saborder leur modèle, c'est garantir la sortie (Exit Escrow) et s'engager fiduciairement (zéro commission). Un acteur commissionné par les vendors ne peut pas copier le Fiduciary Mode — c'est la leçon Flipper (slide moats).</a:t>
            </a:r>
          </a:p>
          <a:p>
            <a:endParaRPr/>
          </a:p>
          <a:p>
            <a:r>
              <a:t>Caveat avocat du diable, à anticiper : un hyperscaler ou un SaaS pourrait COPIER l'Exit Escrow s'il y voyait un intérêt marketing. La vraie barrière n'est donc pas la feature seule, c'est la COMBINAISON (exit + fiduciaire + réseau de coûts) + l'incompatibilité de la copie avec leur modèle de revenu (lock-in). On y revient en section risques.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a:t>
            </a:r>
            <a:r>
              <a:rPr dirty="0" err="1"/>
              <a:t>cœur</a:t>
            </a:r>
            <a:r>
              <a:rPr dirty="0"/>
              <a:t> </a:t>
            </a:r>
            <a:r>
              <a:rPr dirty="0" err="1"/>
              <a:t>défendable</a:t>
            </a:r>
            <a:r>
              <a:rPr dirty="0"/>
              <a:t>. La couche de </a:t>
            </a:r>
            <a:r>
              <a:rPr dirty="0" err="1"/>
              <a:t>reco</a:t>
            </a:r>
            <a:r>
              <a:rPr dirty="0"/>
              <a:t> est </a:t>
            </a:r>
            <a:r>
              <a:rPr dirty="0" err="1"/>
              <a:t>commoditisée</a:t>
            </a:r>
            <a:r>
              <a:rPr dirty="0"/>
              <a:t> (un LLM la </a:t>
            </a:r>
            <a:r>
              <a:rPr dirty="0" err="1"/>
              <a:t>rapproche</a:t>
            </a:r>
            <a:r>
              <a:rPr dirty="0"/>
              <a:t> </a:t>
            </a:r>
            <a:r>
              <a:rPr dirty="0" err="1"/>
              <a:t>gratuitement</a:t>
            </a:r>
            <a:r>
              <a:rPr dirty="0"/>
              <a:t>). Le moat est le TRIO, qui transpose le playbook Cloudflare : se </a:t>
            </a:r>
            <a:r>
              <a:rPr dirty="0" err="1"/>
              <a:t>mettre</a:t>
            </a:r>
            <a:r>
              <a:rPr dirty="0"/>
              <a:t> </a:t>
            </a:r>
            <a:r>
              <a:rPr dirty="0" err="1"/>
              <a:t>devant</a:t>
            </a:r>
            <a:r>
              <a:rPr dirty="0"/>
              <a:t> </a:t>
            </a:r>
            <a:r>
              <a:rPr dirty="0" err="1"/>
              <a:t>l'origine</a:t>
            </a:r>
            <a:r>
              <a:rPr dirty="0"/>
              <a:t> sans capturer (Exit Escrow) ; </a:t>
            </a:r>
            <a:r>
              <a:rPr dirty="0" err="1"/>
              <a:t>créer</a:t>
            </a:r>
            <a:r>
              <a:rPr dirty="0"/>
              <a:t> </a:t>
            </a:r>
            <a:r>
              <a:rPr dirty="0" err="1"/>
              <a:t>l'habitude</a:t>
            </a:r>
            <a:r>
              <a:rPr dirty="0"/>
              <a:t> par la transparence (Fiduciary) ; voir tout le « </a:t>
            </a:r>
            <a:r>
              <a:rPr dirty="0" err="1"/>
              <a:t>trafic</a:t>
            </a:r>
            <a:r>
              <a:rPr dirty="0"/>
              <a:t> » de </a:t>
            </a:r>
            <a:r>
              <a:rPr dirty="0" err="1"/>
              <a:t>coûts</a:t>
            </a:r>
            <a:r>
              <a:rPr dirty="0"/>
              <a:t> pour </a:t>
            </a:r>
            <a:r>
              <a:rPr dirty="0" err="1"/>
              <a:t>mieux</a:t>
            </a:r>
            <a:r>
              <a:rPr dirty="0"/>
              <a:t> </a:t>
            </a:r>
            <a:r>
              <a:rPr dirty="0" err="1"/>
              <a:t>servir</a:t>
            </a:r>
            <a:r>
              <a:rPr dirty="0"/>
              <a:t> </a:t>
            </a:r>
            <a:r>
              <a:rPr dirty="0" err="1"/>
              <a:t>tous</a:t>
            </a:r>
            <a:r>
              <a:rPr dirty="0"/>
              <a:t> (Network). (MOAT-HUNT.md, scores 14/13/12 sur 15.)</a:t>
            </a:r>
          </a:p>
          <a:p>
            <a:endParaRPr dirty="0"/>
          </a:p>
          <a:p>
            <a:r>
              <a:rPr dirty="0"/>
              <a:t>① Exit Escrow (effort S, </a:t>
            </a:r>
            <a:r>
              <a:rPr dirty="0" err="1"/>
              <a:t>livré</a:t>
            </a:r>
            <a:r>
              <a:rPr dirty="0"/>
              <a:t>) : </a:t>
            </a:r>
            <a:r>
              <a:rPr dirty="0" err="1"/>
              <a:t>faisable</a:t>
            </a:r>
            <a:r>
              <a:rPr dirty="0"/>
              <a:t> PARCE QUE le vault markdown est déjà la source de vérité et </a:t>
            </a:r>
            <a:r>
              <a:rPr dirty="0" err="1"/>
              <a:t>que</a:t>
            </a:r>
            <a:r>
              <a:rPr dirty="0"/>
              <a:t> les projections (DB, </a:t>
            </a:r>
            <a:r>
              <a:rPr dirty="0" err="1"/>
              <a:t>vecteurs</a:t>
            </a:r>
            <a:r>
              <a:rPr dirty="0"/>
              <a:t>) </a:t>
            </a:r>
            <a:r>
              <a:rPr dirty="0" err="1"/>
              <a:t>sont</a:t>
            </a:r>
            <a:r>
              <a:rPr dirty="0"/>
              <a:t> des </a:t>
            </a:r>
            <a:r>
              <a:rPr dirty="0" err="1"/>
              <a:t>recalculs</a:t>
            </a:r>
            <a:r>
              <a:rPr dirty="0"/>
              <a:t>. Le bundle est </a:t>
            </a:r>
            <a:r>
              <a:rPr dirty="0" err="1"/>
              <a:t>testé</a:t>
            </a:r>
            <a:r>
              <a:rPr dirty="0"/>
              <a:t> : le </a:t>
            </a:r>
            <a:r>
              <a:rPr dirty="0" err="1"/>
              <a:t>manifeste</a:t>
            </a:r>
            <a:r>
              <a:rPr dirty="0"/>
              <a:t> doit </a:t>
            </a:r>
            <a:r>
              <a:rPr dirty="0" err="1"/>
              <a:t>correspondre</a:t>
            </a:r>
            <a:r>
              <a:rPr dirty="0"/>
              <a:t> </a:t>
            </a:r>
            <a:r>
              <a:rPr dirty="0" err="1"/>
              <a:t>exactement</a:t>
            </a:r>
            <a:r>
              <a:rPr dirty="0"/>
              <a:t> à la </a:t>
            </a:r>
            <a:r>
              <a:rPr dirty="0" err="1"/>
              <a:t>reco</a:t>
            </a:r>
            <a:r>
              <a:rPr dirty="0"/>
              <a:t> (couches/</a:t>
            </a:r>
            <a:r>
              <a:rPr dirty="0" err="1"/>
              <a:t>coût</a:t>
            </a:r>
            <a:r>
              <a:rPr dirty="0"/>
              <a:t>/preset). </a:t>
            </a:r>
            <a:r>
              <a:rPr dirty="0" err="1"/>
              <a:t>C'est</a:t>
            </a:r>
            <a:r>
              <a:rPr dirty="0"/>
              <a:t> la </a:t>
            </a:r>
            <a:r>
              <a:rPr dirty="0" err="1"/>
              <a:t>seule</a:t>
            </a:r>
            <a:r>
              <a:rPr dirty="0"/>
              <a:t> </a:t>
            </a:r>
            <a:r>
              <a:rPr dirty="0" err="1"/>
              <a:t>preuve</a:t>
            </a:r>
            <a:r>
              <a:rPr dirty="0"/>
              <a:t> DURE </a:t>
            </a:r>
            <a:r>
              <a:rPr dirty="0" err="1"/>
              <a:t>qu'on</a:t>
            </a:r>
            <a:r>
              <a:rPr dirty="0"/>
              <a:t> </a:t>
            </a:r>
            <a:r>
              <a:rPr dirty="0" err="1"/>
              <a:t>peut</a:t>
            </a:r>
            <a:r>
              <a:rPr dirty="0"/>
              <a:t> </a:t>
            </a:r>
            <a:r>
              <a:rPr dirty="0" err="1"/>
              <a:t>montrer</a:t>
            </a:r>
            <a:r>
              <a:rPr dirty="0"/>
              <a:t> </a:t>
            </a:r>
            <a:r>
              <a:rPr dirty="0" err="1"/>
              <a:t>aujourd'hui</a:t>
            </a:r>
            <a:r>
              <a:rPr dirty="0"/>
              <a:t>.</a:t>
            </a:r>
          </a:p>
          <a:p>
            <a:endParaRPr dirty="0"/>
          </a:p>
          <a:p>
            <a:r>
              <a:rPr dirty="0"/>
              <a:t>② Fiduciary Mode (effort S, </a:t>
            </a:r>
            <a:r>
              <a:rPr dirty="0" err="1"/>
              <a:t>livré</a:t>
            </a:r>
            <a:r>
              <a:rPr dirty="0"/>
              <a:t>) : LEÇON NÉGATIVE DÉCISIVE. Flipper (auto-switch </a:t>
            </a:r>
            <a:r>
              <a:rPr dirty="0" err="1"/>
              <a:t>énergie</a:t>
            </a:r>
            <a:r>
              <a:rPr dirty="0"/>
              <a:t>) a fermé ; Look After My Bills ne bascule </a:t>
            </a:r>
            <a:r>
              <a:rPr dirty="0" err="1"/>
              <a:t>que</a:t>
            </a:r>
            <a:r>
              <a:rPr dirty="0"/>
              <a:t> vers les vendors qui le </a:t>
            </a:r>
            <a:r>
              <a:rPr dirty="0" err="1"/>
              <a:t>commissionnent</a:t>
            </a:r>
            <a:r>
              <a:rPr dirty="0"/>
              <a:t>. Un courtier </a:t>
            </a:r>
            <a:r>
              <a:rPr dirty="0" err="1"/>
              <a:t>commissionné</a:t>
            </a:r>
            <a:r>
              <a:rPr dirty="0"/>
              <a:t> par le vendor TRAHIT le </a:t>
            </a:r>
            <a:r>
              <a:rPr dirty="0" err="1"/>
              <a:t>mandat</a:t>
            </a:r>
            <a:r>
              <a:rPr dirty="0"/>
              <a:t> et </a:t>
            </a:r>
            <a:r>
              <a:rPr dirty="0" err="1"/>
              <a:t>meurt</a:t>
            </a:r>
            <a:r>
              <a:rPr dirty="0"/>
              <a:t>. </a:t>
            </a:r>
            <a:r>
              <a:rPr dirty="0" err="1"/>
              <a:t>Donc</a:t>
            </a:r>
            <a:r>
              <a:rPr dirty="0"/>
              <a:t> le Fiduciary Mode </a:t>
            </a:r>
            <a:r>
              <a:rPr dirty="0" err="1"/>
              <a:t>n'est</a:t>
            </a:r>
            <a:r>
              <a:rPr dirty="0"/>
              <a:t> pas </a:t>
            </a:r>
            <a:r>
              <a:rPr dirty="0" err="1"/>
              <a:t>une</a:t>
            </a:r>
            <a:r>
              <a:rPr dirty="0"/>
              <a:t> option marketing, </a:t>
            </a:r>
            <a:r>
              <a:rPr dirty="0" err="1"/>
              <a:t>c'est</a:t>
            </a:r>
            <a:r>
              <a:rPr dirty="0"/>
              <a:t> </a:t>
            </a:r>
            <a:r>
              <a:rPr dirty="0" err="1"/>
              <a:t>une</a:t>
            </a:r>
            <a:r>
              <a:rPr dirty="0"/>
              <a:t> condition de </a:t>
            </a:r>
            <a:r>
              <a:rPr dirty="0" err="1"/>
              <a:t>survie</a:t>
            </a:r>
            <a:r>
              <a:rPr dirty="0"/>
              <a:t> ET </a:t>
            </a:r>
            <a:r>
              <a:rPr dirty="0" err="1"/>
              <a:t>une</a:t>
            </a:r>
            <a:r>
              <a:rPr dirty="0"/>
              <a:t> </a:t>
            </a:r>
            <a:r>
              <a:rPr dirty="0" err="1"/>
              <a:t>barrière</a:t>
            </a:r>
            <a:r>
              <a:rPr dirty="0"/>
              <a:t> : un concurrent </a:t>
            </a:r>
            <a:r>
              <a:rPr dirty="0" err="1"/>
              <a:t>commissionné</a:t>
            </a:r>
            <a:r>
              <a:rPr dirty="0"/>
              <a:t> ne </a:t>
            </a:r>
            <a:r>
              <a:rPr dirty="0" err="1"/>
              <a:t>peut</a:t>
            </a:r>
            <a:r>
              <a:rPr dirty="0"/>
              <a:t> pas copier sans </a:t>
            </a:r>
            <a:r>
              <a:rPr dirty="0" err="1"/>
              <a:t>saborder</a:t>
            </a:r>
            <a:r>
              <a:rPr dirty="0"/>
              <a:t> son </a:t>
            </a:r>
            <a:r>
              <a:rPr dirty="0" err="1"/>
              <a:t>modèle</a:t>
            </a:r>
            <a:r>
              <a:rPr dirty="0"/>
              <a:t> de </a:t>
            </a:r>
            <a:r>
              <a:rPr dirty="0" err="1"/>
              <a:t>revenu</a:t>
            </a:r>
            <a:r>
              <a:rPr dirty="0"/>
              <a:t>. (Sources : </a:t>
            </a:r>
            <a:r>
              <a:rPr dirty="0" err="1"/>
              <a:t>moneytothemasses</a:t>
            </a:r>
            <a:r>
              <a:rPr dirty="0"/>
              <a:t>, </a:t>
            </a:r>
            <a:r>
              <a:rPr dirty="0" err="1"/>
              <a:t>brabners</a:t>
            </a:r>
            <a:r>
              <a:rPr dirty="0"/>
              <a:t> — dans le PRD.)</a:t>
            </a:r>
          </a:p>
          <a:p>
            <a:endParaRPr dirty="0"/>
          </a:p>
          <a:p>
            <a:r>
              <a:rPr dirty="0"/>
              <a:t>③ Intelligence Network (effort L, rails </a:t>
            </a:r>
            <a:r>
              <a:rPr dirty="0" err="1"/>
              <a:t>posés</a:t>
            </a:r>
            <a:r>
              <a:rPr dirty="0"/>
              <a:t>) : </a:t>
            </a:r>
            <a:r>
              <a:rPr dirty="0" err="1"/>
              <a:t>c'est</a:t>
            </a:r>
            <a:r>
              <a:rPr dirty="0"/>
              <a:t> le VRAI moat Cloudflare (</a:t>
            </a:r>
            <a:r>
              <a:rPr dirty="0" err="1"/>
              <a:t>effet</a:t>
            </a:r>
            <a:r>
              <a:rPr dirty="0"/>
              <a:t> réseau de données). </a:t>
            </a:r>
            <a:r>
              <a:rPr dirty="0" err="1"/>
              <a:t>Chaque</a:t>
            </a:r>
            <a:r>
              <a:rPr dirty="0"/>
              <a:t> </a:t>
            </a:r>
            <a:r>
              <a:rPr dirty="0" err="1"/>
              <a:t>déploiement</a:t>
            </a:r>
            <a:r>
              <a:rPr dirty="0"/>
              <a:t> </a:t>
            </a:r>
            <a:r>
              <a:rPr dirty="0" err="1"/>
              <a:t>monitoré</a:t>
            </a:r>
            <a:r>
              <a:rPr dirty="0"/>
              <a:t> </a:t>
            </a:r>
            <a:r>
              <a:rPr dirty="0" err="1"/>
              <a:t>renvoie</a:t>
            </a:r>
            <a:r>
              <a:rPr dirty="0"/>
              <a:t>, sur opt-in RGPD </a:t>
            </a:r>
            <a:r>
              <a:rPr dirty="0" err="1"/>
              <a:t>horodaté</a:t>
            </a:r>
            <a:r>
              <a:rPr dirty="0"/>
              <a:t>, le </a:t>
            </a:r>
            <a:r>
              <a:rPr dirty="0" err="1"/>
              <a:t>coût</a:t>
            </a:r>
            <a:r>
              <a:rPr dirty="0"/>
              <a:t> </a:t>
            </a:r>
            <a:r>
              <a:rPr dirty="0" err="1"/>
              <a:t>réel</a:t>
            </a:r>
            <a:r>
              <a:rPr dirty="0"/>
              <a:t> par </a:t>
            </a:r>
            <a:r>
              <a:rPr dirty="0" err="1"/>
              <a:t>profil</a:t>
            </a:r>
            <a:r>
              <a:rPr dirty="0"/>
              <a:t>/vendor/</a:t>
            </a:r>
            <a:r>
              <a:rPr dirty="0" err="1"/>
              <a:t>région</a:t>
            </a:r>
            <a:r>
              <a:rPr dirty="0"/>
              <a:t> → dataset de calibration </a:t>
            </a:r>
            <a:r>
              <a:rPr dirty="0" err="1"/>
              <a:t>collectif</a:t>
            </a:r>
            <a:r>
              <a:rPr dirty="0"/>
              <a:t> qui </a:t>
            </a:r>
            <a:r>
              <a:rPr dirty="0" err="1"/>
              <a:t>tue</a:t>
            </a:r>
            <a:r>
              <a:rPr dirty="0"/>
              <a:t> </a:t>
            </a:r>
            <a:r>
              <a:rPr dirty="0" err="1"/>
              <a:t>progressivement</a:t>
            </a:r>
            <a:r>
              <a:rPr dirty="0"/>
              <a:t> le ±30 % + </a:t>
            </a:r>
            <a:r>
              <a:rPr dirty="0" err="1"/>
              <a:t>alertes</a:t>
            </a:r>
            <a:r>
              <a:rPr dirty="0"/>
              <a:t> type ISAC (un vendor change prix/CGU/API → </a:t>
            </a:r>
            <a:r>
              <a:rPr dirty="0" err="1"/>
              <a:t>tous</a:t>
            </a:r>
            <a:r>
              <a:rPr dirty="0"/>
              <a:t> </a:t>
            </a:r>
            <a:r>
              <a:rPr dirty="0" err="1"/>
              <a:t>alertés</a:t>
            </a:r>
            <a:r>
              <a:rPr dirty="0"/>
              <a:t>). MAIS : il ne </a:t>
            </a:r>
            <a:r>
              <a:rPr dirty="0" err="1"/>
              <a:t>devient</a:t>
            </a:r>
            <a:r>
              <a:rPr dirty="0"/>
              <a:t> ACTIF </a:t>
            </a:r>
            <a:r>
              <a:rPr dirty="0" err="1"/>
              <a:t>qu'avec</a:t>
            </a:r>
            <a:r>
              <a:rPr dirty="0"/>
              <a:t> des </a:t>
            </a:r>
            <a:r>
              <a:rPr dirty="0" err="1"/>
              <a:t>déploiements</a:t>
            </a:r>
            <a:r>
              <a:rPr dirty="0"/>
              <a:t> </a:t>
            </a:r>
            <a:r>
              <a:rPr dirty="0" err="1"/>
              <a:t>monitorés</a:t>
            </a:r>
            <a:r>
              <a:rPr dirty="0"/>
              <a:t> (Lot 2). </a:t>
            </a:r>
            <a:r>
              <a:rPr dirty="0" err="1"/>
              <a:t>Aujourd'hui</a:t>
            </a:r>
            <a:r>
              <a:rPr dirty="0"/>
              <a:t> = rails (</a:t>
            </a:r>
            <a:r>
              <a:rPr dirty="0" err="1"/>
              <a:t>consentement</a:t>
            </a:r>
            <a:r>
              <a:rPr dirty="0"/>
              <a:t> + </a:t>
            </a:r>
            <a:r>
              <a:rPr dirty="0" err="1"/>
              <a:t>schéma</a:t>
            </a:r>
            <a:r>
              <a:rPr dirty="0"/>
              <a:t> de données). À </a:t>
            </a:r>
            <a:r>
              <a:rPr dirty="0" err="1"/>
              <a:t>être</a:t>
            </a:r>
            <a:r>
              <a:rPr dirty="0"/>
              <a:t> </a:t>
            </a:r>
            <a:r>
              <a:rPr dirty="0" err="1"/>
              <a:t>honnête</a:t>
            </a:r>
            <a:r>
              <a:rPr dirty="0"/>
              <a:t> </a:t>
            </a:r>
            <a:r>
              <a:rPr dirty="0" err="1"/>
              <a:t>là</a:t>
            </a:r>
            <a:r>
              <a:rPr dirty="0"/>
              <a:t>-dessus (avocat du </a:t>
            </a:r>
            <a:r>
              <a:rPr dirty="0" err="1"/>
              <a:t>diable</a:t>
            </a:r>
            <a:r>
              <a:rPr dirty="0"/>
              <a:t> : </a:t>
            </a:r>
            <a:r>
              <a:rPr dirty="0" err="1"/>
              <a:t>effet</a:t>
            </a:r>
            <a:r>
              <a:rPr dirty="0"/>
              <a:t> réseau </a:t>
            </a:r>
            <a:r>
              <a:rPr dirty="0" err="1"/>
              <a:t>réel</a:t>
            </a:r>
            <a:r>
              <a:rPr dirty="0"/>
              <a:t> ? slide </a:t>
            </a:r>
            <a:r>
              <a:rPr dirty="0" err="1"/>
              <a:t>risques</a:t>
            </a:r>
            <a:r>
              <a:rPr dirty="0"/>
              <a:t>).</a:t>
            </a:r>
          </a:p>
          <a:p>
            <a:endParaRPr dirty="0"/>
          </a:p>
          <a:p>
            <a:r>
              <a:rPr dirty="0"/>
              <a:t>Sources des analogies </a:t>
            </a:r>
            <a:r>
              <a:rPr dirty="0" err="1"/>
              <a:t>toutes</a:t>
            </a:r>
            <a:r>
              <a:rPr dirty="0"/>
              <a:t> dans MOAT-HUNT.md (escrow </a:t>
            </a:r>
            <a:r>
              <a:rPr dirty="0" err="1"/>
              <a:t>logiciel</a:t>
            </a:r>
            <a:r>
              <a:rPr dirty="0"/>
              <a:t>, courtier </a:t>
            </a:r>
            <a:r>
              <a:rPr dirty="0" err="1"/>
              <a:t>énergie</a:t>
            </a:r>
            <a:r>
              <a:rPr dirty="0"/>
              <a:t>, ISAC) — ne jamais </a:t>
            </a:r>
            <a:r>
              <a:rPr dirty="0" err="1"/>
              <a:t>présenter</a:t>
            </a:r>
            <a:r>
              <a:rPr dirty="0"/>
              <a:t> </a:t>
            </a:r>
            <a:r>
              <a:rPr dirty="0" err="1"/>
              <a:t>ces</a:t>
            </a:r>
            <a:r>
              <a:rPr dirty="0"/>
              <a:t> analogies </a:t>
            </a:r>
            <a:r>
              <a:rPr dirty="0" err="1"/>
              <a:t>comme</a:t>
            </a:r>
            <a:r>
              <a:rPr dirty="0"/>
              <a:t> des </a:t>
            </a:r>
            <a:r>
              <a:rPr dirty="0" err="1"/>
              <a:t>garanties</a:t>
            </a:r>
            <a:r>
              <a:rPr dirty="0"/>
              <a:t> de succès, </a:t>
            </a:r>
            <a:r>
              <a:rPr dirty="0" err="1"/>
              <a:t>ce</a:t>
            </a:r>
            <a:r>
              <a:rPr dirty="0"/>
              <a:t> </a:t>
            </a:r>
            <a:r>
              <a:rPr dirty="0" err="1"/>
              <a:t>sont</a:t>
            </a:r>
            <a:r>
              <a:rPr dirty="0"/>
              <a:t> des </a:t>
            </a:r>
            <a:r>
              <a:rPr dirty="0" err="1"/>
              <a:t>modèles</a:t>
            </a:r>
            <a:r>
              <a:rPr dirty="0"/>
              <a:t> </a:t>
            </a:r>
            <a:r>
              <a:rPr dirty="0" err="1"/>
              <a:t>mentaux</a:t>
            </a:r>
            <a:r>
              <a:rPr dirty="0"/>
              <a:t> </a:t>
            </a:r>
            <a:r>
              <a:rPr dirty="0" err="1"/>
              <a:t>validés</a:t>
            </a:r>
            <a:r>
              <a:rPr dirty="0"/>
              <a:t> sur 10+ industries.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chemin d'acquisition est déjà construit dans le produit : l'accueil propose un « chemin 90 s » (4 questions OU intake en langage libre / dictée) → /resultats en mode verdict (besoin / risque / gain mesuré / prix ferme [PLACEHOLDER] / coût infra ±30 % / mise en route / prochaine étape) → livrable exportable (MD/PDF) + bundle Exit Escrow → upsell « cuisine payante ».</a:t>
            </a:r>
          </a:p>
          <a:p>
            <a:endParaRPr/>
          </a:p>
          <a:p>
            <a:r>
              <a:t>Motion :</a:t>
            </a:r>
          </a:p>
          <a:p>
            <a:r>
              <a:t>- PLG (Product-Led Growth) en haut de funnel : le diagnostic gratuit est le lead magnet (modèle Cloudflare free tier). Faible friction, valeur immédiate, capture d'e-mail exit-intent (RLS, opt-in RGPD/CNDP).</a:t>
            </a:r>
          </a:p>
          <a:p>
            <a:r>
              <a:t>- Sales-léger en bas de funnel : la conversion vers la cuisine payante (déploiement assisté, supervision) demande un échange humain, surtout sur les segments à enjeu (régulés). On n'a pas besoin d'une force de vente lourde au début (P1 = communauté).</a:t>
            </a:r>
          </a:p>
          <a:p>
            <a:endParaRPr/>
          </a:p>
          <a:p>
            <a:r>
              <a:t>Boucles de croissance :</a:t>
            </a:r>
          </a:p>
          <a:p>
            <a:r>
              <a:t>1. Boucle de confiance (moat ① + ②) : Exit Escrow + charte fiduciaire réduisent la peur d'achat → plus de conversions → plus de preuves sociales.</a:t>
            </a:r>
          </a:p>
          <a:p>
            <a:r>
              <a:t>2. Boucle de données (moat ③) : chaque déploiement monitoré enrichit la calibration des coûts → meilleur produit → meilleure conversion. Cette boucle ne tourne qu'au Lot 2 (déploiements monitorés) — honnêteté.</a:t>
            </a:r>
          </a:p>
          <a:p>
            <a:endParaRPr/>
          </a:p>
          <a:p>
            <a:r>
              <a:t>Séquencement géo : francophone Maroc-UE d'abord (là où Amine a l'accès et où max(RGPD, CNDP) est un argument), puis élargissement.</a:t>
            </a:r>
          </a:p>
          <a:p>
            <a:endParaRPr/>
          </a:p>
          <a:p>
            <a:r>
              <a:t>Métriques de funnel cibles (PRD §10, à traiter comme cibles, pas résultats) : activation &gt; 60 % (complètent le wizard → livrable) ; conversion P1 livrable → payant &gt; 10 % ; rétention (comptes ayant généré un Exit bundle) &gt; 80 %. Ce sont des HYPOTHÈSES de cible.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PRINCIPE D'ARCHITECTURE (PRD §9, charte fiduciaire) : on ne marge JAMAIS sur l'infra. Le coût cloud/IA est transparent, payé directement par le client à ses fournisseurs (±30 %, sourcé). Strate facture uniquement le SERVICE : déploiement assisté, monitoring, recalibration, négociation tarifaire vendor au nom du client (rémunération affichée). « Recette ouverte, cuisine payante. »</a:t>
            </a:r>
          </a:p>
          <a:p>
            <a:endParaRPr/>
          </a:p>
          <a:p>
            <a:r>
              <a:t>Cette séparation est ce qui rend le Fiduciary Mode crédible : si on margeait sur l'infra, on aurait intérêt à pousser des composants chers — exactement le conflit qu'on dénonce.</a:t>
            </a:r>
          </a:p>
          <a:p>
            <a:endParaRPr/>
          </a:p>
          <a:p>
            <a:r>
              <a:t>Les 3 paliers (grille candidate, cf. docs/pricing/wtp-research.md §3) :</a:t>
            </a:r>
          </a:p>
          <a:p>
            <a:r>
              <a:t>- Diagnostic = GRATUIT. Lead magnet. Le QUOI est offert (anti-lock-in + habitude).</a:t>
            </a:r>
          </a:p>
          <a:p>
            <a:r>
              <a:t>- Pro = forfait mensuel = [PLACEHOLDER]. C'est LE prix à caler par le sondage. Contenu : déploiement assisté + supervision + recalibration + négo vendor + Exit bundle premium.</a:t>
            </a:r>
          </a:p>
          <a:p>
            <a:r>
              <a:t>- Souverain+ = sur devis. On-prem/air-gapped, gouvernance, SLA, multi-région (résidence/DR = épic à venir).</a:t>
            </a:r>
          </a:p>
          <a:p>
            <a:endParaRPr/>
          </a:p>
          <a:p>
            <a:r>
              <a:t>IMPORTANT (DÉFCON 1) : le prix « Pro » n'est PAS encore connu. La homepage affiche un badge « Prix, sondage en cours » et ne donne aucun montant « au doigt mouillé ». Ne jamais asséner un chiffre ici.</a:t>
            </a:r>
          </a:p>
          <a:p>
            <a:endParaRPr/>
          </a:p>
          <a:p>
            <a:r>
              <a:t>Engagement : mensuel ou annuel (−20 % en hypothèse, attribut testé dans le conjoint). L'annuel finance le runway et baisse le churn.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Comment on calera le prix (docs/pricing/wtp-research.md) — la méthode est le livrable, pas un chiffre :</a:t>
            </a:r>
          </a:p>
          <a:p>
            <a:endParaRPr/>
          </a:p>
          <a:p>
            <a:r>
              <a:t>1. Mini-test Van Westendorp (4 questions de prix : trop cher / trop bon marché / cher mais acceptable / bonne affaire) sur 10-15 prospects P1. Donne : OPP (Optimal Price Point = intersection trop cher × trop bon marché), IPP (Indifference Price Point ≈ prix médian psychologique), et la fourchette acceptable [PMC … PME]. Une question d'intention (Q5) corrige l'optimisme du déclaratif.</a:t>
            </a:r>
          </a:p>
          <a:p>
            <a:endParaRPr/>
          </a:p>
          <a:p>
            <a:r>
              <a:t>2. Conjoint Choice-Based (CBC) sur 30-50 répondants : attributs = déploiement (UE / hybride / on-prem air-gapped) ; périmètre (déploiement seul / + monitoring / + recalibration &amp; négo) ; capacités (base / + gouvernance / + création) ; support (standard / prioritaire / dédié + SLA) ; engagement (mensuel / annuel −20 %) ; prix (4 niveaux). Sortie : utilités partielles, importance relative des attributs, WTP par niveau, simulateur de parts → prix optimal PAR palier.</a:t>
            </a:r>
          </a:p>
          <a:p>
            <a:endParaRPr/>
          </a:p>
          <a:p>
            <a:r>
              <a:t>3. Seuil de figeage : NE PAS fixer le prix avant ≥ 15 réponses VW et ≥ 30 conjoint. (Discipline DÉFCON 1.)</a:t>
            </a:r>
          </a:p>
          <a:p>
            <a:endParaRPr/>
          </a:p>
          <a:p>
            <a:r>
              <a:t>Modèles de revenu candidats (à arbitrer une fois la WTP connue) :</a:t>
            </a:r>
          </a:p>
          <a:p>
            <a:r>
              <a:t>- Abonnement forfaitaire (le plus simple, prévisible) — probablement le socle.</a:t>
            </a:r>
          </a:p>
          <a:p>
            <a:r>
              <a:t>- Setup + run (capture la valeur de la mise en route, qui est réelle : ingestion du backlog, configuration).</a:t>
            </a:r>
          </a:p>
          <a:p>
            <a:r>
              <a:t>- Value-based sur la négo vendor : facturer une part de l'économie obtenue au nom du client (aligné fiduciaire SI affiché).</a:t>
            </a:r>
          </a:p>
          <a:p>
            <a:endParaRPr/>
          </a:p>
          <a:p>
            <a:r>
              <a:t>Attributs qui portent probablement le prix (hypothèse à confirmer par le conjoint) : on-prem/air-gapped, recalibration + négo vendor, support dédié + SLA.</a:t>
            </a:r>
          </a:p>
          <a:p>
            <a:endParaRPr/>
          </a:p>
          <a:p>
            <a:r>
              <a:t>Le message clé pour Amine : on présente une MÉTHODE rigoureuse et un dispositif déjà en place (page /sondage + API de collecte), pas un prix inventé. Le [PLACEHOLDER] est assumé et c'est une force de crédibilité, pas une faiblesse.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récit de marque s'appuie sur l'identité produit (DESIGN.md : « sovereign control », crédibilité d'ingénierie, transparence, stabilité premium). Trois piliers narratifs : souveraineté, fiduciaire, anti-lock-in.</a:t>
            </a:r>
          </a:p>
          <a:p>
            <a:endParaRPr/>
          </a:p>
          <a:p>
            <a:r>
              <a:t>RÉGIME DE PREUVE (point capital, DÉFCON 1) : la homepage RÉELLE distingue déjà deux registres —</a:t>
            </a:r>
          </a:p>
          <a:p>
            <a:r>
              <a:t>- PREUVE DURE : Exit Escrow (on peut le tester : le bundle redéploie une stack identique) + charte fiduciaire (engagement contractuel vérifiable). Ce sont les seules promesses « démontrables » qu'on affiche comme telles.</a:t>
            </a:r>
          </a:p>
          <a:p>
            <a:r>
              <a:t>- PREUVE MOLLE : tout ce qui touche au gain de temps, à la qualité de réponse, à la productivité = « à mesurer chez vous ». On NE chiffre PAS un bénéfice sans donnée client. Zéro stat inventée.</a:t>
            </a:r>
          </a:p>
          <a:p>
            <a:endParaRPr/>
          </a:p>
          <a:p>
            <a:r>
              <a:t>Cette honnêteté EST un message marketing : dans un marché saturé de promesses IA gonflées, dire « voici ce qu'on peut prouver, voici ce qu'il faudra mesurer » construit la confiance — cohérent avec le positionnement fiduciaire.</a:t>
            </a:r>
          </a:p>
          <a:p>
            <a:endParaRPr/>
          </a:p>
          <a:p>
            <a:r>
              <a:t>Messages par segment :</a:t>
            </a:r>
          </a:p>
          <a:p>
            <a:r>
              <a:t>- P1 (bâtisseur) : « votre base, à vous, revendable » — appropriation + valeur d'actif.</a:t>
            </a:r>
          </a:p>
          <a:p>
            <a:r>
              <a:t>- P2 (PME tech) : « conformité + vitesse, sans payer un intégrateur 6 mois ».</a:t>
            </a:r>
          </a:p>
          <a:p>
            <a:r>
              <a:t>- P4 (régulé) : « secret professionnel, audit, bi-temporalité, preset HARD » — conformité comme argument premium.</a:t>
            </a:r>
          </a:p>
          <a:p>
            <a:endParaRPr/>
          </a:p>
          <a:p>
            <a:r>
              <a:t>Canaux : contenu (la rigueur du chiffrage sourcé = différenciant éditorial), communauté d'Amine, démonstrations live de l'Exit Escrow (le « moment wow » : générer un bundle et le redéployer ailleurs). Positionnement vs concurrents : « eux vous gardent locataire, nous vous rendons propriétaire ».</a:t>
            </a:r>
          </a:p>
          <a:p>
            <a:endParaRPr/>
          </a:p>
          <a:p>
            <a:r>
              <a:t>Garde-fou : la voix de marque doit rester non-orientée (principe « avis critique non orienté » d'Amine) — Strate présente alternatives/fourchettes/sources, le client tranche. Ne pas glisser vers un discours directif.</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de cadrage du P&amp;L, sur fond sombre pour marquer la rupture : ON ENTRE DANS LES HYPOTHÈSES. À dire explicitement : aucun chiffre des 3 slides suivantes n'est une prévision engageante. Ce sont des structures de raisonnement.</a:t>
            </a:r>
          </a:p>
          <a:p>
            <a:endParaRPr/>
          </a:p>
          <a:p>
            <a:r>
              <a:t>Drivers de REVENU :</a:t>
            </a:r>
          </a:p>
          <a:p>
            <a:r>
              <a:t>- Nombre de clients payants : la variable maîtresse.</a:t>
            </a:r>
          </a:p>
          <a:p>
            <a:r>
              <a:t>- ARPA (Average Revenue Per Account) = prix du service /mois = [PLACEHOLDER]. Tant qu'il n'est pas calé, tout chiffre d'affaires est paramétrique.</a:t>
            </a:r>
          </a:p>
          <a:p>
            <a:r>
              <a:t>- Mix de paliers : combien de Pro (forfait) vs Souverain+ (devis, ARPA bien plus élevé mais cycle plus long).</a:t>
            </a:r>
          </a:p>
          <a:p>
            <a:r>
              <a:t>- Conversion diagnostic → payant : cible HYPOTHÉTIQUE &gt; 10 % sur P1.</a:t>
            </a:r>
          </a:p>
          <a:p>
            <a:r>
              <a:t>- Churn / rétention : cible HYPOTHÉTIQUE rétention &gt; 80 % (les comptes ayant généré un Exit bundle).</a:t>
            </a:r>
          </a:p>
          <a:p>
            <a:endParaRPr/>
          </a:p>
          <a:p>
            <a:r>
              <a:t>Drivers de COÛT — point structurant et CONTRE-INTUITIF :</a:t>
            </a:r>
          </a:p>
          <a:p>
            <a:r>
              <a:t>- La marge brute n'inclut PAS l'infra, car l'infra est reversée au fournisseur SANS marge (fiduciaire). Donc le revenu Strate ≈ revenu de service quasi « pur ». La marge brute sur le SERVICE est potentiellement élevée (c'est du logiciel + de l'expertise), MAIS attention aux coûts variables d'IA.</a:t>
            </a:r>
          </a:p>
          <a:p>
            <a:r>
              <a:t>- Coûts LLM/tokens : le produit appelle un LLM (via proxy LiteLLM/DeepSeek) pour l'intake libre, la narration, l'assistant Q&amp;A et la veille catalogue ; + Firecrawl pour le price feed et la veille. Ces coûts sont VARIABLES et à l'usage — c'est une dette transparente notée dans le projet (le coût LLM à l'usage est signalé NON chiffré dans le moteur, story future). Ils grèvent la marge si le free tier est très utilisé → à surveiller (avocat du diable).</a:t>
            </a:r>
          </a:p>
          <a:p>
            <a:r>
              <a:t>- CAC : faible au début (communauté P1, bouche-à-oreille), mais montera quand il faudra acquérir hors réseau.</a:t>
            </a:r>
          </a:p>
          <a:p>
            <a:r>
              <a:t>- OPEX : développement (équipe réduite aujourd'hui), support, hébergement de la plateforme (Coolify/serveur).</a:t>
            </a:r>
          </a:p>
          <a:p>
            <a:endParaRPr/>
          </a:p>
          <a:p>
            <a:r>
              <a:t>Le vrai risque économique n'est pas « est-ce rentable par client » (le service marge bien) mais « le free tier coûte-t-il trop cher en IA avant conversion ? » et « le CAC hors-communauté est-il soutenable ? ». On y revient en risques.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TROIS SCÉNARIOS — uniquement le driver maître (nombre de clients payants) est chiffré, et c'est une HYPOTHÈSE de modélisation, pas une prévision. On ne chiffre PAS le CA en euros parce que l'ARPA est un [PLACEHOLDER] : poser un CA fermerait une donnée non connue (interdit DÉFCON 1).</a:t>
            </a:r>
          </a:p>
          <a:p>
            <a:endParaRPr/>
          </a:p>
          <a:p>
            <a:r>
              <a:t>Logique des scénarios (à expliquer comme des « et si », pas des promesses) :</a:t>
            </a:r>
          </a:p>
          <a:p>
            <a:r>
              <a:t>- PRUDENT (8 → 25 → 60) : adoption lente, conversion sous la cible, surtout P1, peu de Souverain+. C'est le scénario de survie.</a:t>
            </a:r>
          </a:p>
          <a:p>
            <a:r>
              <a:t>- BASE (15 → 60 → 180) : la communauté P1 convertit + extension P2, quelques Souverain+ devis. Croissance organique saine.</a:t>
            </a:r>
          </a:p>
          <a:p>
            <a:r>
              <a:t>- AMBITIEUX (30 → 150 → 500) : effet réseau qui s'enclenche (moat ③ actif), bouche-à-oreille fort, ouverture P3/P4. Suppose un Lot 2 mûr et un CAC maîtrisé.</a:t>
            </a:r>
          </a:p>
          <a:p>
            <a:endParaRPr/>
          </a:p>
          <a:p>
            <a:r>
              <a:t>Comment lire : multiplier par ARPA × 12 pour le CA. Exemple de raisonnement à faire AVEC un prix une fois connu — ne PAS donner de chiffre en euros maintenant.</a:t>
            </a:r>
          </a:p>
          <a:p>
            <a:endParaRPr/>
          </a:p>
          <a:p>
            <a:r>
              <a:t>Point mort : déterminé par CA service vs (OPEX fixes + coûts variables IA). Comme l'ARPA n'est pas fixé, le point mort est paramétrique. Une fois le sondage clos, on instancie 3 prix candidats et on lit le point mort de chacun.</a:t>
            </a:r>
          </a:p>
          <a:p>
            <a:endParaRPr/>
          </a:p>
          <a:p>
            <a:r>
              <a:t>Runway : la base de coûts est aujourd'hui légère (équipe réduite, hébergement self-host Coolify/serveur maîtrisé, pas de force de vente lourde). L'engagement annuel (−20 %) améliore la prévisibilité de trésorerie.</a:t>
            </a:r>
          </a:p>
          <a:p>
            <a:endParaRPr/>
          </a:p>
          <a:p>
            <a:r>
              <a:t>Le risque caché ici : les COÛTS VARIABLES IA du free tier. Si beaucoup d'utilisateurs font tourner intake + assistant + veille sans convertir, le coût LLM/Firecrawl par lead peut éroder la marge. Mitigation possible : caps/quotas sur le free tier, modèles moins chers via LiteLLM, cache. À traiter (slide annexe hypothèses + risques).</a:t>
            </a:r>
          </a:p>
          <a:p>
            <a:endParaRPr/>
          </a:p>
          <a:p>
            <a:r>
              <a:t>À répéter : ces nombres servent à structurer la discussion d'investissement et de runway, pas à promettre un résultat.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unit economics sont LE sujet que l'avocat du diable doit forcer. On expose les 4 briques sans inventer de ratio (on n'a pas les données).</a:t>
            </a:r>
          </a:p>
          <a:p>
            <a:endParaRPr/>
          </a:p>
          <a:p>
            <a:r>
              <a:t>1. Marge sur service : potentiellement élevée. Comme l'infra est reversée sans marge (fiduciaire), elle ne grève PAS la marge de Strate — c'est un coût du CLIENT, pas de Strate. Donc le revenu Strate est presque entièrement du service à forte marge brute logicielle. C'est une bonne nouvelle structurelle.</a:t>
            </a:r>
          </a:p>
          <a:p>
            <a:endParaRPr/>
          </a:p>
          <a:p>
            <a:r>
              <a:t>2. Coût variable IA par lead : le PIÈGE. Même un utilisateur gratuit déclenche des appels LLM (intake libre, narration, assistant Q&amp;A) et Firecrawl (price feed, veille catalogue). Ce coût existe AVANT toute conversion. Si le ratio leads gratuits / conversions est élevé, le coût d'acquisition « caché » grimpe. Mitigations : quotas sur le free tier, cache (déjà en place pour les prix et le catalogue, TTL court), bascule sur un modèle moins cher via LiteLLM (le provider se règle côté proxy, l'app référence un alias).</a:t>
            </a:r>
          </a:p>
          <a:p>
            <a:endParaRPr/>
          </a:p>
          <a:p>
            <a:r>
              <a:t>3. CAC : ~0 sur P1 (communauté, bouche-à-oreille). Mais on ne peut pas extrapoler ce CAC aux segments hors réseau — il faudra le mesurer (contenu, SEO, démos).</a:t>
            </a:r>
          </a:p>
          <a:p>
            <a:endParaRPr/>
          </a:p>
          <a:p>
            <a:r>
              <a:t>4. LTV : ARPA [PLACEHOLDER] × durée de vie. La rétention visée (&gt;80 %) repose sur deux ancres : l'Exit Escrow (paradoxe : pouvoir partir facilement RETIENT, car ça enlève la peur) et la supervision continue (valeur récurrente). Hypothèse à valider.</a:t>
            </a:r>
          </a:p>
          <a:p>
            <a:endParaRPr/>
          </a:p>
          <a:p>
            <a:r>
              <a:t>Conclusion honnête : on ne PEUT PAS donner un LTV/CAC chiffré crédible aujourd'hui. Le faire serait du faux-rigoureux. La priorité est donc : (a) clore le sondage WTP, (b) réaliser 5 ventes P1 réelles pour observer conversion, ARPA effectif, churn et coût IA/lead. C'est le kill-criteria économique.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question piège des partenariats : comment monétiser des alliances SANS détruire le moat fiduciaire (zéro commission cachée) ? C'est une vraie tension, pas un détail.</a:t>
            </a:r>
          </a:p>
          <a:p>
            <a:endParaRPr/>
          </a:p>
          <a:p>
            <a:r>
              <a:t>Règle d'or (charte fiduciaire, testée dans le code) : aucune recommandation n'est jamais conditionnée à une rémunération vendor. Le moteur de reco ne connaît NI commission, NI affiliation, NI rétrocommission. La leçon Flipper est explicite : un courtier commissionné par le vendor trahit le mandat et meurt.</a:t>
            </a:r>
          </a:p>
          <a:p>
            <a:endParaRPr/>
          </a:p>
          <a:p>
            <a:r>
              <a:t>Comment nouer des partenariats malgré tout :</a:t>
            </a:r>
          </a:p>
          <a:p>
            <a:r>
              <a:t>1. Fournisseurs d'infra souveraine (Scaleway, OVH, hébergeurs UE/Maroc) : le Fiduciary Mode payant prévoit justement la NÉGOCIATION tarifaire au nom du client, avec rémunération AFFICHÉE. La nuance fiduciaire : on peut être rémunéré, mais de façon transparente et divulguée, jamais en douce, et sans que ça oriente la reco. Un rabais négocié reversé au client (ou une rémunération de service affichée) est compatible ; une rétrocommission cachée ne l'est pas.</a:t>
            </a:r>
          </a:p>
          <a:p>
            <a:r>
              <a:t>2. Intégrateurs &amp; cabinets conseil : pour exécuter le Lot 2 (déploiement) à l'échelle, Strate peut sous-traiter — en restant le mandataire du client, avec apport d'affaires transparent.</a:t>
            </a:r>
          </a:p>
          <a:p>
            <a:r>
              <a:t>3. Cabinets juridiques / DPO : la conformité (RGPD/CNDP) est un produit dérivé naturel (Lot 3). Garde-fou : Strate reste « ingénierie, pas conseil juridique » (disclaimer présent dans la roadmap résidence/DR). Le partenariat juridique COMBLE ce vide sans que Strate s'expose au risque de practice du droit.</a:t>
            </a:r>
          </a:p>
          <a:p>
            <a:r>
              <a:t>4. Open-source &amp; fournisseurs de modèles : le proxy LiteLLM rend Strate neutre vis-à-vis des modèles (on change de provider côté proxy sans toucher le produit). Aligné avec la souveraineté et l'anti-dépendance. Les communautés open (embeddings Apache 2.0 type Qwen3-VL) renforcent le récit souverain.</a:t>
            </a:r>
          </a:p>
          <a:p>
            <a:endParaRPr/>
          </a:p>
          <a:p>
            <a:r>
              <a:t>Alignement avec la mission : tout partenariat doit servir l'un des 3 moats (souveraineté/anti-lock-in, transparence, données) — pas les diluer. Un partenariat qui pousserait un fournisseur pour une commission serait un anti-pattern à refuser, même lucratif.</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de transition vers la section critique. Ton : lucide, pas défaitiste. Le but est de transformer chaque angle aveugle en EXPÉRIENCE à mener (kill-criteria), conformément à la culture « zéro complaisance » d'Amine.</a:t>
            </a:r>
          </a:p>
          <a:p>
            <a:endParaRPr/>
          </a:p>
          <a:p>
            <a:r>
              <a:t>Les 6 axes annoncés ici sont développés sur les 2 slides suivantes :</a:t>
            </a:r>
          </a:p>
          <a:p>
            <a:r>
              <a:t>1. Unit economics réelles (le coût IA caché + CAC).</a:t>
            </a:r>
          </a:p>
          <a:p>
            <a:r>
              <a:t>2. Dépendance aux fournisseurs (paradoxe souveraineté vs dépendance API).</a:t>
            </a:r>
          </a:p>
          <a:p>
            <a:r>
              <a:t>3. Érosion des moats (copiabilité de l'Exit Escrow, réalité de l'effet réseau).</a:t>
            </a:r>
          </a:p>
          <a:p>
            <a:r>
              <a:t>4. Risque juridique (frontière conseil/ingénierie).</a:t>
            </a:r>
          </a:p>
          <a:p>
            <a:r>
              <a:t>5. Taille et maturité du marché « souveraineté IA » (PAS de TAM sourcé → c'est une inconnue, pas un acquis).</a:t>
            </a:r>
          </a:p>
          <a:p>
            <a:r>
              <a:t>6. Le piège du prix [PLACEHOLDER] (WTP potentiellement basse).</a:t>
            </a:r>
          </a:p>
          <a:p>
            <a:endParaRPr/>
          </a:p>
          <a:p>
            <a:r>
              <a:t>À garder en tête : l'absence de stat de marché sourcée est elle-même un risque (on ne peut pas affirmer que le marché est grand). On l'assume.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Trois premiers risques, chacun avec son angle aveugle et l'EXPÉRIENCE qui le tranche (kill-criteria) :</a:t>
            </a:r>
          </a:p>
          <a:p>
            <a:endParaRPr/>
          </a:p>
          <a:p>
            <a:r>
              <a:t>1. UNIT ECONOMICS — Le risque numéro un. Chaque diagnostic gratuit consomme du LLM (intake, narration, assistant) et du Firecrawl (feed prix, veille catalogue). Si le taux de conversion est bas, on paie de l'IA pour des leads qui ne convertissent pas. Preuve : instrumenter le coût IA réel par diagnostic sur 50 parcours, croiser avec le taux de conversion P1, et tester l'effet de quotas + cache + modèle économe. Kill-criteria : si coût IA/lead non amorti même avec quotas et conversion réaliste → revoir le free tier.</a:t>
            </a:r>
          </a:p>
          <a:p>
            <a:endParaRPr/>
          </a:p>
          <a:p>
            <a:r>
              <a:t>2. DÉPENDANCE FOURNISSEURS — Le paradoxe : on vend la souveraineté mais le cerveau (LLM) et les yeux (Firecrawl) sont des tiers. Atténuations DÉJÀ dans le code : (a) tous les appels LLM ont un repli déterministe (le produit fonctionne si le LLM est KO — c'est testé) ; (b) le calcul de coût est 100 % déterministe (le LLM ne calcule jamais) ; (c) LiteLLM permet de changer de provider, y compris vers un modèle auto-hébergé, sans toucher l'app. Preuve : faire tourner un LLM open auto-hébergé via LiteLLM et mesurer la qualité/coût ; documenter la dégradation gracieuse comme argument de vente souverain.</a:t>
            </a:r>
          </a:p>
          <a:p>
            <a:endParaRPr/>
          </a:p>
          <a:p>
            <a:r>
              <a:t>3. ÉROSION DES MOATS — (a) Exit Escrow copiable : oui techniquement, mais un acteur dont le modèle EST le lock-in ne le fera pas (anti-incitatif). (b) Fiduciaire : un commissionné ne peut pas copier sans saborder son revenu (vrai moat défensif). (c) Effet réseau : c'est le maillon faible — il n'existe PAS tant qu'il n'y a pas un volume de déploiements monitorés (Lot 2). Preuve : estimer le nombre de déploiements nécessaires pour que la calibration batte le ±30 % ; jusque-là, ne pas survendre le Network comme un moat actif.</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Quatre risques restants :</a:t>
            </a:r>
          </a:p>
          <a:p>
            <a:endParaRPr/>
          </a:p>
          <a:p>
            <a:r>
              <a:t>4. RISQUE JURIDIQUE — Strate conseille des choix de souveraineté et de conformité (RGPD/CNDP). Si le discours glisse vers « voici votre obligation légale », on frôle le conseil juridique réglementé. De même, parler d'« économie » et de « négo vendor » peut frôler le conseil financier. Mitigations : disclaimer « ingénierie, pas juridique » présent dans la roadmap résidence/DR ; partenariat DPO/avocat (slide partenariats) ; faire relire les CGU et la charte fiduciaire par un juriste. Kill-criteria : si un conseil produit pouvait être requalifié en acte réglementé → restreindre le périmètre.</a:t>
            </a:r>
          </a:p>
          <a:p>
            <a:endParaRPr/>
          </a:p>
          <a:p>
            <a:r>
              <a:t>5. MARCHÉ &amp; MATURITÉ — Honnêteté brutale : on n'a PAS de TAM sourcé pour « souveraineté IA des bases mémorielles ». Le marché peut être réel mais de niche, ou pas encore prêt à payer. On ne doit pas faire semblant. Preuve : (a) sourcer une vraie estimation de marché (rapports analystes, sans l'inventer) ; (b) surtout, valider la demande par 5 LOI/arrhes réelles sur P1 AVANT d'extrapoler quoi que ce soit. La validation terrain prime sur le TAM théorique.</a:t>
            </a:r>
          </a:p>
          <a:p>
            <a:endParaRPr/>
          </a:p>
          <a:p>
            <a:r>
              <a:t>6. CYCLE B2B &amp; EXÉCUTION SOLO — Les régulés (P4) ont un cycle long (DPA, audits) ; commencer par là tuerait le runway. D'où la focalisation P1/P2 (cycle court). Risque d'exécution : petite équipe = bus-factor élevé. Mitigations : documentation (ADR, progress.md déjà tenus), jalonnement, recrutement ciblé sur les goulots (support, vente).</a:t>
            </a:r>
          </a:p>
          <a:p>
            <a:endParaRPr/>
          </a:p>
          <a:p>
            <a:r>
              <a:t>7. LE PIÈGE DU [PLACEHOLDER] — LE risque transversal. Si la willingness-to-pay pour la « cuisine » est inférieure au coût de servir (IA + support + déploiement), le modèle payant ne tient pas, même avec un bon produit. C'est pourquoi le sondage WTP n'est pas un confort mais un GATE : clore le sondage (≥ 15 VW + ≥ 30 conjoint) avant tout scale, puis tester 3 prix sur des ventes réelles. Kill-criteria : si la WTP médiane &lt; coût de servir → repenser le packaging (ex. plus de self-service, moins de service humain).</a:t>
            </a:r>
          </a:p>
          <a:p>
            <a:endParaRPr/>
          </a:p>
          <a:p>
            <a:r>
              <a:t>Autres angles à mentionner si on a le temps : cannibalisation conseil vs produit (le livrable gratuit peut suffire à certains → assumé par « recette ouverte ») ; concentration géographique (Maroc-UE) ; scénarios de sortie/financement (bootstrap vs levée — à trancher selon le sondage et les 5 ventes).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questions ouvertes structurantes, présentées comme des DÉCISIONS À TRANCHER par Amine (principe « avis non orienté » : on expose les options et les preuves nécessaires, on ne tranche pas à sa place).</a:t>
            </a:r>
          </a:p>
          <a:p>
            <a:endParaRPr/>
          </a:p>
          <a:p>
            <a:r>
              <a:t>1. Prix de la cuisine (Pro) : décision GATÉE par le sondage. Ne rien fixer avant les seuils (≥ 15 VW, ≥ 30 conjoint).</a:t>
            </a:r>
          </a:p>
          <a:p>
            <a:r>
              <a:t>2. Bootstrap ou levée : le Lot 2 (déploiement assisté + monitoring) demande de l'effort. Le financer sur revenus (plus lent, plus souverain — cohérent avec le récit) ou lever (plus rapide, dilution + pression de croissance qui peut heurter le positionnement fiduciaire) ? À trancher selon le sondage et les 5 ventes.</a:t>
            </a:r>
          </a:p>
          <a:p>
            <a:r>
              <a:t>3. Free tier IA : quotas, cache, modèle économe — décision produit qui pèse directement sur les unit economics.</a:t>
            </a:r>
          </a:p>
          <a:p>
            <a:r>
              <a:t>4. Ordre des segments : P3 (agences, multi-tenancy déjà câblé) ou P4 (régulés, premium mais cycle long) en second ?</a:t>
            </a:r>
          </a:p>
          <a:p>
            <a:r>
              <a:t>5. Périmètre fiduciaire de la négo vendor : facturer une part de l'économie générée (aligné valeur, à divulguer) ou un forfait (plus simple, moins de risque de conflit perçu) ?</a:t>
            </a:r>
          </a:p>
          <a:p>
            <a:r>
              <a:t>6. Effet réseau : combien de déploiements monitorés pour que la calibration collective batte vraiment le ±30 % ? Tant qu'on ne sait pas, ne pas survendre le moat ③.</a:t>
            </a:r>
          </a:p>
          <a:p>
            <a:endParaRPr/>
          </a:p>
          <a:p>
            <a:r>
              <a:t>KILL-CRITERIA récapitulés (les seuils d'abandon/pivot) :</a:t>
            </a:r>
          </a:p>
          <a:p>
            <a:r>
              <a:t>- WTP médiane &lt; coût de servir la cuisine → repenser le packaging.</a:t>
            </a:r>
          </a:p>
          <a:p>
            <a:r>
              <a:t>- Coût IA/lead non amorti même avec quotas + conversion réaliste → revoir le free tier.</a:t>
            </a:r>
          </a:p>
          <a:p>
            <a:r>
              <a:t>- &lt; 5 LOI/arrhes P1 après présentation → le wedge n'est pas validé, repenser la cible.</a:t>
            </a:r>
          </a:p>
          <a:p>
            <a:r>
              <a:t>- Un conseil produit requalifiable en acte réglementé → restreindre le périmètre.</a:t>
            </a:r>
          </a:p>
          <a:p>
            <a:endParaRPr/>
          </a:p>
          <a:p>
            <a:r>
              <a:t>Le rôle de Strate (et de ce deck) est de présenter l'analyse neutre ; Amine décide.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roadmap est tenue par les JALONS DE PREUVE, pas seulement par les features.</a:t>
            </a:r>
          </a:p>
          <a:p>
            <a:endParaRPr/>
          </a:p>
          <a:p>
            <a:r>
              <a:t>Lot 1 (LIVRÉ + déployé en prod, infra.ai-mpower.com) : tout le « conseil + moats ». Reco déterministe 7 couches sourcée ±30 %, ensemble multi-config, livrable MD/PDF, Exit Escrow (testé), charte fiduciaire, rails du Network (RLS, consentement). L'épic LLM est complet : intake libre → Profile (validé serveur), narration (chiffres préservés), assistant Q&amp;A contextuel, reco « vivante » (catalogue sourcé web + LLM, garde-fou DÉFCON 1), console admin de prompts versionnés. C'est VENDABLE SEUL.</a:t>
            </a:r>
          </a:p>
          <a:p>
            <a:endParaRPr/>
          </a:p>
          <a:p>
            <a:r>
              <a:t>Lot 2 (à venir) : la « cuisine payante » et donc le revenu récurrent. Provisioning hybride human-in-the-loop (l'utilisateur crée le compte + saisit sa carte, l'agent optimise APRÈS via OAuth/MCP — jamais d'inscription ni de carte par l'agent → CGU + responsabilité maîtrisées), coffre de secrets, monitoring (Infra Health Score type NEWS2 + Dispatch Deviation Guide type MEL aviation), Network actif (collecte du coût réel → recalibration). C'est l'investissement clé à financer.</a:t>
            </a:r>
          </a:p>
          <a:p>
            <a:endParaRPr/>
          </a:p>
          <a:p>
            <a:r>
              <a:t>En cours / proche : épic résidence &amp; continuité (DR multi-région, table de conformité des transferts UE/Maroc/US), avec disclaimer « ingénierie, pas juridique ».</a:t>
            </a:r>
          </a:p>
          <a:p>
            <a:endParaRPr/>
          </a:p>
          <a:p>
            <a:r>
              <a:t>ASKS (ce dont Amine a besoin pour avancer) :</a:t>
            </a:r>
          </a:p>
          <a:p>
            <a:r>
              <a:t>1. Clore le sondage WTP (seuils VW + conjoint) → débloque le prix et le P&amp;L réel.</a:t>
            </a:r>
          </a:p>
          <a:p>
            <a:r>
              <a:t>2. Obtenir 5 LOI/arrhes sur P1 → valide la demande et l'offre.</a:t>
            </a:r>
          </a:p>
          <a:p>
            <a:r>
              <a:t>3. Arbitrer bootstrap vs levée → finance le Lot 2 (le moteur de revenu récurrent).</a:t>
            </a:r>
          </a:p>
          <a:p>
            <a:endParaRPr/>
          </a:p>
          <a:p>
            <a:r>
              <a:t>Jalons de preuve = ces 3 asks + la première validation de l'Exit Escrow sur une stack réelle (banc d'essai : la stack d'Amine).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5 décisions structurantes, présentées comme des OPTIONS recommandées à trancher (jamais un verdict imposé — principe d'Amine).</a:t>
            </a:r>
          </a:p>
          <a:p>
            <a:endParaRPr/>
          </a:p>
          <a:p>
            <a:r>
              <a:t>1. Sondage WTP = GATE absolu. La discipline DÉFCON 1 appliquée au business : pas de prix au doigt mouillé. Tant que le sondage n'a pas ses seuils, le prix reste [PLACEHOLDER] et le P&amp;L reste paramétrique. C'est inconfortable mais honnête, et ça évite de bâtir sur du sable.</a:t>
            </a:r>
          </a:p>
          <a:p>
            <a:endParaRPr/>
          </a:p>
          <a:p>
            <a:r>
              <a:t>2. Tenir le wedge P1. La tentation sera d'aller chercher les gros (P4/P5) qui « valent plus ». Mais le cycle long et la conformité lourde tueraient le runway. P1 (communauté) = demande quasi acquise, CAC ~0, preuve sociale. Séquencer le reste.</a:t>
            </a:r>
          </a:p>
          <a:p>
            <a:endParaRPr/>
          </a:p>
          <a:p>
            <a:r>
              <a:t>3. Borner le coût IA du free tier. C'est l'angle aveugle économique principal. Décider tôt d'une politique de quotas/cache/modèle économe (LiteLLM facilite le choix du modèle côté proxy) pour ne pas se faire saigner par les gratuits.</a:t>
            </a:r>
          </a:p>
          <a:p>
            <a:endParaRPr/>
          </a:p>
          <a:p>
            <a:r>
              <a:t>4. Faire de l'Exit Escrow le héros de la communication. C'est la seule preuve DURE. Une démonstration live (générer un bundle, le redéployer ailleurs) est le « moment wow » qui matérialise l'anti-lock-in. Tout le reste = « à mesurer chez vous ».</a:t>
            </a:r>
          </a:p>
          <a:p>
            <a:endParaRPr/>
          </a:p>
          <a:p>
            <a:r>
              <a:t>5. Financer le Lot 2 sur jalons. Bootstrap si la trésorerie le permet (cohérent avec le récit souverain et le positionnement fiduciaire — pas de pression d'investisseur qui pousserait à trahir la charte). Lever seulement si la WTP validée + les 5 ventes prouvent un modèle scalable qui justifie l'accélération.</a:t>
            </a:r>
          </a:p>
          <a:p>
            <a:endParaRPr/>
          </a:p>
          <a:p>
            <a:r>
              <a:t>Insister : ce sont des recommandations argumentées, pas des ordres. Amine arbitre avec les preuves en main.</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détail des hypothèses du P&amp;L, pour transparence totale. À répéter : aucune n'est engageante ; toutes sont à valider.</a:t>
            </a:r>
          </a:p>
          <a:p>
            <a:endParaRPr/>
          </a:p>
          <a:p>
            <a:r>
              <a:t>- ARPA : c'est le [PLACEHOLDER]. Le sondage Van Westendorp + conjoint le calera. Souverain+ aura un ARPA plus élevé mais un cycle de vente plus long (devis).</a:t>
            </a:r>
          </a:p>
          <a:p>
            <a:r>
              <a:t>- Clients payants : les 3 trajectoires (prudent/base/ambitieux) sont des structures de scénario, choisies pour borner le raisonnement, pas des projections de marché.</a:t>
            </a:r>
          </a:p>
          <a:p>
            <a:r>
              <a:t>- Marge brute : structurellement bonne (le revenu Strate est du service, pas de la revente d'infra), MAIS il faut la calculer NETTE des coûts variables IA. C'est la nuance qui distingue la marge théorique de la marge réelle.</a:t>
            </a:r>
          </a:p>
          <a:p>
            <a:r>
              <a:t>- Conversion / churn : cibles du PRD §10, à traiter comme hypothèses à observer.</a:t>
            </a:r>
          </a:p>
          <a:p>
            <a:r>
              <a:t>- CAC : ~0 sur P1 ; inconnu hors réseau.</a:t>
            </a:r>
          </a:p>
          <a:p>
            <a:r>
              <a:t>- Coûts variables IA : explicitement une dette transparente du projet (le coût LLM à l'usage est signalé non chiffré dans le moteur). À instrumenter.</a:t>
            </a:r>
          </a:p>
          <a:p>
            <a:r>
              <a:t>- OPEX : léger (équipe réduite, hébergement maîtrisé), ce qui allonge le runway en bootstrap.</a:t>
            </a:r>
          </a:p>
          <a:p>
            <a:endParaRPr/>
          </a:p>
          <a:p>
            <a:r>
              <a:t>Tout chiffre absolu en euros est volontairement absent : il dépend de l'ARPA inconnu.</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Glossaire pour aligner le vocabulaire avec un public non-technique (investisseurs, partenaires). Les termes clés :</a:t>
            </a:r>
          </a:p>
          <a:p>
            <a:r>
              <a:t>- Base mémorielle = le « produit » du client (sa mémoire d'organisation), pas l'outil Strate.</a:t>
            </a:r>
          </a:p>
          <a:p>
            <a:r>
              <a:t>- 7 couches = l'architecture que Strate recommande et chiffre.</a:t>
            </a:r>
          </a:p>
          <a:p>
            <a:r>
              <a:t>- Preset = le palier (LIGHT/MEDIUM/HARD), désormais dérivé d'un score explicable (pas une boîte noire — cf. ADR-020).</a:t>
            </a:r>
          </a:p>
          <a:p>
            <a:r>
              <a:t>- Les 3 moats sont rappelés.</a:t>
            </a:r>
          </a:p>
          <a:p>
            <a:r>
              <a:t>- Van Westendorp / CBC = les méthodes du sondage de prix.</a:t>
            </a:r>
          </a:p>
          <a:p>
            <a:r>
              <a:t>- ±30 % = l'honnêteté assumée du chiffrage (c'est un simulateur, pas une boule de cristal).</a:t>
            </a:r>
          </a:p>
          <a:p>
            <a:r>
              <a:t>- DÉFCON 1 = la règle de rigueur qui traverse tout le projet ET ce deck.</a:t>
            </a:r>
          </a:p>
          <a:p>
            <a:r>
              <a:t>Utiliser cette slide en référence si une question de vocabulaire surgit.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Traçabilité</a:t>
            </a:r>
            <a:r>
              <a:rPr dirty="0"/>
              <a:t> </a:t>
            </a:r>
            <a:r>
              <a:rPr dirty="0" err="1"/>
              <a:t>complète</a:t>
            </a:r>
            <a:r>
              <a:rPr dirty="0"/>
              <a:t> (exigence DÉFCON 1 : citer les sources).</a:t>
            </a:r>
          </a:p>
          <a:p>
            <a:endParaRPr dirty="0"/>
          </a:p>
          <a:p>
            <a:r>
              <a:rPr dirty="0"/>
              <a:t>Sources INTERNES : tout le business model est </a:t>
            </a:r>
            <a:r>
              <a:rPr dirty="0" err="1"/>
              <a:t>dérivé</a:t>
            </a:r>
            <a:r>
              <a:rPr dirty="0"/>
              <a:t> du </a:t>
            </a:r>
            <a:r>
              <a:rPr dirty="0" err="1"/>
              <a:t>dépôt</a:t>
            </a:r>
            <a:r>
              <a:rPr dirty="0"/>
              <a:t> </a:t>
            </a:r>
            <a:r>
              <a:rPr dirty="0" err="1"/>
              <a:t>réel</a:t>
            </a:r>
            <a:r>
              <a:rPr dirty="0"/>
              <a:t> — PRD, MOAT-HUNT, DECISIONS (ADR), </a:t>
            </a:r>
            <a:r>
              <a:rPr dirty="0" err="1"/>
              <a:t>wtp</a:t>
            </a:r>
            <a:r>
              <a:rPr dirty="0"/>
              <a:t>-research, prd.json/progress.md (état des features), </a:t>
            </a:r>
            <a:r>
              <a:rPr dirty="0" err="1"/>
              <a:t>charter.ts</a:t>
            </a:r>
            <a:r>
              <a:rPr dirty="0"/>
              <a:t> (</a:t>
            </a:r>
            <a:r>
              <a:rPr dirty="0" err="1"/>
              <a:t>charte</a:t>
            </a:r>
            <a:r>
              <a:rPr dirty="0"/>
              <a:t> </a:t>
            </a:r>
            <a:r>
              <a:rPr dirty="0" err="1"/>
              <a:t>fiduciaire</a:t>
            </a:r>
            <a:r>
              <a:rPr dirty="0"/>
              <a:t>), DESIGN.md (</a:t>
            </a:r>
            <a:r>
              <a:rPr dirty="0" err="1"/>
              <a:t>identité</a:t>
            </a:r>
            <a:r>
              <a:rPr dirty="0"/>
              <a:t>). </a:t>
            </a:r>
            <a:r>
              <a:rPr dirty="0" err="1"/>
              <a:t>Aucune</a:t>
            </a:r>
            <a:r>
              <a:rPr dirty="0"/>
              <a:t> feature </a:t>
            </a:r>
            <a:r>
              <a:rPr dirty="0" err="1"/>
              <a:t>inventée</a:t>
            </a:r>
            <a:r>
              <a:rPr dirty="0"/>
              <a:t>.</a:t>
            </a:r>
          </a:p>
          <a:p>
            <a:endParaRPr dirty="0"/>
          </a:p>
          <a:p>
            <a:r>
              <a:rPr dirty="0"/>
              <a:t>Sources EXTERNES : </a:t>
            </a:r>
            <a:r>
              <a:rPr dirty="0" err="1"/>
              <a:t>ce</a:t>
            </a:r>
            <a:r>
              <a:rPr dirty="0"/>
              <a:t> </a:t>
            </a:r>
            <a:r>
              <a:rPr dirty="0" err="1"/>
              <a:t>sont</a:t>
            </a:r>
            <a:r>
              <a:rPr dirty="0"/>
              <a:t> les analogies qui </a:t>
            </a:r>
            <a:r>
              <a:rPr dirty="0" err="1"/>
              <a:t>fondent</a:t>
            </a:r>
            <a:r>
              <a:rPr dirty="0"/>
              <a:t> les moats (escrow </a:t>
            </a:r>
            <a:r>
              <a:rPr dirty="0" err="1"/>
              <a:t>logiciel</a:t>
            </a:r>
            <a:r>
              <a:rPr dirty="0"/>
              <a:t>, courtier </a:t>
            </a:r>
            <a:r>
              <a:rPr dirty="0" err="1"/>
              <a:t>fiduciaire</a:t>
            </a:r>
            <a:r>
              <a:rPr dirty="0"/>
              <a:t>/</a:t>
            </a:r>
            <a:r>
              <a:rPr dirty="0" err="1"/>
              <a:t>leçon</a:t>
            </a:r>
            <a:r>
              <a:rPr dirty="0"/>
              <a:t> Flipper, ISAC, ensemble forecasting, MEL, NEWS2). Elles </a:t>
            </a:r>
            <a:r>
              <a:rPr dirty="0" err="1"/>
              <a:t>sont</a:t>
            </a:r>
            <a:r>
              <a:rPr dirty="0"/>
              <a:t> </a:t>
            </a:r>
            <a:r>
              <a:rPr dirty="0" err="1"/>
              <a:t>listées</a:t>
            </a:r>
            <a:r>
              <a:rPr dirty="0"/>
              <a:t> et </a:t>
            </a:r>
            <a:r>
              <a:rPr dirty="0" err="1"/>
              <a:t>liées</a:t>
            </a:r>
            <a:r>
              <a:rPr dirty="0"/>
              <a:t> dans le PRD et MOAT-HUNT. Ce </a:t>
            </a:r>
            <a:r>
              <a:rPr dirty="0" err="1"/>
              <a:t>sont</a:t>
            </a:r>
            <a:r>
              <a:rPr dirty="0"/>
              <a:t> des MODÈLES MENTAUX </a:t>
            </a:r>
            <a:r>
              <a:rPr dirty="0" err="1"/>
              <a:t>validés</a:t>
            </a:r>
            <a:r>
              <a:rPr dirty="0"/>
              <a:t> sur </a:t>
            </a:r>
            <a:r>
              <a:rPr dirty="0" err="1"/>
              <a:t>d'autres</a:t>
            </a:r>
            <a:r>
              <a:rPr dirty="0"/>
              <a:t> industries, pas des </a:t>
            </a:r>
            <a:r>
              <a:rPr dirty="0" err="1"/>
              <a:t>garanties</a:t>
            </a:r>
            <a:r>
              <a:rPr dirty="0"/>
              <a:t> de succès.</a:t>
            </a:r>
          </a:p>
          <a:p>
            <a:endParaRPr dirty="0"/>
          </a:p>
          <a:p>
            <a:r>
              <a:rPr dirty="0"/>
              <a:t>POINT D'HONNÊTETÉ FINAL : </a:t>
            </a:r>
            <a:r>
              <a:rPr dirty="0" err="1"/>
              <a:t>aucune</a:t>
            </a:r>
            <a:r>
              <a:rPr dirty="0"/>
              <a:t> taille de </a:t>
            </a:r>
            <a:r>
              <a:rPr dirty="0" err="1"/>
              <a:t>marché</a:t>
            </a:r>
            <a:r>
              <a:rPr dirty="0"/>
              <a:t> (TAM/SAM/SOM) </a:t>
            </a:r>
            <a:r>
              <a:rPr dirty="0" err="1"/>
              <a:t>n'est</a:t>
            </a:r>
            <a:r>
              <a:rPr dirty="0"/>
              <a:t> </a:t>
            </a:r>
            <a:r>
              <a:rPr dirty="0" err="1"/>
              <a:t>sourcée</a:t>
            </a:r>
            <a:r>
              <a:rPr dirty="0"/>
              <a:t> dans </a:t>
            </a:r>
            <a:r>
              <a:rPr dirty="0" err="1"/>
              <a:t>ce</a:t>
            </a:r>
            <a:r>
              <a:rPr dirty="0"/>
              <a:t> deck. </a:t>
            </a:r>
            <a:r>
              <a:rPr dirty="0" err="1"/>
              <a:t>C'est</a:t>
            </a:r>
            <a:r>
              <a:rPr dirty="0"/>
              <a:t> </a:t>
            </a:r>
            <a:r>
              <a:rPr dirty="0" err="1"/>
              <a:t>délibéré</a:t>
            </a:r>
            <a:r>
              <a:rPr dirty="0"/>
              <a:t> — on ne </a:t>
            </a:r>
            <a:r>
              <a:rPr dirty="0" err="1"/>
              <a:t>fabrique</a:t>
            </a:r>
            <a:r>
              <a:rPr dirty="0"/>
              <a:t> pas de stat de </a:t>
            </a:r>
            <a:r>
              <a:rPr dirty="0" err="1"/>
              <a:t>marché</a:t>
            </a:r>
            <a:r>
              <a:rPr dirty="0"/>
              <a:t>. La taille du </a:t>
            </a:r>
            <a:r>
              <a:rPr dirty="0" err="1"/>
              <a:t>marché</a:t>
            </a:r>
            <a:r>
              <a:rPr dirty="0"/>
              <a:t> « </a:t>
            </a:r>
            <a:r>
              <a:rPr dirty="0" err="1"/>
              <a:t>souveraineté</a:t>
            </a:r>
            <a:r>
              <a:rPr dirty="0"/>
              <a:t> IA » est </a:t>
            </a:r>
            <a:r>
              <a:rPr dirty="0" err="1"/>
              <a:t>traitée</a:t>
            </a:r>
            <a:r>
              <a:rPr dirty="0"/>
              <a:t> </a:t>
            </a:r>
            <a:r>
              <a:rPr dirty="0" err="1"/>
              <a:t>comme</a:t>
            </a:r>
            <a:r>
              <a:rPr dirty="0"/>
              <a:t> </a:t>
            </a:r>
            <a:r>
              <a:rPr dirty="0" err="1"/>
              <a:t>une</a:t>
            </a:r>
            <a:r>
              <a:rPr dirty="0"/>
              <a:t> INCONNUE à </a:t>
            </a:r>
            <a:r>
              <a:rPr dirty="0" err="1"/>
              <a:t>sourcer</a:t>
            </a:r>
            <a:r>
              <a:rPr dirty="0"/>
              <a:t>/</a:t>
            </a:r>
            <a:r>
              <a:rPr dirty="0" err="1"/>
              <a:t>valider</a:t>
            </a:r>
            <a:r>
              <a:rPr dirty="0"/>
              <a:t> (slide </a:t>
            </a:r>
            <a:r>
              <a:rPr dirty="0" err="1"/>
              <a:t>risques</a:t>
            </a:r>
            <a:r>
              <a:rPr dirty="0"/>
              <a:t>), pas </a:t>
            </a:r>
            <a:r>
              <a:rPr dirty="0" err="1"/>
              <a:t>comme</a:t>
            </a:r>
            <a:r>
              <a:rPr dirty="0"/>
              <a:t> un acquis. </a:t>
            </a:r>
            <a:r>
              <a:rPr dirty="0" err="1"/>
              <a:t>C'est</a:t>
            </a:r>
            <a:r>
              <a:rPr dirty="0"/>
              <a:t> </a:t>
            </a:r>
            <a:r>
              <a:rPr dirty="0" err="1"/>
              <a:t>cohérent</a:t>
            </a:r>
            <a:r>
              <a:rPr dirty="0"/>
              <a:t> avec la </a:t>
            </a:r>
            <a:r>
              <a:rPr dirty="0" err="1"/>
              <a:t>règle</a:t>
            </a:r>
            <a:r>
              <a:rPr dirty="0"/>
              <a:t> « </a:t>
            </a:r>
            <a:r>
              <a:rPr dirty="0" err="1"/>
              <a:t>zéro</a:t>
            </a:r>
            <a:r>
              <a:rPr dirty="0"/>
              <a:t> donnée </a:t>
            </a:r>
            <a:r>
              <a:rPr dirty="0" err="1"/>
              <a:t>erronée</a:t>
            </a:r>
            <a:r>
              <a:rPr dirty="0"/>
              <a:t> </a:t>
            </a:r>
            <a:r>
              <a:rPr dirty="0" err="1"/>
              <a:t>présentée</a:t>
            </a:r>
            <a:r>
              <a:rPr dirty="0"/>
              <a:t> </a:t>
            </a:r>
            <a:r>
              <a:rPr dirty="0" err="1"/>
              <a:t>comme</a:t>
            </a:r>
            <a:r>
              <a:rPr dirty="0"/>
              <a:t> </a:t>
            </a:r>
            <a:r>
              <a:rPr dirty="0" err="1"/>
              <a:t>fiable</a:t>
            </a:r>
            <a:r>
              <a:rPr dirty="0"/>
              <a:t> ».</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Clôture. Récapituler en 3 temps :</a:t>
            </a:r>
          </a:p>
          <a:p>
            <a:r>
              <a:t>1. La thèse est claire : le Cloudflare de la mémoire IA souveraine — anti-lock-in vendu comme un produit.</a:t>
            </a:r>
          </a:p>
          <a:p>
            <a:r>
              <a:t>2. Les moats sont défendables : Exit Escrow (preuve dure), Fiduciary (barrière que les commissionnés ne peuvent copier), Network (effet réseau, à activer au Lot 2).</a:t>
            </a:r>
          </a:p>
          <a:p>
            <a:r>
              <a:t>3. Les chiffres sont honnêtement étiquetés : prix = [PLACEHOLDER], P&amp;L = hypothèses, marché = inconnue à valider. Cette honnêteté est un actif de crédibilité, pas une faiblesse.</a:t>
            </a:r>
          </a:p>
          <a:p>
            <a:endParaRPr/>
          </a:p>
          <a:p>
            <a:r>
              <a:t>Appel à l'action / prochains pas : clore le sondage WTP, obtenir 5 clients/LOI P1, financer le Lot 2 (la cuisine = le revenu récurrent). C'est la séquence qui transforme un produit livré en entreprise viable.</a:t>
            </a:r>
          </a:p>
          <a:p>
            <a:endParaRPr/>
          </a:p>
          <a:p>
            <a:r>
              <a:t>Fin de la présentation.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83044"/>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006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325880"/>
            <a:ext cx="10515600" cy="365760"/>
          </a:xfrm>
          <a:prstGeom prst="rect">
            <a:avLst/>
          </a:prstGeom>
          <a:noFill/>
        </p:spPr>
        <p:txBody>
          <a:bodyPr wrap="square" lIns="0" tIns="0" rIns="0" bIns="0" anchor="t">
            <a:spAutoFit/>
          </a:bodyPr>
          <a:lstStyle/>
          <a:p>
            <a:pPr algn="l">
              <a:spcBef>
                <a:spcPts val="0"/>
              </a:spcBef>
              <a:spcAft>
                <a:spcPts val="600"/>
              </a:spcAft>
            </a:pPr>
            <a:r>
              <a:rPr sz="1300" b="1" i="0" spc="180">
                <a:solidFill>
                  <a:srgbClr val="6BD8CB"/>
                </a:solidFill>
                <a:latin typeface="Inter"/>
              </a:rPr>
              <a:t>BUSINESS MODEL · DOCUMENT DE TRAVAIL · 2026</a:t>
            </a:r>
          </a:p>
        </p:txBody>
      </p:sp>
      <p:sp>
        <p:nvSpPr>
          <p:cNvPr id="4" name="TextBox 3"/>
          <p:cNvSpPr txBox="1"/>
          <p:nvPr/>
        </p:nvSpPr>
        <p:spPr>
          <a:xfrm>
            <a:off x="822960" y="1874519"/>
            <a:ext cx="10515600" cy="1463040"/>
          </a:xfrm>
          <a:prstGeom prst="rect">
            <a:avLst/>
          </a:prstGeom>
          <a:noFill/>
        </p:spPr>
        <p:txBody>
          <a:bodyPr wrap="square" lIns="0" tIns="0" rIns="0" bIns="0" anchor="t">
            <a:spAutoFit/>
          </a:bodyPr>
          <a:lstStyle/>
          <a:p>
            <a:pPr algn="l">
              <a:spcBef>
                <a:spcPts val="0"/>
              </a:spcBef>
              <a:spcAft>
                <a:spcPts val="200"/>
              </a:spcAft>
            </a:pPr>
            <a:r>
              <a:rPr sz="6600" b="1" i="0">
                <a:solidFill>
                  <a:srgbClr val="FFFFFF"/>
                </a:solidFill>
                <a:latin typeface="Space Grotesk"/>
              </a:rPr>
              <a:t>Strate</a:t>
            </a:r>
          </a:p>
          <a:p>
            <a:pPr algn="l">
              <a:spcBef>
                <a:spcPts val="0"/>
              </a:spcBef>
              <a:spcAft>
                <a:spcPts val="0"/>
              </a:spcAft>
            </a:pPr>
            <a:r>
              <a:rPr sz="2100" b="0" i="0">
                <a:solidFill>
                  <a:srgbClr val="EEF0FF"/>
                </a:solidFill>
                <a:latin typeface="Space Grotesk"/>
              </a:rPr>
              <a:t>La base mémorielle souveraine qui grandit avec votre organisation —</a:t>
            </a:r>
          </a:p>
          <a:p>
            <a:pPr algn="l">
              <a:spcBef>
                <a:spcPts val="0"/>
              </a:spcBef>
              <a:spcAft>
                <a:spcPts val="600"/>
              </a:spcAft>
            </a:pPr>
            <a:r>
              <a:rPr sz="2100" b="0" i="0">
                <a:solidFill>
                  <a:srgbClr val="EEF0FF"/>
                </a:solidFill>
                <a:latin typeface="Space Grotesk"/>
              </a:rPr>
              <a:t>sans migration, sans verrouillage, sans coûts cachés.</a:t>
            </a:r>
          </a:p>
        </p:txBody>
      </p:sp>
      <p:sp>
        <p:nvSpPr>
          <p:cNvPr id="5" name="TextBox 4"/>
          <p:cNvSpPr txBox="1"/>
          <p:nvPr/>
        </p:nvSpPr>
        <p:spPr>
          <a:xfrm>
            <a:off x="822960" y="4892040"/>
            <a:ext cx="10515600" cy="1280160"/>
          </a:xfrm>
          <a:prstGeom prst="rect">
            <a:avLst/>
          </a:prstGeom>
          <a:noFill/>
        </p:spPr>
        <p:txBody>
          <a:bodyPr wrap="square" lIns="0" tIns="0" rIns="0" bIns="0" anchor="t">
            <a:spAutoFit/>
          </a:bodyPr>
          <a:lstStyle/>
          <a:p>
            <a:pPr algn="l">
              <a:spcBef>
                <a:spcPts val="0"/>
              </a:spcBef>
              <a:spcAft>
                <a:spcPts val="400"/>
              </a:spcAft>
            </a:pPr>
            <a:r>
              <a:rPr sz="1500" b="0" i="0">
                <a:solidFill>
                  <a:srgbClr val="EEF0FF"/>
                </a:solidFill>
                <a:latin typeface="Inter"/>
              </a:rPr>
              <a:t>Configurateur SaaS souverain d'infrastructure de « base mémorielle » IA.</a:t>
            </a:r>
          </a:p>
          <a:p>
            <a:pPr algn="l">
              <a:spcBef>
                <a:spcPts val="0"/>
              </a:spcBef>
              <a:spcAft>
                <a:spcPts val="600"/>
              </a:spcAft>
            </a:pPr>
            <a:r>
              <a:rPr sz="1400" b="0" i="0">
                <a:solidFill>
                  <a:srgbClr val="B4C5FF"/>
                </a:solidFill>
                <a:latin typeface="Inter"/>
              </a:rPr>
              <a:t>Conseil → déploiement · recette ouverte, cuisine payante · trio de moats : Exit Escrow · Fiduciary Mode · Intelligence Network.</a:t>
            </a:r>
          </a:p>
        </p:txBody>
      </p:sp>
      <p:sp>
        <p:nvSpPr>
          <p:cNvPr id="6" name="TextBox 5"/>
          <p:cNvSpPr txBox="1"/>
          <p:nvPr/>
        </p:nvSpPr>
        <p:spPr>
          <a:xfrm>
            <a:off x="822960" y="6263640"/>
            <a:ext cx="10515600" cy="365760"/>
          </a:xfrm>
          <a:prstGeom prst="rect">
            <a:avLst/>
          </a:prstGeom>
          <a:noFill/>
        </p:spPr>
        <p:txBody>
          <a:bodyPr wrap="square" lIns="0" tIns="0" rIns="0" bIns="0" anchor="t">
            <a:spAutoFit/>
          </a:bodyPr>
          <a:lstStyle/>
          <a:p>
            <a:pPr algn="l">
              <a:spcBef>
                <a:spcPts val="0"/>
              </a:spcBef>
              <a:spcAft>
                <a:spcPts val="600"/>
              </a:spcAft>
            </a:pPr>
            <a:r>
              <a:rPr sz="1100" b="0" i="0">
                <a:solidFill>
                  <a:srgbClr val="6BD8CB"/>
                </a:solidFill>
                <a:latin typeface="JetBrains Mono"/>
              </a:rPr>
              <a:t>Prix de vente = [PLACEHOLDER] · sondage Van Westendorp + conjoint en cours · toute projection chiffrée = HYPOTHÈSE à valider.</a:t>
            </a:r>
          </a:p>
        </p:txBody>
      </p:sp>
      <p:sp>
        <p:nvSpPr>
          <p:cNvPr id="7" name="TextBox 6"/>
          <p:cNvSpPr txBox="1"/>
          <p:nvPr/>
        </p:nvSpPr>
        <p:spPr>
          <a:xfrm>
            <a:off x="777240" y="6446520"/>
            <a:ext cx="10607040" cy="274320"/>
          </a:xfrm>
          <a:prstGeom prst="rect">
            <a:avLst/>
          </a:prstGeom>
          <a:noFill/>
        </p:spPr>
        <p:txBody>
          <a:bodyPr wrap="square" lIns="0" tIns="0" rIns="0" bIns="0" anchor="t">
            <a:spAutoFit/>
          </a:bodyPr>
          <a:lstStyle/>
          <a:p>
            <a:pPr algn="l"/>
            <a:endParaRPr/>
          </a:p>
        </p:txBody>
      </p:sp>
      <p:sp>
        <p:nvSpPr>
          <p:cNvPr id="8" name="TextBox 7"/>
          <p:cNvSpPr txBox="1"/>
          <p:nvPr/>
        </p:nvSpPr>
        <p:spPr>
          <a:xfrm>
            <a:off x="10789920" y="6446520"/>
            <a:ext cx="594360" cy="274320"/>
          </a:xfrm>
          <a:prstGeom prst="rect">
            <a:avLst/>
          </a:prstGeom>
          <a:noFill/>
        </p:spPr>
        <p:txBody>
          <a:bodyPr wrap="square" lIns="0" tIns="0" rIns="0" bIns="0" anchor="t">
            <a:spAutoFit/>
          </a:bodyPr>
          <a:lstStyle/>
          <a:p>
            <a:pPr algn="r"/>
            <a:r>
              <a:rPr sz="900" b="0" i="0">
                <a:solidFill>
                  <a:srgbClr val="BCC9C6"/>
                </a:solidFill>
                <a:latin typeface="JetBrains Mono"/>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8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006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02920"/>
            <a:ext cx="10607040" cy="320040"/>
          </a:xfrm>
          <a:prstGeom prst="rect">
            <a:avLst/>
          </a:prstGeom>
          <a:noFill/>
        </p:spPr>
        <p:txBody>
          <a:bodyPr wrap="square" lIns="0" tIns="0" rIns="0" bIns="0" anchor="t">
            <a:spAutoFit/>
          </a:bodyPr>
          <a:lstStyle/>
          <a:p>
            <a:pPr algn="l">
              <a:spcBef>
                <a:spcPts val="0"/>
              </a:spcBef>
              <a:spcAft>
                <a:spcPts val="600"/>
              </a:spcAft>
            </a:pPr>
            <a:r>
              <a:rPr sz="1250" b="1" i="0" spc="140">
                <a:solidFill>
                  <a:srgbClr val="00685F"/>
                </a:solidFill>
                <a:latin typeface="Inter"/>
              </a:rPr>
              <a:t>SYNTHÈSE</a:t>
            </a:r>
          </a:p>
        </p:txBody>
      </p:sp>
      <p:sp>
        <p:nvSpPr>
          <p:cNvPr id="4" name="TextBox 3"/>
          <p:cNvSpPr txBox="1"/>
          <p:nvPr/>
        </p:nvSpPr>
        <p:spPr>
          <a:xfrm>
            <a:off x="777240" y="841248"/>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31B2E"/>
                </a:solidFill>
                <a:latin typeface="Space Grotesk"/>
              </a:rPr>
              <a:t>La thèse, en une page</a:t>
            </a:r>
          </a:p>
        </p:txBody>
      </p:sp>
      <p:sp>
        <p:nvSpPr>
          <p:cNvPr id="5" name="Rectangle 4"/>
          <p:cNvSpPr/>
          <p:nvPr/>
        </p:nvSpPr>
        <p:spPr>
          <a:xfrm>
            <a:off x="777240" y="1627632"/>
            <a:ext cx="10607040" cy="17780"/>
          </a:xfrm>
          <a:prstGeom prst="rect">
            <a:avLst/>
          </a:prstGeom>
          <a:solidFill>
            <a:srgbClr val="BCC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874519"/>
            <a:ext cx="10607040" cy="868680"/>
          </a:xfrm>
          <a:prstGeom prst="rect">
            <a:avLst/>
          </a:prstGeom>
          <a:noFill/>
        </p:spPr>
        <p:txBody>
          <a:bodyPr wrap="square" lIns="0" tIns="0" rIns="0" bIns="0" anchor="t">
            <a:spAutoFit/>
          </a:bodyPr>
          <a:lstStyle/>
          <a:p>
            <a:pPr algn="l">
              <a:spcBef>
                <a:spcPts val="0"/>
              </a:spcBef>
              <a:spcAft>
                <a:spcPts val="600"/>
              </a:spcAft>
            </a:pPr>
            <a:r>
              <a:rPr sz="1900" b="1" i="1">
                <a:solidFill>
                  <a:srgbClr val="00685F"/>
                </a:solidFill>
                <a:latin typeface="Space Grotesk"/>
              </a:rPr>
              <a:t>« Le Cloudflare de la mémoire IA souveraine : se mettre devant l'infra sans capturer le client, et faire de l'anti-lock-in un produit qui se vend. »</a:t>
            </a:r>
          </a:p>
        </p:txBody>
      </p:sp>
      <p:sp>
        <p:nvSpPr>
          <p:cNvPr id="7" name="Rounded Rectangle 6"/>
          <p:cNvSpPr/>
          <p:nvPr/>
        </p:nvSpPr>
        <p:spPr>
          <a:xfrm>
            <a:off x="777240" y="3063240"/>
            <a:ext cx="2542032" cy="2331720"/>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64592" tIns="146304" rIns="164592" bIns="128016" rtlCol="0" anchor="t"/>
          <a:lstStyle/>
          <a:p>
            <a:pPr algn="l">
              <a:spcBef>
                <a:spcPts val="600"/>
              </a:spcBef>
              <a:spcAft>
                <a:spcPts val="800"/>
              </a:spcAft>
            </a:pPr>
            <a:r>
              <a:rPr sz="1600" b="1" i="0">
                <a:solidFill>
                  <a:srgbClr val="131B2E"/>
                </a:solidFill>
                <a:latin typeface="Space Grotesk"/>
              </a:rPr>
              <a:t>Le problème</a:t>
            </a:r>
          </a:p>
          <a:p>
            <a:pPr algn="l">
              <a:spcBef>
                <a:spcPts val="0"/>
              </a:spcBef>
              <a:spcAft>
                <a:spcPts val="400"/>
              </a:spcAft>
            </a:pPr>
            <a:r>
              <a:rPr sz="1250" b="0" i="0">
                <a:solidFill>
                  <a:srgbClr val="3D4947"/>
                </a:solidFill>
                <a:latin typeface="Inter"/>
              </a:rPr>
              <a:t>Un dirigeant qui veut une mémoire IA n'a que des options bancales : grand public (données chez un tiers US), sur-mesure (30-200 k€), ou SaaS US (locataire à vie).</a:t>
            </a:r>
          </a:p>
        </p:txBody>
      </p:sp>
      <p:sp>
        <p:nvSpPr>
          <p:cNvPr id="8" name="Rectangle 7"/>
          <p:cNvSpPr/>
          <p:nvPr/>
        </p:nvSpPr>
        <p:spPr>
          <a:xfrm>
            <a:off x="777240" y="3063240"/>
            <a:ext cx="2542032" cy="82296"/>
          </a:xfrm>
          <a:prstGeom prst="rect">
            <a:avLst/>
          </a:prstGeom>
          <a:solidFill>
            <a:srgbClr val="006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483864" y="3063240"/>
            <a:ext cx="2542032" cy="2331720"/>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64592" tIns="146304" rIns="164592" bIns="128016" rtlCol="0" anchor="t"/>
          <a:lstStyle/>
          <a:p>
            <a:pPr algn="l">
              <a:spcBef>
                <a:spcPts val="600"/>
              </a:spcBef>
              <a:spcAft>
                <a:spcPts val="800"/>
              </a:spcAft>
            </a:pPr>
            <a:r>
              <a:rPr sz="1600" b="1" i="0">
                <a:solidFill>
                  <a:srgbClr val="131B2E"/>
                </a:solidFill>
                <a:latin typeface="Space Grotesk"/>
              </a:rPr>
              <a:t>La solution</a:t>
            </a:r>
          </a:p>
          <a:p>
            <a:pPr algn="l">
              <a:spcBef>
                <a:spcPts val="0"/>
              </a:spcBef>
              <a:spcAft>
                <a:spcPts val="400"/>
              </a:spcAft>
            </a:pPr>
            <a:r>
              <a:rPr sz="1250" b="0" i="0">
                <a:solidFill>
                  <a:srgbClr val="3D4947"/>
                </a:solidFill>
                <a:latin typeface="Inter"/>
              </a:rPr>
              <a:t>Profilage → reco 7 couches sourcée ±30 % → livrable → bundle de redéploiement (Exit Escrow). En upsell : déploiement assisté + supervision.</a:t>
            </a:r>
          </a:p>
        </p:txBody>
      </p:sp>
      <p:sp>
        <p:nvSpPr>
          <p:cNvPr id="10" name="Rectangle 9"/>
          <p:cNvSpPr/>
          <p:nvPr/>
        </p:nvSpPr>
        <p:spPr>
          <a:xfrm>
            <a:off x="3483864" y="3063240"/>
            <a:ext cx="2542032" cy="82296"/>
          </a:xfrm>
          <a:prstGeom prst="rect">
            <a:avLst/>
          </a:prstGeom>
          <a:solidFill>
            <a:srgbClr val="005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190488" y="3063240"/>
            <a:ext cx="2542032" cy="2331720"/>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64592" tIns="146304" rIns="164592" bIns="128016" rtlCol="0" anchor="t"/>
          <a:lstStyle/>
          <a:p>
            <a:pPr algn="l">
              <a:spcBef>
                <a:spcPts val="600"/>
              </a:spcBef>
              <a:spcAft>
                <a:spcPts val="800"/>
              </a:spcAft>
            </a:pPr>
            <a:r>
              <a:rPr sz="1600" b="1" i="0">
                <a:solidFill>
                  <a:srgbClr val="131B2E"/>
                </a:solidFill>
                <a:latin typeface="Space Grotesk"/>
              </a:rPr>
              <a:t>Le moat</a:t>
            </a:r>
          </a:p>
          <a:p>
            <a:pPr algn="l">
              <a:spcBef>
                <a:spcPts val="0"/>
              </a:spcBef>
              <a:spcAft>
                <a:spcPts val="400"/>
              </a:spcAft>
            </a:pPr>
            <a:r>
              <a:rPr sz="1250" b="0" i="0">
                <a:solidFill>
                  <a:srgbClr val="3D4947"/>
                </a:solidFill>
                <a:latin typeface="Inter"/>
              </a:rPr>
              <a:t>Un trio défendable que les concurrents commissionnés ne peuvent pas copier : Exit Escrow, Fiduciary Mode, Intelligence Network.</a:t>
            </a:r>
          </a:p>
        </p:txBody>
      </p:sp>
      <p:sp>
        <p:nvSpPr>
          <p:cNvPr id="12" name="Rectangle 11"/>
          <p:cNvSpPr/>
          <p:nvPr/>
        </p:nvSpPr>
        <p:spPr>
          <a:xfrm>
            <a:off x="6190488" y="3063240"/>
            <a:ext cx="2542032" cy="82296"/>
          </a:xfrm>
          <a:prstGeom prst="rect">
            <a:avLst/>
          </a:prstGeom>
          <a:solidFill>
            <a:srgbClr val="7D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897112" y="3063240"/>
            <a:ext cx="2542032" cy="2331720"/>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64592" tIns="146304" rIns="164592" bIns="128016" rtlCol="0" anchor="t"/>
          <a:lstStyle/>
          <a:p>
            <a:pPr algn="l">
              <a:spcBef>
                <a:spcPts val="600"/>
              </a:spcBef>
              <a:spcAft>
                <a:spcPts val="800"/>
              </a:spcAft>
            </a:pPr>
            <a:r>
              <a:rPr sz="1600" b="1" i="0">
                <a:solidFill>
                  <a:srgbClr val="131B2E"/>
                </a:solidFill>
                <a:latin typeface="Space Grotesk"/>
              </a:rPr>
              <a:t>Le modèle</a:t>
            </a:r>
          </a:p>
          <a:p>
            <a:pPr algn="l">
              <a:spcBef>
                <a:spcPts val="0"/>
              </a:spcBef>
              <a:spcAft>
                <a:spcPts val="400"/>
              </a:spcAft>
            </a:pPr>
            <a:r>
              <a:rPr sz="1250" b="0" i="0">
                <a:solidFill>
                  <a:srgbClr val="3D4947"/>
                </a:solidFill>
                <a:latin typeface="Inter"/>
              </a:rPr>
              <a:t>Recette ouverte (gratuite), cuisine payante. Le service a un prix ferme ; l'infra reste au coût fournisseur, zéro marge cachée.</a:t>
            </a:r>
          </a:p>
        </p:txBody>
      </p:sp>
      <p:sp>
        <p:nvSpPr>
          <p:cNvPr id="14" name="Rectangle 13"/>
          <p:cNvSpPr/>
          <p:nvPr/>
        </p:nvSpPr>
        <p:spPr>
          <a:xfrm>
            <a:off x="8897112" y="3063240"/>
            <a:ext cx="2542032" cy="82296"/>
          </a:xfrm>
          <a:prstGeom prst="rect">
            <a:avLst/>
          </a:prstGeom>
          <a:solidFill>
            <a:srgbClr val="006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6446520"/>
            <a:ext cx="10607040" cy="274320"/>
          </a:xfrm>
          <a:prstGeom prst="rect">
            <a:avLst/>
          </a:prstGeom>
          <a:noFill/>
        </p:spPr>
        <p:txBody>
          <a:bodyPr wrap="square" lIns="0" tIns="0" rIns="0" bIns="0" anchor="t">
            <a:spAutoFit/>
          </a:bodyPr>
          <a:lstStyle/>
          <a:p>
            <a:pPr algn="l"/>
            <a:r>
              <a:rPr sz="900" b="0" i="0">
                <a:solidFill>
                  <a:srgbClr val="BCC9C6"/>
                </a:solidFill>
                <a:latin typeface="JetBrains Mono"/>
              </a:rPr>
              <a:t>Strate · Business model</a:t>
            </a:r>
          </a:p>
        </p:txBody>
      </p:sp>
      <p:sp>
        <p:nvSpPr>
          <p:cNvPr id="16" name="TextBox 15"/>
          <p:cNvSpPr txBox="1"/>
          <p:nvPr/>
        </p:nvSpPr>
        <p:spPr>
          <a:xfrm>
            <a:off x="10789920" y="6446520"/>
            <a:ext cx="594360" cy="274320"/>
          </a:xfrm>
          <a:prstGeom prst="rect">
            <a:avLst/>
          </a:prstGeom>
          <a:noFill/>
        </p:spPr>
        <p:txBody>
          <a:bodyPr wrap="square" lIns="0" tIns="0" rIns="0" bIns="0" anchor="t">
            <a:spAutoFit/>
          </a:bodyPr>
          <a:lstStyle/>
          <a:p>
            <a:pPr algn="r"/>
            <a:r>
              <a:rPr sz="900" b="0" i="0">
                <a:solidFill>
                  <a:srgbClr val="BCC9C6"/>
                </a:solidFill>
                <a:latin typeface="JetBrains Mono"/>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8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006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02920"/>
            <a:ext cx="10607040" cy="320040"/>
          </a:xfrm>
          <a:prstGeom prst="rect">
            <a:avLst/>
          </a:prstGeom>
          <a:noFill/>
        </p:spPr>
        <p:txBody>
          <a:bodyPr wrap="square" lIns="0" tIns="0" rIns="0" bIns="0" anchor="t">
            <a:spAutoFit/>
          </a:bodyPr>
          <a:lstStyle/>
          <a:p>
            <a:pPr algn="l">
              <a:spcBef>
                <a:spcPts val="0"/>
              </a:spcBef>
              <a:spcAft>
                <a:spcPts val="600"/>
              </a:spcAft>
            </a:pPr>
            <a:r>
              <a:rPr sz="1250" b="1" i="0" spc="140">
                <a:solidFill>
                  <a:srgbClr val="00685F"/>
                </a:solidFill>
                <a:latin typeface="Inter"/>
              </a:rPr>
              <a:t>PROBLÈME &amp; JOBS-TO-BE-DONE</a:t>
            </a:r>
          </a:p>
        </p:txBody>
      </p:sp>
      <p:sp>
        <p:nvSpPr>
          <p:cNvPr id="4" name="TextBox 3"/>
          <p:cNvSpPr txBox="1"/>
          <p:nvPr/>
        </p:nvSpPr>
        <p:spPr>
          <a:xfrm>
            <a:off x="777240" y="841248"/>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31B2E"/>
                </a:solidFill>
                <a:latin typeface="Space Grotesk"/>
              </a:rPr>
              <a:t>On vend un résultat souverain, pas une stack</a:t>
            </a:r>
          </a:p>
        </p:txBody>
      </p:sp>
      <p:sp>
        <p:nvSpPr>
          <p:cNvPr id="5" name="Rectangle 4"/>
          <p:cNvSpPr/>
          <p:nvPr/>
        </p:nvSpPr>
        <p:spPr>
          <a:xfrm>
            <a:off x="777240" y="1627632"/>
            <a:ext cx="10607040" cy="17780"/>
          </a:xfrm>
          <a:prstGeom prst="rect">
            <a:avLst/>
          </a:prstGeom>
          <a:solidFill>
            <a:srgbClr val="BCC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874519"/>
            <a:ext cx="5532120" cy="4206240"/>
          </a:xfrm>
          <a:prstGeom prst="rect">
            <a:avLst/>
          </a:prstGeom>
          <a:noFill/>
        </p:spPr>
        <p:txBody>
          <a:bodyPr wrap="square" lIns="0" tIns="0" rIns="0" bIns="0" anchor="t">
            <a:spAutoFit/>
          </a:bodyPr>
          <a:lstStyle/>
          <a:p>
            <a:pPr algn="l">
              <a:spcBef>
                <a:spcPts val="0"/>
              </a:spcBef>
              <a:spcAft>
                <a:spcPts val="1000"/>
              </a:spcAft>
            </a:pPr>
            <a:r>
              <a:rPr sz="1600" b="1" i="0">
                <a:solidFill>
                  <a:srgbClr val="131B2E"/>
                </a:solidFill>
                <a:latin typeface="Space Grotesk"/>
              </a:rPr>
              <a:t>Les 4 jobs du dirigeant</a:t>
            </a:r>
          </a:p>
          <a:p>
            <a:pPr>
              <a:lnSpc>
                <a:spcPct val="108000"/>
              </a:lnSpc>
              <a:spcAft>
                <a:spcPts val="1200"/>
              </a:spcAft>
            </a:pPr>
            <a:r>
              <a:rPr sz="1500" b="1" i="0">
                <a:solidFill>
                  <a:srgbClr val="00685F"/>
                </a:solidFill>
                <a:latin typeface="Inter"/>
              </a:rPr>
              <a:t>—  </a:t>
            </a:r>
            <a:r>
              <a:rPr sz="1500" b="0" i="0">
                <a:solidFill>
                  <a:srgbClr val="3D4947"/>
                </a:solidFill>
                <a:latin typeface="Inter"/>
              </a:rPr>
              <a:t>Ne plus perdre la connaissance critique quand un sachant part.</a:t>
            </a:r>
          </a:p>
          <a:p>
            <a:pPr>
              <a:lnSpc>
                <a:spcPct val="108000"/>
              </a:lnSpc>
              <a:spcAft>
                <a:spcPts val="1200"/>
              </a:spcAft>
            </a:pPr>
            <a:r>
              <a:rPr sz="1500" b="1" i="0">
                <a:solidFill>
                  <a:srgbClr val="00685F"/>
                </a:solidFill>
                <a:latin typeface="Inter"/>
              </a:rPr>
              <a:t>—  </a:t>
            </a:r>
            <a:r>
              <a:rPr sz="1500" b="0" i="0">
                <a:solidFill>
                  <a:srgbClr val="3D4947"/>
                </a:solidFill>
                <a:latin typeface="Inter"/>
              </a:rPr>
              <a:t>Que mon IA réponde avec MA doctrine, pas la moyenne du web.</a:t>
            </a:r>
          </a:p>
          <a:p>
            <a:pPr>
              <a:lnSpc>
                <a:spcPct val="108000"/>
              </a:lnSpc>
              <a:spcAft>
                <a:spcPts val="1200"/>
              </a:spcAft>
            </a:pPr>
            <a:r>
              <a:rPr sz="1500" b="1" i="0">
                <a:solidFill>
                  <a:srgbClr val="00685F"/>
                </a:solidFill>
                <a:latin typeface="Inter"/>
              </a:rPr>
              <a:t>—  </a:t>
            </a:r>
            <a:r>
              <a:rPr sz="1500" b="0" i="0">
                <a:solidFill>
                  <a:srgbClr val="3D4947"/>
                </a:solidFill>
                <a:latin typeface="Inter"/>
              </a:rPr>
              <a:t>Garder la souveraineté sans payer un projet à 200 k€.</a:t>
            </a:r>
          </a:p>
          <a:p>
            <a:pPr>
              <a:lnSpc>
                <a:spcPct val="108000"/>
              </a:lnSpc>
              <a:spcAft>
                <a:spcPts val="1200"/>
              </a:spcAft>
            </a:pPr>
            <a:r>
              <a:rPr sz="1500" b="1" i="0">
                <a:solidFill>
                  <a:srgbClr val="00685F"/>
                </a:solidFill>
                <a:latin typeface="Inter"/>
              </a:rPr>
              <a:t>—  </a:t>
            </a:r>
            <a:r>
              <a:rPr sz="1500" b="0" i="0">
                <a:solidFill>
                  <a:srgbClr val="3D4947"/>
                </a:solidFill>
                <a:latin typeface="Inter"/>
              </a:rPr>
              <a:t>Choisir la bonne infra sans être expert — et pouvoir partir quand je veux.</a:t>
            </a:r>
          </a:p>
        </p:txBody>
      </p:sp>
      <p:sp>
        <p:nvSpPr>
          <p:cNvPr id="7" name="Rounded Rectangle 6"/>
          <p:cNvSpPr/>
          <p:nvPr/>
        </p:nvSpPr>
        <p:spPr>
          <a:xfrm>
            <a:off x="6537960" y="1874519"/>
            <a:ext cx="4846320" cy="4160520"/>
          </a:xfrm>
          <a:prstGeom prst="roundRect">
            <a:avLst>
              <a:gd name="adj" fmla="val 6000"/>
            </a:avLst>
          </a:prstGeom>
          <a:solidFill>
            <a:srgbClr val="F2F3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64592" tIns="146304" rIns="164592" bIns="128016" rtlCol="0" anchor="t"/>
          <a:lstStyle/>
          <a:p>
            <a:pPr algn="l">
              <a:spcBef>
                <a:spcPts val="200"/>
              </a:spcBef>
              <a:spcAft>
                <a:spcPts val="900"/>
              </a:spcAft>
            </a:pPr>
            <a:r>
              <a:rPr sz="1600" b="1" i="0">
                <a:solidFill>
                  <a:srgbClr val="00685F"/>
                </a:solidFill>
                <a:latin typeface="Space Grotesk"/>
              </a:rPr>
              <a:t>Pourquoi maintenant</a:t>
            </a:r>
          </a:p>
          <a:p>
            <a:pPr algn="l">
              <a:spcBef>
                <a:spcPts val="0"/>
              </a:spcBef>
              <a:spcAft>
                <a:spcPts val="700"/>
              </a:spcAft>
            </a:pPr>
            <a:r>
              <a:rPr sz="1300" b="0" i="0">
                <a:solidFill>
                  <a:srgbClr val="3D4947"/>
                </a:solidFill>
                <a:latin typeface="Inter"/>
              </a:rPr>
              <a:t>Souveraineté IA : exigence montante (UE, secteur public, régulés).</a:t>
            </a:r>
          </a:p>
          <a:p>
            <a:pPr algn="l">
              <a:spcBef>
                <a:spcPts val="0"/>
              </a:spcBef>
              <a:spcAft>
                <a:spcPts val="700"/>
              </a:spcAft>
            </a:pPr>
            <a:r>
              <a:rPr sz="1300" b="0" i="0">
                <a:solidFill>
                  <a:srgbClr val="3D4947"/>
                </a:solidFill>
                <a:latin typeface="Inter"/>
              </a:rPr>
              <a:t>RGPD + CNDP (Maroc) : la donnée ne peut plus dormir chez un tiers US sans base légale.</a:t>
            </a:r>
          </a:p>
          <a:p>
            <a:pPr algn="l">
              <a:spcBef>
                <a:spcPts val="0"/>
              </a:spcBef>
              <a:spcAft>
                <a:spcPts val="700"/>
              </a:spcAft>
            </a:pPr>
            <a:r>
              <a:rPr sz="1300" b="0" i="0">
                <a:solidFill>
                  <a:srgbClr val="3D4947"/>
                </a:solidFill>
                <a:latin typeface="Inter"/>
              </a:rPr>
              <a:t>Vendor lock-in : la douleur n°1 que personne ne certifie résoudre.</a:t>
            </a:r>
          </a:p>
          <a:p>
            <a:pPr algn="l">
              <a:spcBef>
                <a:spcPts val="0"/>
              </a:spcBef>
              <a:spcAft>
                <a:spcPts val="700"/>
              </a:spcAft>
            </a:pPr>
            <a:r>
              <a:rPr sz="1300" b="0" i="0">
                <a:solidFill>
                  <a:srgbClr val="3D4947"/>
                </a:solidFill>
                <a:latin typeface="Inter"/>
              </a:rPr>
              <a:t>Coûts cloud / IA opaques : besoin d'un chiffrage honnête, sourcé, projetable.</a:t>
            </a:r>
          </a:p>
          <a:p>
            <a:pPr algn="l">
              <a:spcBef>
                <a:spcPts val="0"/>
              </a:spcBef>
              <a:spcAft>
                <a:spcPts val="400"/>
              </a:spcAft>
            </a:pPr>
            <a:r>
              <a:rPr sz="1300" b="0" i="0">
                <a:solidFill>
                  <a:srgbClr val="3D4947"/>
                </a:solidFill>
                <a:latin typeface="Inter"/>
              </a:rPr>
              <a:t>Maturité technique : LLM ouverts, embeddings self-host, RAG → une base souveraine est enfin faisable hors GAFAM.</a:t>
            </a:r>
          </a:p>
        </p:txBody>
      </p:sp>
      <p:sp>
        <p:nvSpPr>
          <p:cNvPr id="8" name="TextBox 7"/>
          <p:cNvSpPr txBox="1"/>
          <p:nvPr/>
        </p:nvSpPr>
        <p:spPr>
          <a:xfrm>
            <a:off x="777240" y="6446520"/>
            <a:ext cx="10607040" cy="274320"/>
          </a:xfrm>
          <a:prstGeom prst="rect">
            <a:avLst/>
          </a:prstGeom>
          <a:noFill/>
        </p:spPr>
        <p:txBody>
          <a:bodyPr wrap="square" lIns="0" tIns="0" rIns="0" bIns="0" anchor="t">
            <a:spAutoFit/>
          </a:bodyPr>
          <a:lstStyle/>
          <a:p>
            <a:pPr algn="l"/>
            <a:r>
              <a:rPr sz="900" b="0" i="0">
                <a:solidFill>
                  <a:srgbClr val="BCC9C6"/>
                </a:solidFill>
                <a:latin typeface="JetBrains Mono"/>
              </a:rPr>
              <a:t>Strate · Business model</a:t>
            </a:r>
          </a:p>
        </p:txBody>
      </p:sp>
      <p:sp>
        <p:nvSpPr>
          <p:cNvPr id="9" name="TextBox 8"/>
          <p:cNvSpPr txBox="1"/>
          <p:nvPr/>
        </p:nvSpPr>
        <p:spPr>
          <a:xfrm>
            <a:off x="10789920" y="6446520"/>
            <a:ext cx="594360" cy="274320"/>
          </a:xfrm>
          <a:prstGeom prst="rect">
            <a:avLst/>
          </a:prstGeom>
          <a:noFill/>
        </p:spPr>
        <p:txBody>
          <a:bodyPr wrap="square" lIns="0" tIns="0" rIns="0" bIns="0" anchor="t">
            <a:spAutoFit/>
          </a:bodyPr>
          <a:lstStyle/>
          <a:p>
            <a:pPr algn="r"/>
            <a:r>
              <a:rPr sz="900" b="0" i="0">
                <a:solidFill>
                  <a:srgbClr val="BCC9C6"/>
                </a:solidFill>
                <a:latin typeface="JetBrains Mono"/>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8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005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02920"/>
            <a:ext cx="10607040" cy="320040"/>
          </a:xfrm>
          <a:prstGeom prst="rect">
            <a:avLst/>
          </a:prstGeom>
          <a:noFill/>
        </p:spPr>
        <p:txBody>
          <a:bodyPr wrap="square" lIns="0" tIns="0" rIns="0" bIns="0" anchor="t">
            <a:spAutoFit/>
          </a:bodyPr>
          <a:lstStyle/>
          <a:p>
            <a:pPr algn="l">
              <a:spcBef>
                <a:spcPts val="0"/>
              </a:spcBef>
              <a:spcAft>
                <a:spcPts val="600"/>
              </a:spcAft>
            </a:pPr>
            <a:r>
              <a:rPr sz="1250" b="1" i="0" spc="140">
                <a:solidFill>
                  <a:srgbClr val="0051D5"/>
                </a:solidFill>
                <a:latin typeface="Inter"/>
              </a:rPr>
              <a:t>PRODUCT-MARKET FIT · 1/3</a:t>
            </a:r>
          </a:p>
        </p:txBody>
      </p:sp>
      <p:sp>
        <p:nvSpPr>
          <p:cNvPr id="4" name="TextBox 3"/>
          <p:cNvSpPr txBox="1"/>
          <p:nvPr/>
        </p:nvSpPr>
        <p:spPr>
          <a:xfrm>
            <a:off x="777240" y="841248"/>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31B2E"/>
                </a:solidFill>
                <a:latin typeface="Space Grotesk"/>
              </a:rPr>
              <a:t>À qui on vend d'abord — et à qui pas encore</a:t>
            </a:r>
          </a:p>
        </p:txBody>
      </p:sp>
      <p:sp>
        <p:nvSpPr>
          <p:cNvPr id="5" name="Rectangle 4"/>
          <p:cNvSpPr/>
          <p:nvPr/>
        </p:nvSpPr>
        <p:spPr>
          <a:xfrm>
            <a:off x="777240" y="1627632"/>
            <a:ext cx="10607040" cy="17780"/>
          </a:xfrm>
          <a:prstGeom prst="rect">
            <a:avLst/>
          </a:prstGeom>
          <a:solidFill>
            <a:srgbClr val="BCC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77240" y="1828800"/>
            <a:ext cx="10607040" cy="768096"/>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201168" rtlCol="0" anchor="ctr"/>
          <a:lstStyle/>
          <a:p>
            <a:pPr algn="ctr"/>
            <a:r>
              <a:rPr sz="1500" b="1" i="0">
                <a:solidFill>
                  <a:srgbClr val="131B2E"/>
                </a:solidFill>
                <a:latin typeface="Space Grotesk"/>
              </a:rPr>
              <a:t>P1 — Bâtisseur souverain   </a:t>
            </a:r>
            <a:r>
              <a:rPr sz="1250" b="0" i="0">
                <a:solidFill>
                  <a:srgbClr val="3D4947"/>
                </a:solidFill>
                <a:latin typeface="Inter"/>
              </a:rPr>
              <a:t>Coach / freelance / consultant FR Maroc-UE, technophile, veut sa base revendable.</a:t>
            </a:r>
          </a:p>
        </p:txBody>
      </p:sp>
      <p:sp>
        <p:nvSpPr>
          <p:cNvPr id="7" name="Rectangle 6"/>
          <p:cNvSpPr/>
          <p:nvPr/>
        </p:nvSpPr>
        <p:spPr>
          <a:xfrm>
            <a:off x="777240" y="1828800"/>
            <a:ext cx="73152" cy="768096"/>
          </a:xfrm>
          <a:prstGeom prst="rect">
            <a:avLst/>
          </a:prstGeom>
          <a:solidFill>
            <a:srgbClr val="006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098280" y="1828800"/>
            <a:ext cx="2148840" cy="768096"/>
          </a:xfrm>
          <a:prstGeom prst="rect">
            <a:avLst/>
          </a:prstGeom>
          <a:noFill/>
        </p:spPr>
        <p:txBody>
          <a:bodyPr wrap="square" lIns="0" tIns="0" rIns="0" bIns="0" anchor="ctr">
            <a:spAutoFit/>
          </a:bodyPr>
          <a:lstStyle/>
          <a:p>
            <a:pPr algn="r"/>
            <a:r>
              <a:rPr sz="1150" b="1" i="0">
                <a:solidFill>
                  <a:srgbClr val="00685F"/>
                </a:solidFill>
                <a:latin typeface="Inter"/>
              </a:rPr>
              <a:t>CŒUR</a:t>
            </a:r>
          </a:p>
        </p:txBody>
      </p:sp>
      <p:sp>
        <p:nvSpPr>
          <p:cNvPr id="9" name="Rounded Rectangle 8"/>
          <p:cNvSpPr/>
          <p:nvPr/>
        </p:nvSpPr>
        <p:spPr>
          <a:xfrm>
            <a:off x="777240" y="2706624"/>
            <a:ext cx="10607040" cy="768096"/>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201168" rtlCol="0" anchor="ctr"/>
          <a:lstStyle/>
          <a:p>
            <a:pPr algn="ctr"/>
            <a:r>
              <a:rPr sz="1500" b="1" i="0">
                <a:solidFill>
                  <a:srgbClr val="131B2E"/>
                </a:solidFill>
                <a:latin typeface="Space Grotesk"/>
              </a:rPr>
              <a:t>P2 — PME / startup tech   </a:t>
            </a:r>
            <a:r>
              <a:rPr sz="1250" b="0" i="0">
                <a:solidFill>
                  <a:srgbClr val="3D4947"/>
                </a:solidFill>
                <a:latin typeface="Inter"/>
              </a:rPr>
              <a:t>Équipe 5-10, profil MEDIUM, cycle court, à l'aise avec ADR/specs/code.</a:t>
            </a:r>
          </a:p>
        </p:txBody>
      </p:sp>
      <p:sp>
        <p:nvSpPr>
          <p:cNvPr id="10" name="Rectangle 9"/>
          <p:cNvSpPr/>
          <p:nvPr/>
        </p:nvSpPr>
        <p:spPr>
          <a:xfrm>
            <a:off x="777240" y="2706624"/>
            <a:ext cx="73152" cy="768096"/>
          </a:xfrm>
          <a:prstGeom prst="rect">
            <a:avLst/>
          </a:prstGeom>
          <a:solidFill>
            <a:srgbClr val="005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98280" y="2706624"/>
            <a:ext cx="2148840" cy="768096"/>
          </a:xfrm>
          <a:prstGeom prst="rect">
            <a:avLst/>
          </a:prstGeom>
          <a:noFill/>
        </p:spPr>
        <p:txBody>
          <a:bodyPr wrap="square" lIns="0" tIns="0" rIns="0" bIns="0" anchor="ctr">
            <a:spAutoFit/>
          </a:bodyPr>
          <a:lstStyle/>
          <a:p>
            <a:pPr algn="r"/>
            <a:r>
              <a:rPr sz="1150" b="1" i="0">
                <a:solidFill>
                  <a:srgbClr val="0051D5"/>
                </a:solidFill>
                <a:latin typeface="Inter"/>
              </a:rPr>
              <a:t>SECONDAIRE</a:t>
            </a:r>
          </a:p>
        </p:txBody>
      </p:sp>
      <p:sp>
        <p:nvSpPr>
          <p:cNvPr id="12" name="Rounded Rectangle 11"/>
          <p:cNvSpPr/>
          <p:nvPr/>
        </p:nvSpPr>
        <p:spPr>
          <a:xfrm>
            <a:off x="777240" y="3584448"/>
            <a:ext cx="10607040" cy="768096"/>
          </a:xfrm>
          <a:prstGeom prst="roundRect">
            <a:avLst>
              <a:gd name="adj" fmla="val 6000"/>
            </a:avLst>
          </a:prstGeom>
          <a:solidFill>
            <a:srgbClr val="F2F3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201168" rtlCol="0" anchor="ctr"/>
          <a:lstStyle/>
          <a:p>
            <a:pPr algn="ctr"/>
            <a:r>
              <a:rPr sz="1500" b="1" i="0">
                <a:solidFill>
                  <a:srgbClr val="131B2E"/>
                </a:solidFill>
                <a:latin typeface="Space Grotesk"/>
              </a:rPr>
              <a:t>P3 — Agence / programme   </a:t>
            </a:r>
            <a:r>
              <a:rPr sz="1250" b="0" i="0">
                <a:solidFill>
                  <a:srgbClr val="3D4947"/>
                </a:solidFill>
                <a:latin typeface="Inter"/>
              </a:rPr>
              <a:t>80+ accompagnés, multi-voix, volume + multi-tenancy.</a:t>
            </a:r>
          </a:p>
        </p:txBody>
      </p:sp>
      <p:sp>
        <p:nvSpPr>
          <p:cNvPr id="13" name="Rectangle 12"/>
          <p:cNvSpPr/>
          <p:nvPr/>
        </p:nvSpPr>
        <p:spPr>
          <a:xfrm>
            <a:off x="777240" y="3584448"/>
            <a:ext cx="73152" cy="768096"/>
          </a:xfrm>
          <a:prstGeom prst="rect">
            <a:avLst/>
          </a:prstGeom>
          <a:solidFill>
            <a:srgbClr val="7D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098280" y="3584448"/>
            <a:ext cx="2148840" cy="768096"/>
          </a:xfrm>
          <a:prstGeom prst="rect">
            <a:avLst/>
          </a:prstGeom>
          <a:noFill/>
        </p:spPr>
        <p:txBody>
          <a:bodyPr wrap="square" lIns="0" tIns="0" rIns="0" bIns="0" anchor="ctr">
            <a:spAutoFit/>
          </a:bodyPr>
          <a:lstStyle/>
          <a:p>
            <a:pPr algn="r"/>
            <a:r>
              <a:rPr sz="1150" b="1" i="0">
                <a:solidFill>
                  <a:srgbClr val="7D5400"/>
                </a:solidFill>
                <a:latin typeface="Inter"/>
              </a:rPr>
              <a:t>LOT ULTÉRIEUR</a:t>
            </a:r>
          </a:p>
        </p:txBody>
      </p:sp>
      <p:sp>
        <p:nvSpPr>
          <p:cNvPr id="15" name="Rounded Rectangle 14"/>
          <p:cNvSpPr/>
          <p:nvPr/>
        </p:nvSpPr>
        <p:spPr>
          <a:xfrm>
            <a:off x="777240" y="4462272"/>
            <a:ext cx="10607040" cy="768096"/>
          </a:xfrm>
          <a:prstGeom prst="roundRect">
            <a:avLst>
              <a:gd name="adj" fmla="val 6000"/>
            </a:avLst>
          </a:prstGeom>
          <a:solidFill>
            <a:srgbClr val="F2F3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201168" rtlCol="0" anchor="ctr"/>
          <a:lstStyle/>
          <a:p>
            <a:pPr algn="ctr"/>
            <a:r>
              <a:rPr sz="1500" b="1" i="0">
                <a:solidFill>
                  <a:srgbClr val="131B2E"/>
                </a:solidFill>
                <a:latin typeface="Space Grotesk"/>
              </a:rPr>
              <a:t>P4 — Cabinet régulé   </a:t>
            </a:r>
            <a:r>
              <a:rPr sz="1250" b="0" i="0">
                <a:solidFill>
                  <a:srgbClr val="3D4947"/>
                </a:solidFill>
                <a:latin typeface="Inter"/>
              </a:rPr>
              <a:t>Avocat / CGP / santé, secret pro, preset HARD, premium mais cycle long.</a:t>
            </a:r>
          </a:p>
        </p:txBody>
      </p:sp>
      <p:sp>
        <p:nvSpPr>
          <p:cNvPr id="16" name="Rectangle 15"/>
          <p:cNvSpPr/>
          <p:nvPr/>
        </p:nvSpPr>
        <p:spPr>
          <a:xfrm>
            <a:off x="777240" y="4462272"/>
            <a:ext cx="73152" cy="768096"/>
          </a:xfrm>
          <a:prstGeom prst="rect">
            <a:avLst/>
          </a:prstGeom>
          <a:solidFill>
            <a:srgbClr val="7D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098280" y="4462272"/>
            <a:ext cx="2148840" cy="768096"/>
          </a:xfrm>
          <a:prstGeom prst="rect">
            <a:avLst/>
          </a:prstGeom>
          <a:noFill/>
        </p:spPr>
        <p:txBody>
          <a:bodyPr wrap="square" lIns="0" tIns="0" rIns="0" bIns="0" anchor="ctr">
            <a:spAutoFit/>
          </a:bodyPr>
          <a:lstStyle/>
          <a:p>
            <a:pPr algn="r"/>
            <a:r>
              <a:rPr sz="1150" b="1" i="0">
                <a:solidFill>
                  <a:srgbClr val="7D5400"/>
                </a:solidFill>
                <a:latin typeface="Inter"/>
              </a:rPr>
              <a:t>LOT ULTÉRIEUR</a:t>
            </a:r>
          </a:p>
        </p:txBody>
      </p:sp>
      <p:sp>
        <p:nvSpPr>
          <p:cNvPr id="18" name="Rounded Rectangle 17"/>
          <p:cNvSpPr/>
          <p:nvPr/>
        </p:nvSpPr>
        <p:spPr>
          <a:xfrm>
            <a:off x="777240" y="5340096"/>
            <a:ext cx="10607040" cy="768096"/>
          </a:xfrm>
          <a:prstGeom prst="roundRect">
            <a:avLst>
              <a:gd name="adj" fmla="val 6000"/>
            </a:avLst>
          </a:prstGeom>
          <a:solidFill>
            <a:srgbClr val="F2F3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201168" rtlCol="0" anchor="ctr"/>
          <a:lstStyle/>
          <a:p>
            <a:pPr algn="ctr"/>
            <a:r>
              <a:rPr sz="1500" b="1" i="0">
                <a:solidFill>
                  <a:srgbClr val="131B2E"/>
                </a:solidFill>
                <a:latin typeface="Space Grotesk"/>
              </a:rPr>
              <a:t>P5 — ETI / grand groupe   </a:t>
            </a:r>
            <a:r>
              <a:rPr sz="1250" b="0" i="0">
                <a:solidFill>
                  <a:srgbClr val="3D4947"/>
                </a:solidFill>
                <a:latin typeface="Inter"/>
              </a:rPr>
              <a:t>Appel d'offres, DPA, SecNumCloud — incompatible self-service.</a:t>
            </a:r>
          </a:p>
        </p:txBody>
      </p:sp>
      <p:sp>
        <p:nvSpPr>
          <p:cNvPr id="19" name="Rectangle 18"/>
          <p:cNvSpPr/>
          <p:nvPr/>
        </p:nvSpPr>
        <p:spPr>
          <a:xfrm>
            <a:off x="777240" y="5340096"/>
            <a:ext cx="73152" cy="768096"/>
          </a:xfrm>
          <a:prstGeom prst="rect">
            <a:avLst/>
          </a:prstGeom>
          <a:solidFill>
            <a:srgbClr val="B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098280" y="5340096"/>
            <a:ext cx="2148840" cy="768096"/>
          </a:xfrm>
          <a:prstGeom prst="rect">
            <a:avLst/>
          </a:prstGeom>
          <a:noFill/>
        </p:spPr>
        <p:txBody>
          <a:bodyPr wrap="square" lIns="0" tIns="0" rIns="0" bIns="0" anchor="ctr">
            <a:spAutoFit/>
          </a:bodyPr>
          <a:lstStyle/>
          <a:p>
            <a:pPr algn="r"/>
            <a:r>
              <a:rPr sz="1150" b="1" i="0">
                <a:solidFill>
                  <a:srgbClr val="BA1A1A"/>
                </a:solidFill>
                <a:latin typeface="Inter"/>
              </a:rPr>
              <a:t>HORS PÉRIMÈTRE</a:t>
            </a:r>
          </a:p>
        </p:txBody>
      </p:sp>
      <p:sp>
        <p:nvSpPr>
          <p:cNvPr id="21" name="TextBox 20"/>
          <p:cNvSpPr txBox="1"/>
          <p:nvPr/>
        </p:nvSpPr>
        <p:spPr>
          <a:xfrm>
            <a:off x="777240" y="6446520"/>
            <a:ext cx="10607040" cy="274320"/>
          </a:xfrm>
          <a:prstGeom prst="rect">
            <a:avLst/>
          </a:prstGeom>
          <a:noFill/>
        </p:spPr>
        <p:txBody>
          <a:bodyPr wrap="square" lIns="0" tIns="0" rIns="0" bIns="0" anchor="t">
            <a:spAutoFit/>
          </a:bodyPr>
          <a:lstStyle/>
          <a:p>
            <a:pPr algn="l"/>
            <a:r>
              <a:rPr sz="900" b="0" i="0">
                <a:solidFill>
                  <a:srgbClr val="BCC9C6"/>
                </a:solidFill>
                <a:latin typeface="JetBrains Mono"/>
              </a:rPr>
              <a:t>Strate · Business model</a:t>
            </a:r>
          </a:p>
        </p:txBody>
      </p:sp>
      <p:sp>
        <p:nvSpPr>
          <p:cNvPr id="22" name="TextBox 21"/>
          <p:cNvSpPr txBox="1"/>
          <p:nvPr/>
        </p:nvSpPr>
        <p:spPr>
          <a:xfrm>
            <a:off x="10789920" y="6446520"/>
            <a:ext cx="594360" cy="274320"/>
          </a:xfrm>
          <a:prstGeom prst="rect">
            <a:avLst/>
          </a:prstGeom>
          <a:noFill/>
        </p:spPr>
        <p:txBody>
          <a:bodyPr wrap="square" lIns="0" tIns="0" rIns="0" bIns="0" anchor="t">
            <a:spAutoFit/>
          </a:bodyPr>
          <a:lstStyle/>
          <a:p>
            <a:pPr algn="r"/>
            <a:r>
              <a:rPr sz="900" b="0" i="0">
                <a:solidFill>
                  <a:srgbClr val="BCC9C6"/>
                </a:solidFill>
                <a:latin typeface="JetBrains Mono"/>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8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005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02920"/>
            <a:ext cx="10607040" cy="320040"/>
          </a:xfrm>
          <a:prstGeom prst="rect">
            <a:avLst/>
          </a:prstGeom>
          <a:noFill/>
        </p:spPr>
        <p:txBody>
          <a:bodyPr wrap="square" lIns="0" tIns="0" rIns="0" bIns="0" anchor="t">
            <a:spAutoFit/>
          </a:bodyPr>
          <a:lstStyle/>
          <a:p>
            <a:pPr algn="l">
              <a:spcBef>
                <a:spcPts val="0"/>
              </a:spcBef>
              <a:spcAft>
                <a:spcPts val="600"/>
              </a:spcAft>
            </a:pPr>
            <a:r>
              <a:rPr sz="1250" b="1" i="0" spc="140">
                <a:solidFill>
                  <a:srgbClr val="0051D5"/>
                </a:solidFill>
                <a:latin typeface="Inter"/>
              </a:rPr>
              <a:t>PRODUCT-MARKET FIT · 2/3</a:t>
            </a:r>
          </a:p>
        </p:txBody>
      </p:sp>
      <p:sp>
        <p:nvSpPr>
          <p:cNvPr id="4" name="TextBox 3"/>
          <p:cNvSpPr txBox="1"/>
          <p:nvPr/>
        </p:nvSpPr>
        <p:spPr>
          <a:xfrm>
            <a:off x="777240" y="841248"/>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31B2E"/>
                </a:solidFill>
                <a:latin typeface="Space Grotesk"/>
              </a:rPr>
              <a:t>Value proposition : douleurs ↔ remèdes</a:t>
            </a:r>
          </a:p>
        </p:txBody>
      </p:sp>
      <p:sp>
        <p:nvSpPr>
          <p:cNvPr id="5" name="Rectangle 4"/>
          <p:cNvSpPr/>
          <p:nvPr/>
        </p:nvSpPr>
        <p:spPr>
          <a:xfrm>
            <a:off x="777240" y="1627632"/>
            <a:ext cx="10607040" cy="17780"/>
          </a:xfrm>
          <a:prstGeom prst="rect">
            <a:avLst/>
          </a:prstGeom>
          <a:solidFill>
            <a:srgbClr val="BCC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77240" y="1828800"/>
            <a:ext cx="5212080" cy="4206240"/>
          </a:xfrm>
          <a:prstGeom prst="roundRect">
            <a:avLst>
              <a:gd name="adj" fmla="val 6000"/>
            </a:avLst>
          </a:prstGeom>
          <a:solidFill>
            <a:srgbClr val="F2F3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64592" tIns="146304" rIns="164592" bIns="128016" rtlCol="0" anchor="t"/>
          <a:lstStyle/>
          <a:p>
            <a:pPr algn="l">
              <a:spcBef>
                <a:spcPts val="200"/>
              </a:spcBef>
              <a:spcAft>
                <a:spcPts val="1000"/>
              </a:spcAft>
            </a:pPr>
            <a:r>
              <a:rPr sz="1600" b="1" i="0">
                <a:solidFill>
                  <a:srgbClr val="BA1A1A"/>
                </a:solidFill>
                <a:latin typeface="Space Grotesk"/>
              </a:rPr>
              <a:t>Douleurs du client</a:t>
            </a:r>
          </a:p>
          <a:p>
            <a:pPr algn="l">
              <a:spcBef>
                <a:spcPts val="0"/>
              </a:spcBef>
              <a:spcAft>
                <a:spcPts val="800"/>
              </a:spcAft>
            </a:pPr>
            <a:r>
              <a:rPr sz="1300" b="0" i="0">
                <a:solidFill>
                  <a:srgbClr val="3D4947"/>
                </a:solidFill>
                <a:latin typeface="Inter"/>
              </a:rPr>
              <a:t>Peur de se faire capturer (lock-in irréversible).</a:t>
            </a:r>
          </a:p>
          <a:p>
            <a:pPr algn="l">
              <a:spcBef>
                <a:spcPts val="0"/>
              </a:spcBef>
              <a:spcAft>
                <a:spcPts val="800"/>
              </a:spcAft>
            </a:pPr>
            <a:r>
              <a:rPr sz="1300" b="0" i="0">
                <a:solidFill>
                  <a:srgbClr val="3D4947"/>
                </a:solidFill>
                <a:latin typeface="Inter"/>
              </a:rPr>
              <a:t>Données critiques chez un tiers US, hors conformité.</a:t>
            </a:r>
          </a:p>
          <a:p>
            <a:pPr algn="l">
              <a:spcBef>
                <a:spcPts val="0"/>
              </a:spcBef>
              <a:spcAft>
                <a:spcPts val="800"/>
              </a:spcAft>
            </a:pPr>
            <a:r>
              <a:rPr sz="1300" b="0" i="0">
                <a:solidFill>
                  <a:srgbClr val="3D4947"/>
                </a:solidFill>
                <a:latin typeface="Inter"/>
              </a:rPr>
              <a:t>Coût d'infra opaque, factures qui dérivent.</a:t>
            </a:r>
          </a:p>
          <a:p>
            <a:pPr algn="l">
              <a:spcBef>
                <a:spcPts val="0"/>
              </a:spcBef>
              <a:spcAft>
                <a:spcPts val="800"/>
              </a:spcAft>
            </a:pPr>
            <a:r>
              <a:rPr sz="1300" b="0" i="0">
                <a:solidFill>
                  <a:srgbClr val="3D4947"/>
                </a:solidFill>
                <a:latin typeface="Inter"/>
              </a:rPr>
              <a:t>Pas l'expertise pour arbitrer 7 couches techniques.</a:t>
            </a:r>
          </a:p>
          <a:p>
            <a:pPr algn="l">
              <a:spcBef>
                <a:spcPts val="0"/>
              </a:spcBef>
              <a:spcAft>
                <a:spcPts val="400"/>
              </a:spcAft>
            </a:pPr>
            <a:r>
              <a:rPr sz="1300" b="0" i="0">
                <a:solidFill>
                  <a:srgbClr val="3D4947"/>
                </a:solidFill>
                <a:latin typeface="Inter"/>
              </a:rPr>
              <a:t>Conseil suspecté d'être commissionné par les vendors.</a:t>
            </a:r>
          </a:p>
        </p:txBody>
      </p:sp>
      <p:sp>
        <p:nvSpPr>
          <p:cNvPr id="7" name="Rounded Rectangle 6"/>
          <p:cNvSpPr/>
          <p:nvPr/>
        </p:nvSpPr>
        <p:spPr>
          <a:xfrm>
            <a:off x="6172200" y="1828800"/>
            <a:ext cx="5212080" cy="4206240"/>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64592" tIns="146304" rIns="164592" bIns="128016" rtlCol="0" anchor="t"/>
          <a:lstStyle/>
          <a:p>
            <a:pPr algn="l">
              <a:spcBef>
                <a:spcPts val="200"/>
              </a:spcBef>
              <a:spcAft>
                <a:spcPts val="1000"/>
              </a:spcAft>
            </a:pPr>
            <a:r>
              <a:rPr sz="1600" b="1" i="0">
                <a:solidFill>
                  <a:srgbClr val="00685F"/>
                </a:solidFill>
                <a:latin typeface="Space Grotesk"/>
              </a:rPr>
              <a:t>Remèdes Strate</a:t>
            </a:r>
          </a:p>
          <a:p>
            <a:pPr algn="l">
              <a:spcBef>
                <a:spcPts val="0"/>
              </a:spcBef>
              <a:spcAft>
                <a:spcPts val="800"/>
              </a:spcAft>
            </a:pPr>
            <a:r>
              <a:rPr sz="1300" b="0" i="0">
                <a:solidFill>
                  <a:srgbClr val="3D4947"/>
                </a:solidFill>
                <a:latin typeface="Inter"/>
              </a:rPr>
              <a:t>Exit Escrow : bundle reproductible, sortie en 1 clic.</a:t>
            </a:r>
          </a:p>
          <a:p>
            <a:pPr algn="l">
              <a:spcBef>
                <a:spcPts val="0"/>
              </a:spcBef>
              <a:spcAft>
                <a:spcPts val="800"/>
              </a:spcAft>
            </a:pPr>
            <a:r>
              <a:rPr sz="1300" b="0" i="0">
                <a:solidFill>
                  <a:srgbClr val="3D4947"/>
                </a:solidFill>
                <a:latin typeface="Inter"/>
              </a:rPr>
              <a:t>Souveraineté progressive : UE / Maroc / on-prem, résidence à venir.</a:t>
            </a:r>
          </a:p>
          <a:p>
            <a:pPr algn="l">
              <a:spcBef>
                <a:spcPts val="0"/>
              </a:spcBef>
              <a:spcAft>
                <a:spcPts val="800"/>
              </a:spcAft>
            </a:pPr>
            <a:r>
              <a:rPr sz="1300" b="0" i="0">
                <a:solidFill>
                  <a:srgbClr val="3D4947"/>
                </a:solidFill>
                <a:latin typeface="Inter"/>
              </a:rPr>
              <a:t>Coûts sourcés ±30 %, URL + date + confiance, feed live.</a:t>
            </a:r>
          </a:p>
          <a:p>
            <a:pPr algn="l">
              <a:spcBef>
                <a:spcPts val="0"/>
              </a:spcBef>
              <a:spcAft>
                <a:spcPts val="800"/>
              </a:spcAft>
            </a:pPr>
            <a:r>
              <a:rPr sz="1300" b="0" i="0">
                <a:solidFill>
                  <a:srgbClr val="3D4947"/>
                </a:solidFill>
                <a:latin typeface="Inter"/>
              </a:rPr>
              <a:t>Reco 7 couches + ensemble multi-config + verdict 90 s.</a:t>
            </a:r>
          </a:p>
          <a:p>
            <a:pPr algn="l">
              <a:spcBef>
                <a:spcPts val="0"/>
              </a:spcBef>
              <a:spcAft>
                <a:spcPts val="400"/>
              </a:spcAft>
            </a:pPr>
            <a:r>
              <a:rPr sz="1300" b="0" i="0">
                <a:solidFill>
                  <a:srgbClr val="3D4947"/>
                </a:solidFill>
                <a:latin typeface="Inter"/>
              </a:rPr>
              <a:t>Fiduciary Mode : zéro commission cachée, charte contractuelle.</a:t>
            </a:r>
          </a:p>
        </p:txBody>
      </p:sp>
      <p:sp>
        <p:nvSpPr>
          <p:cNvPr id="8" name="TextBox 7"/>
          <p:cNvSpPr txBox="1"/>
          <p:nvPr/>
        </p:nvSpPr>
        <p:spPr>
          <a:xfrm>
            <a:off x="777240" y="6446520"/>
            <a:ext cx="10607040" cy="274320"/>
          </a:xfrm>
          <a:prstGeom prst="rect">
            <a:avLst/>
          </a:prstGeom>
          <a:noFill/>
        </p:spPr>
        <p:txBody>
          <a:bodyPr wrap="square" lIns="0" tIns="0" rIns="0" bIns="0" anchor="t">
            <a:spAutoFit/>
          </a:bodyPr>
          <a:lstStyle/>
          <a:p>
            <a:pPr algn="l"/>
            <a:r>
              <a:rPr sz="900" b="0" i="0">
                <a:solidFill>
                  <a:srgbClr val="BCC9C6"/>
                </a:solidFill>
                <a:latin typeface="JetBrains Mono"/>
              </a:rPr>
              <a:t>Strate · Business model</a:t>
            </a:r>
          </a:p>
        </p:txBody>
      </p:sp>
      <p:sp>
        <p:nvSpPr>
          <p:cNvPr id="9" name="TextBox 8"/>
          <p:cNvSpPr txBox="1"/>
          <p:nvPr/>
        </p:nvSpPr>
        <p:spPr>
          <a:xfrm>
            <a:off x="10789920" y="6446520"/>
            <a:ext cx="594360" cy="274320"/>
          </a:xfrm>
          <a:prstGeom prst="rect">
            <a:avLst/>
          </a:prstGeom>
          <a:noFill/>
        </p:spPr>
        <p:txBody>
          <a:bodyPr wrap="square" lIns="0" tIns="0" rIns="0" bIns="0" anchor="t">
            <a:spAutoFit/>
          </a:bodyPr>
          <a:lstStyle/>
          <a:p>
            <a:pPr algn="r"/>
            <a:r>
              <a:rPr sz="900" b="0" i="0">
                <a:solidFill>
                  <a:srgbClr val="BCC9C6"/>
                </a:solidFill>
                <a:latin typeface="JetBrains Mono"/>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8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005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02920"/>
            <a:ext cx="10607040" cy="320040"/>
          </a:xfrm>
          <a:prstGeom prst="rect">
            <a:avLst/>
          </a:prstGeom>
          <a:noFill/>
        </p:spPr>
        <p:txBody>
          <a:bodyPr wrap="square" lIns="0" tIns="0" rIns="0" bIns="0" anchor="t">
            <a:spAutoFit/>
          </a:bodyPr>
          <a:lstStyle/>
          <a:p>
            <a:pPr algn="l">
              <a:spcBef>
                <a:spcPts val="0"/>
              </a:spcBef>
              <a:spcAft>
                <a:spcPts val="600"/>
              </a:spcAft>
            </a:pPr>
            <a:r>
              <a:rPr sz="1250" b="1" i="0" spc="140">
                <a:solidFill>
                  <a:srgbClr val="0051D5"/>
                </a:solidFill>
                <a:latin typeface="Inter"/>
              </a:rPr>
              <a:t>PRODUCT-MARKET FIT · 3/3</a:t>
            </a:r>
          </a:p>
        </p:txBody>
      </p:sp>
      <p:sp>
        <p:nvSpPr>
          <p:cNvPr id="4" name="TextBox 3"/>
          <p:cNvSpPr txBox="1"/>
          <p:nvPr/>
        </p:nvSpPr>
        <p:spPr>
          <a:xfrm>
            <a:off x="777240" y="841248"/>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31B2E"/>
                </a:solidFill>
                <a:latin typeface="Space Grotesk"/>
              </a:rPr>
              <a:t>Face aux alternatives</a:t>
            </a:r>
          </a:p>
        </p:txBody>
      </p:sp>
      <p:sp>
        <p:nvSpPr>
          <p:cNvPr id="5" name="Rectangle 4"/>
          <p:cNvSpPr/>
          <p:nvPr/>
        </p:nvSpPr>
        <p:spPr>
          <a:xfrm>
            <a:off x="777240" y="1627632"/>
            <a:ext cx="10607040" cy="17780"/>
          </a:xfrm>
          <a:prstGeom prst="rect">
            <a:avLst/>
          </a:prstGeom>
          <a:solidFill>
            <a:srgbClr val="BCC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77240" y="1828800"/>
            <a:ext cx="10607040" cy="969264"/>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201168" rIns="201168" rtlCol="0" anchor="ctr"/>
          <a:lstStyle/>
          <a:p>
            <a:pPr algn="l">
              <a:spcBef>
                <a:spcPts val="0"/>
              </a:spcBef>
              <a:spcAft>
                <a:spcPts val="300"/>
              </a:spcAft>
            </a:pPr>
            <a:r>
              <a:rPr sz="1400" b="1" i="0">
                <a:solidFill>
                  <a:srgbClr val="131B2E"/>
                </a:solidFill>
                <a:latin typeface="Space Grotesk"/>
              </a:rPr>
              <a:t>Statu quo (rien / ChatGPT)</a:t>
            </a:r>
          </a:p>
          <a:p>
            <a:pPr>
              <a:spcAft>
                <a:spcPts val="0"/>
              </a:spcAft>
            </a:pPr>
            <a:r>
              <a:rPr sz="1200" b="1" i="0">
                <a:solidFill>
                  <a:srgbClr val="BA1A1A"/>
                </a:solidFill>
                <a:latin typeface="Inter"/>
              </a:rPr>
              <a:t>Limite : </a:t>
            </a:r>
            <a:r>
              <a:rPr sz="1200" b="0" i="0">
                <a:solidFill>
                  <a:srgbClr val="3D4947"/>
                </a:solidFill>
                <a:latin typeface="Inter"/>
              </a:rPr>
              <a:t>Mémoire faible, données chez un tiers US, aucune souveraineté.    </a:t>
            </a:r>
            <a:r>
              <a:rPr sz="1200" b="1" i="0">
                <a:solidFill>
                  <a:srgbClr val="00685F"/>
                </a:solidFill>
                <a:latin typeface="Inter"/>
              </a:rPr>
              <a:t>→ Strate : base souveraine + sortie certifiée.</a:t>
            </a:r>
          </a:p>
        </p:txBody>
      </p:sp>
      <p:sp>
        <p:nvSpPr>
          <p:cNvPr id="7" name="Rounded Rectangle 6"/>
          <p:cNvSpPr/>
          <p:nvPr/>
        </p:nvSpPr>
        <p:spPr>
          <a:xfrm>
            <a:off x="777240" y="2907792"/>
            <a:ext cx="10607040" cy="969264"/>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201168" rIns="201168" rtlCol="0" anchor="ctr"/>
          <a:lstStyle/>
          <a:p>
            <a:pPr algn="l">
              <a:spcBef>
                <a:spcPts val="0"/>
              </a:spcBef>
              <a:spcAft>
                <a:spcPts val="300"/>
              </a:spcAft>
            </a:pPr>
            <a:r>
              <a:rPr sz="1400" b="1" i="0">
                <a:solidFill>
                  <a:srgbClr val="131B2E"/>
                </a:solidFill>
                <a:latin typeface="Space Grotesk"/>
              </a:rPr>
              <a:t>Intégrateur / projet sur-mesure</a:t>
            </a:r>
          </a:p>
          <a:p>
            <a:pPr>
              <a:spcAft>
                <a:spcPts val="0"/>
              </a:spcAft>
            </a:pPr>
            <a:r>
              <a:rPr sz="1200" b="1" i="0">
                <a:solidFill>
                  <a:srgbClr val="BA1A1A"/>
                </a:solidFill>
                <a:latin typeface="Inter"/>
              </a:rPr>
              <a:t>Limite : </a:t>
            </a:r>
            <a:r>
              <a:rPr sz="1200" b="0" i="0">
                <a:solidFill>
                  <a:srgbClr val="3D4947"/>
                </a:solidFill>
                <a:latin typeface="Inter"/>
              </a:rPr>
              <a:t>30-200 k€, 6 mois, non réutilisable, dépendance au prestataire.    </a:t>
            </a:r>
            <a:r>
              <a:rPr sz="1200" b="1" i="0">
                <a:solidFill>
                  <a:srgbClr val="00685F"/>
                </a:solidFill>
                <a:latin typeface="Inter"/>
              </a:rPr>
              <a:t>→ Strate : conseil chiffré ±30 %, reproductible, 90 s.</a:t>
            </a:r>
          </a:p>
        </p:txBody>
      </p:sp>
      <p:sp>
        <p:nvSpPr>
          <p:cNvPr id="8" name="Rounded Rectangle 7"/>
          <p:cNvSpPr/>
          <p:nvPr/>
        </p:nvSpPr>
        <p:spPr>
          <a:xfrm>
            <a:off x="777240" y="3986784"/>
            <a:ext cx="10607040" cy="969264"/>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201168" rIns="201168" rtlCol="0" anchor="ctr"/>
          <a:lstStyle/>
          <a:p>
            <a:pPr algn="l">
              <a:spcBef>
                <a:spcPts val="0"/>
              </a:spcBef>
              <a:spcAft>
                <a:spcPts val="300"/>
              </a:spcAft>
            </a:pPr>
            <a:r>
              <a:rPr sz="1400" b="1" i="0">
                <a:solidFill>
                  <a:srgbClr val="131B2E"/>
                </a:solidFill>
                <a:latin typeface="Space Grotesk"/>
              </a:rPr>
              <a:t>Hyperscalers (AWS/GCP/Azure)</a:t>
            </a:r>
          </a:p>
          <a:p>
            <a:pPr>
              <a:spcAft>
                <a:spcPts val="0"/>
              </a:spcAft>
            </a:pPr>
            <a:r>
              <a:rPr sz="1200" b="1" i="0">
                <a:solidFill>
                  <a:srgbClr val="BA1A1A"/>
                </a:solidFill>
                <a:latin typeface="Inter"/>
              </a:rPr>
              <a:t>Limite : </a:t>
            </a:r>
            <a:r>
              <a:rPr sz="1200" b="0" i="0">
                <a:solidFill>
                  <a:srgbClr val="3D4947"/>
                </a:solidFill>
                <a:latin typeface="Inter"/>
              </a:rPr>
              <a:t>Puissants mais lock-in profond, complexité, opacité de coût.    </a:t>
            </a:r>
            <a:r>
              <a:rPr sz="1200" b="1" i="0">
                <a:solidFill>
                  <a:srgbClr val="00685F"/>
                </a:solidFill>
                <a:latin typeface="Inter"/>
              </a:rPr>
              <a:t>→ Strate : neutre, anti-lock-in, multi-fournisseurs.</a:t>
            </a:r>
          </a:p>
        </p:txBody>
      </p:sp>
      <p:sp>
        <p:nvSpPr>
          <p:cNvPr id="9" name="Rounded Rectangle 8"/>
          <p:cNvSpPr/>
          <p:nvPr/>
        </p:nvSpPr>
        <p:spPr>
          <a:xfrm>
            <a:off x="777240" y="5065776"/>
            <a:ext cx="10607040" cy="969264"/>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201168" rIns="201168" rtlCol="0" anchor="ctr"/>
          <a:lstStyle/>
          <a:p>
            <a:pPr algn="l">
              <a:spcBef>
                <a:spcPts val="0"/>
              </a:spcBef>
              <a:spcAft>
                <a:spcPts val="300"/>
              </a:spcAft>
            </a:pPr>
            <a:r>
              <a:rPr sz="1400" b="1" i="0">
                <a:solidFill>
                  <a:srgbClr val="131B2E"/>
                </a:solidFill>
                <a:latin typeface="Space Grotesk"/>
              </a:rPr>
              <a:t>RAG-as-a-Service (SaaS mémoire US)</a:t>
            </a:r>
          </a:p>
          <a:p>
            <a:pPr>
              <a:spcAft>
                <a:spcPts val="0"/>
              </a:spcAft>
            </a:pPr>
            <a:r>
              <a:rPr sz="1200" b="1" i="0">
                <a:solidFill>
                  <a:srgbClr val="BA1A1A"/>
                </a:solidFill>
                <a:latin typeface="Inter"/>
              </a:rPr>
              <a:t>Limite : </a:t>
            </a:r>
            <a:r>
              <a:rPr sz="1200" b="0" i="0">
                <a:solidFill>
                  <a:srgbClr val="3D4947"/>
                </a:solidFill>
                <a:latin typeface="Inter"/>
              </a:rPr>
              <a:t>Locataire à vie, données hors UE, pas d'exit.    </a:t>
            </a:r>
            <a:r>
              <a:rPr sz="1200" b="1" i="0">
                <a:solidFill>
                  <a:srgbClr val="00685F"/>
                </a:solidFill>
                <a:latin typeface="Inter"/>
              </a:rPr>
              <a:t>→ Strate : exit garanti + fiduciaire + réseau de coûts.</a:t>
            </a:r>
          </a:p>
        </p:txBody>
      </p:sp>
      <p:sp>
        <p:nvSpPr>
          <p:cNvPr id="10" name="TextBox 9"/>
          <p:cNvSpPr txBox="1"/>
          <p:nvPr/>
        </p:nvSpPr>
        <p:spPr>
          <a:xfrm>
            <a:off x="777240" y="6446520"/>
            <a:ext cx="10607040" cy="274320"/>
          </a:xfrm>
          <a:prstGeom prst="rect">
            <a:avLst/>
          </a:prstGeom>
          <a:noFill/>
        </p:spPr>
        <p:txBody>
          <a:bodyPr wrap="square" lIns="0" tIns="0" rIns="0" bIns="0" anchor="t">
            <a:spAutoFit/>
          </a:bodyPr>
          <a:lstStyle/>
          <a:p>
            <a:pPr algn="l"/>
            <a:r>
              <a:rPr sz="900" b="0" i="0">
                <a:solidFill>
                  <a:srgbClr val="BCC9C6"/>
                </a:solidFill>
                <a:latin typeface="JetBrains Mono"/>
              </a:rPr>
              <a:t>Strate · Business model</a:t>
            </a:r>
          </a:p>
        </p:txBody>
      </p:sp>
      <p:sp>
        <p:nvSpPr>
          <p:cNvPr id="11" name="TextBox 10"/>
          <p:cNvSpPr txBox="1"/>
          <p:nvPr/>
        </p:nvSpPr>
        <p:spPr>
          <a:xfrm>
            <a:off x="10789920" y="6446520"/>
            <a:ext cx="594360" cy="274320"/>
          </a:xfrm>
          <a:prstGeom prst="rect">
            <a:avLst/>
          </a:prstGeom>
          <a:noFill/>
        </p:spPr>
        <p:txBody>
          <a:bodyPr wrap="square" lIns="0" tIns="0" rIns="0" bIns="0" anchor="t">
            <a:spAutoFit/>
          </a:bodyPr>
          <a:lstStyle/>
          <a:p>
            <a:pPr algn="r"/>
            <a:r>
              <a:rPr sz="900" b="0" i="0">
                <a:solidFill>
                  <a:srgbClr val="BCC9C6"/>
                </a:solidFill>
                <a:latin typeface="JetBrains Mono"/>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8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9D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02920"/>
            <a:ext cx="10607040" cy="320040"/>
          </a:xfrm>
          <a:prstGeom prst="rect">
            <a:avLst/>
          </a:prstGeom>
          <a:noFill/>
        </p:spPr>
        <p:txBody>
          <a:bodyPr wrap="square" lIns="0" tIns="0" rIns="0" bIns="0" anchor="t">
            <a:spAutoFit/>
          </a:bodyPr>
          <a:lstStyle/>
          <a:p>
            <a:pPr algn="l">
              <a:spcBef>
                <a:spcPts val="0"/>
              </a:spcBef>
              <a:spcAft>
                <a:spcPts val="600"/>
              </a:spcAft>
            </a:pPr>
            <a:r>
              <a:rPr sz="1250" b="1" i="0" spc="140">
                <a:solidFill>
                  <a:srgbClr val="7D5400"/>
                </a:solidFill>
                <a:latin typeface="Inter"/>
              </a:rPr>
              <a:t>AVANTAGE DÉFENDABLE</a:t>
            </a:r>
          </a:p>
        </p:txBody>
      </p:sp>
      <p:sp>
        <p:nvSpPr>
          <p:cNvPr id="4" name="TextBox 3"/>
          <p:cNvSpPr txBox="1"/>
          <p:nvPr/>
        </p:nvSpPr>
        <p:spPr>
          <a:xfrm>
            <a:off x="777240" y="841248"/>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31B2E"/>
                </a:solidFill>
                <a:latin typeface="Space Grotesk"/>
              </a:rPr>
              <a:t>Le trio de moats (playbook Cloudflare)</a:t>
            </a:r>
          </a:p>
        </p:txBody>
      </p:sp>
      <p:sp>
        <p:nvSpPr>
          <p:cNvPr id="5" name="Rectangle 4"/>
          <p:cNvSpPr/>
          <p:nvPr/>
        </p:nvSpPr>
        <p:spPr>
          <a:xfrm>
            <a:off x="777240" y="1627632"/>
            <a:ext cx="10607040" cy="17780"/>
          </a:xfrm>
          <a:prstGeom prst="rect">
            <a:avLst/>
          </a:prstGeom>
          <a:solidFill>
            <a:srgbClr val="BCC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77240" y="1828800"/>
            <a:ext cx="3383280" cy="4069080"/>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64592" tIns="658368" rIns="164592" rtlCol="0" anchor="t"/>
          <a:lstStyle/>
          <a:p>
            <a:pPr algn="l">
              <a:spcBef>
                <a:spcPts val="0"/>
              </a:spcBef>
              <a:spcAft>
                <a:spcPts val="800"/>
              </a:spcAft>
            </a:pPr>
            <a:r>
              <a:rPr sz="1350" b="1" i="0">
                <a:solidFill>
                  <a:srgbClr val="00685F"/>
                </a:solidFill>
                <a:latin typeface="Space Grotesk"/>
              </a:rPr>
              <a:t>Sortie certifiée</a:t>
            </a:r>
          </a:p>
          <a:p>
            <a:pPr algn="l">
              <a:spcBef>
                <a:spcPts val="0"/>
              </a:spcBef>
              <a:spcAft>
                <a:spcPts val="1000"/>
              </a:spcAft>
            </a:pPr>
            <a:r>
              <a:rPr sz="1250" b="0" i="0">
                <a:solidFill>
                  <a:srgbClr val="3D4947"/>
                </a:solidFill>
                <a:latin typeface="Inter"/>
              </a:rPr>
              <a:t>Bundle reproductible (IaC + dumps + vault + runbook) redéployable ailleurs en 1 clic. Release auto même si Strate ferme.</a:t>
            </a:r>
          </a:p>
          <a:p>
            <a:pPr algn="l">
              <a:spcBef>
                <a:spcPts val="0"/>
              </a:spcBef>
              <a:spcAft>
                <a:spcPts val="1000"/>
              </a:spcAft>
            </a:pPr>
            <a:r>
              <a:rPr sz="1100" b="0" i="1">
                <a:solidFill>
                  <a:srgbClr val="131B2E"/>
                </a:solidFill>
                <a:latin typeface="Inter"/>
              </a:rPr>
              <a:t>Analogie : escrow logiciel / IP Bankruptcy Act</a:t>
            </a:r>
          </a:p>
          <a:p>
            <a:pPr algn="l">
              <a:spcBef>
                <a:spcPts val="0"/>
              </a:spcBef>
              <a:spcAft>
                <a:spcPts val="0"/>
              </a:spcAft>
            </a:pPr>
            <a:r>
              <a:rPr sz="1100" b="1" i="0">
                <a:solidFill>
                  <a:srgbClr val="00685F"/>
                </a:solidFill>
                <a:latin typeface="JetBrains Mono"/>
              </a:rPr>
              <a:t>PREUVE DURE · livré (F7)</a:t>
            </a:r>
          </a:p>
        </p:txBody>
      </p:sp>
      <p:sp>
        <p:nvSpPr>
          <p:cNvPr id="7" name="Rectangle 6"/>
          <p:cNvSpPr/>
          <p:nvPr/>
        </p:nvSpPr>
        <p:spPr>
          <a:xfrm>
            <a:off x="777240" y="1828800"/>
            <a:ext cx="3383280" cy="502920"/>
          </a:xfrm>
          <a:prstGeom prst="rect">
            <a:avLst/>
          </a:prstGeom>
          <a:solidFill>
            <a:srgbClr val="00685F"/>
          </a:solidFill>
          <a:ln>
            <a:noFill/>
          </a:ln>
          <a:effectLst/>
        </p:spPr>
        <p:style>
          <a:lnRef idx="1">
            <a:schemeClr val="accent1"/>
          </a:lnRef>
          <a:fillRef idx="3">
            <a:schemeClr val="accent1"/>
          </a:fillRef>
          <a:effectRef idx="2">
            <a:schemeClr val="accent1"/>
          </a:effectRef>
          <a:fontRef idx="minor">
            <a:schemeClr val="lt1"/>
          </a:fontRef>
        </p:style>
        <p:txBody>
          <a:bodyPr wrap="square" lIns="146304" rtlCol="0" anchor="ctr"/>
          <a:lstStyle/>
          <a:p>
            <a:pPr algn="ctr"/>
            <a:r>
              <a:rPr sz="1600" b="1" i="0">
                <a:solidFill>
                  <a:srgbClr val="FFFFFF"/>
                </a:solidFill>
                <a:latin typeface="Space Grotesk"/>
              </a:rPr>
              <a:t>①  Exit Escrow</a:t>
            </a:r>
          </a:p>
        </p:txBody>
      </p:sp>
      <p:sp>
        <p:nvSpPr>
          <p:cNvPr id="8" name="Rounded Rectangle 7"/>
          <p:cNvSpPr/>
          <p:nvPr/>
        </p:nvSpPr>
        <p:spPr>
          <a:xfrm>
            <a:off x="4389120" y="1828800"/>
            <a:ext cx="3383280" cy="4069080"/>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64592" tIns="658368" rIns="164592" rtlCol="0" anchor="t"/>
          <a:lstStyle/>
          <a:p>
            <a:pPr algn="l">
              <a:spcBef>
                <a:spcPts val="0"/>
              </a:spcBef>
              <a:spcAft>
                <a:spcPts val="800"/>
              </a:spcAft>
            </a:pPr>
            <a:r>
              <a:rPr sz="1350" b="1" i="0">
                <a:solidFill>
                  <a:srgbClr val="7D5400"/>
                </a:solidFill>
                <a:latin typeface="Space Grotesk"/>
              </a:rPr>
              <a:t>Mandataire transparent</a:t>
            </a:r>
          </a:p>
          <a:p>
            <a:pPr algn="l">
              <a:spcBef>
                <a:spcPts val="0"/>
              </a:spcBef>
              <a:spcAft>
                <a:spcPts val="1000"/>
              </a:spcAft>
            </a:pPr>
            <a:r>
              <a:rPr sz="1250" b="0" i="0">
                <a:solidFill>
                  <a:srgbClr val="3D4947"/>
                </a:solidFill>
                <a:latin typeface="Inter"/>
              </a:rPr>
              <a:t>Payé par l'utilisateur, jamais commissionné en douce par les vendors. La négociation tarifaire se fait au nom du client.</a:t>
            </a:r>
          </a:p>
          <a:p>
            <a:pPr algn="l">
              <a:spcBef>
                <a:spcPts val="0"/>
              </a:spcBef>
              <a:spcAft>
                <a:spcPts val="1000"/>
              </a:spcAft>
            </a:pPr>
            <a:r>
              <a:rPr sz="1100" b="0" i="1">
                <a:solidFill>
                  <a:srgbClr val="131B2E"/>
                </a:solidFill>
                <a:latin typeface="Inter"/>
              </a:rPr>
              <a:t>Analogie : courtier énergie/assurance · leçon Flipper</a:t>
            </a:r>
          </a:p>
          <a:p>
            <a:pPr algn="l">
              <a:spcBef>
                <a:spcPts val="0"/>
              </a:spcBef>
              <a:spcAft>
                <a:spcPts val="0"/>
              </a:spcAft>
            </a:pPr>
            <a:r>
              <a:rPr sz="1100" b="1" i="0">
                <a:solidFill>
                  <a:srgbClr val="7D5400"/>
                </a:solidFill>
                <a:latin typeface="JetBrains Mono"/>
              </a:rPr>
              <a:t>Charte contractuelle · livré (F8)</a:t>
            </a:r>
          </a:p>
        </p:txBody>
      </p:sp>
      <p:sp>
        <p:nvSpPr>
          <p:cNvPr id="9" name="Rectangle 8"/>
          <p:cNvSpPr/>
          <p:nvPr/>
        </p:nvSpPr>
        <p:spPr>
          <a:xfrm>
            <a:off x="4389120" y="1828800"/>
            <a:ext cx="3383280" cy="502920"/>
          </a:xfrm>
          <a:prstGeom prst="rect">
            <a:avLst/>
          </a:prstGeom>
          <a:solidFill>
            <a:srgbClr val="7D5400"/>
          </a:solidFill>
          <a:ln>
            <a:noFill/>
          </a:ln>
          <a:effectLst/>
        </p:spPr>
        <p:style>
          <a:lnRef idx="1">
            <a:schemeClr val="accent1"/>
          </a:lnRef>
          <a:fillRef idx="3">
            <a:schemeClr val="accent1"/>
          </a:fillRef>
          <a:effectRef idx="2">
            <a:schemeClr val="accent1"/>
          </a:effectRef>
          <a:fontRef idx="minor">
            <a:schemeClr val="lt1"/>
          </a:fontRef>
        </p:style>
        <p:txBody>
          <a:bodyPr wrap="square" lIns="146304" rtlCol="0" anchor="ctr"/>
          <a:lstStyle/>
          <a:p>
            <a:pPr algn="ctr"/>
            <a:r>
              <a:rPr sz="1600" b="1" i="0">
                <a:solidFill>
                  <a:srgbClr val="FFFFFF"/>
                </a:solidFill>
                <a:latin typeface="Space Grotesk"/>
              </a:rPr>
              <a:t>②  Fiduciary Mode</a:t>
            </a:r>
          </a:p>
        </p:txBody>
      </p:sp>
      <p:sp>
        <p:nvSpPr>
          <p:cNvPr id="10" name="Rounded Rectangle 9"/>
          <p:cNvSpPr/>
          <p:nvPr/>
        </p:nvSpPr>
        <p:spPr>
          <a:xfrm>
            <a:off x="8001000" y="1828800"/>
            <a:ext cx="3383280" cy="4069080"/>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64592" tIns="658368" rIns="164592" rtlCol="0" anchor="t"/>
          <a:lstStyle/>
          <a:p>
            <a:pPr algn="l">
              <a:spcBef>
                <a:spcPts val="0"/>
              </a:spcBef>
              <a:spcAft>
                <a:spcPts val="800"/>
              </a:spcAft>
            </a:pPr>
            <a:r>
              <a:rPr sz="1350" b="1" i="0">
                <a:solidFill>
                  <a:srgbClr val="0051D5"/>
                </a:solidFill>
                <a:latin typeface="Space Grotesk"/>
              </a:rPr>
              <a:t>Effet réseau de données</a:t>
            </a:r>
          </a:p>
          <a:p>
            <a:pPr algn="l">
              <a:spcBef>
                <a:spcPts val="0"/>
              </a:spcBef>
              <a:spcAft>
                <a:spcPts val="1000"/>
              </a:spcAft>
            </a:pPr>
            <a:r>
              <a:rPr sz="1250" b="0" i="0">
                <a:solidFill>
                  <a:srgbClr val="3D4947"/>
                </a:solidFill>
                <a:latin typeface="Inter"/>
              </a:rPr>
              <a:t>Chaque déploiement renvoie (opt-in RGPD) le coût réel anonymisé → calibration collective irréplicable + alertes vendor.</a:t>
            </a:r>
          </a:p>
          <a:p>
            <a:pPr algn="l">
              <a:spcBef>
                <a:spcPts val="0"/>
              </a:spcBef>
              <a:spcAft>
                <a:spcPts val="1000"/>
              </a:spcAft>
            </a:pPr>
            <a:r>
              <a:rPr sz="1100" b="0" i="1">
                <a:solidFill>
                  <a:srgbClr val="131B2E"/>
                </a:solidFill>
                <a:latin typeface="Inter"/>
              </a:rPr>
              <a:t>Analogie : ISAC cyber (collective defense)</a:t>
            </a:r>
          </a:p>
          <a:p>
            <a:pPr algn="l">
              <a:spcBef>
                <a:spcPts val="0"/>
              </a:spcBef>
              <a:spcAft>
                <a:spcPts val="0"/>
              </a:spcAft>
            </a:pPr>
            <a:r>
              <a:rPr sz="1100" b="1" i="0">
                <a:solidFill>
                  <a:srgbClr val="0051D5"/>
                </a:solidFill>
                <a:latin typeface="JetBrains Mono"/>
              </a:rPr>
              <a:t>Rails posés (F9) · actif au Lot 2</a:t>
            </a:r>
          </a:p>
        </p:txBody>
      </p:sp>
      <p:sp>
        <p:nvSpPr>
          <p:cNvPr id="11" name="Rectangle 10"/>
          <p:cNvSpPr/>
          <p:nvPr/>
        </p:nvSpPr>
        <p:spPr>
          <a:xfrm>
            <a:off x="8001000" y="1828800"/>
            <a:ext cx="3383280" cy="502920"/>
          </a:xfrm>
          <a:prstGeom prst="rect">
            <a:avLst/>
          </a:prstGeom>
          <a:solidFill>
            <a:srgbClr val="0051D5"/>
          </a:solidFill>
          <a:ln>
            <a:noFill/>
          </a:ln>
          <a:effectLst/>
        </p:spPr>
        <p:style>
          <a:lnRef idx="1">
            <a:schemeClr val="accent1"/>
          </a:lnRef>
          <a:fillRef idx="3">
            <a:schemeClr val="accent1"/>
          </a:fillRef>
          <a:effectRef idx="2">
            <a:schemeClr val="accent1"/>
          </a:effectRef>
          <a:fontRef idx="minor">
            <a:schemeClr val="lt1"/>
          </a:fontRef>
        </p:style>
        <p:txBody>
          <a:bodyPr wrap="square" lIns="146304" rtlCol="0" anchor="ctr"/>
          <a:lstStyle/>
          <a:p>
            <a:pPr algn="ctr"/>
            <a:r>
              <a:rPr sz="1600" b="1" i="0">
                <a:solidFill>
                  <a:srgbClr val="FFFFFF"/>
                </a:solidFill>
                <a:latin typeface="Space Grotesk"/>
              </a:rPr>
              <a:t>③  Intelligence Network</a:t>
            </a:r>
          </a:p>
        </p:txBody>
      </p:sp>
      <p:sp>
        <p:nvSpPr>
          <p:cNvPr id="12" name="TextBox 11"/>
          <p:cNvSpPr txBox="1"/>
          <p:nvPr/>
        </p:nvSpPr>
        <p:spPr>
          <a:xfrm>
            <a:off x="777240" y="6446520"/>
            <a:ext cx="10607040" cy="274320"/>
          </a:xfrm>
          <a:prstGeom prst="rect">
            <a:avLst/>
          </a:prstGeom>
          <a:noFill/>
        </p:spPr>
        <p:txBody>
          <a:bodyPr wrap="square" lIns="0" tIns="0" rIns="0" bIns="0" anchor="t">
            <a:spAutoFit/>
          </a:bodyPr>
          <a:lstStyle/>
          <a:p>
            <a:pPr algn="l"/>
            <a:r>
              <a:rPr sz="900" b="0" i="0">
                <a:solidFill>
                  <a:srgbClr val="BCC9C6"/>
                </a:solidFill>
                <a:latin typeface="JetBrains Mono"/>
              </a:rPr>
              <a:t>Strate · Business model</a:t>
            </a:r>
          </a:p>
        </p:txBody>
      </p:sp>
      <p:sp>
        <p:nvSpPr>
          <p:cNvPr id="13" name="TextBox 12"/>
          <p:cNvSpPr txBox="1"/>
          <p:nvPr/>
        </p:nvSpPr>
        <p:spPr>
          <a:xfrm>
            <a:off x="10789920" y="6446520"/>
            <a:ext cx="594360" cy="274320"/>
          </a:xfrm>
          <a:prstGeom prst="rect">
            <a:avLst/>
          </a:prstGeom>
          <a:noFill/>
        </p:spPr>
        <p:txBody>
          <a:bodyPr wrap="square" lIns="0" tIns="0" rIns="0" bIns="0" anchor="t">
            <a:spAutoFit/>
          </a:bodyPr>
          <a:lstStyle/>
          <a:p>
            <a:pPr algn="r"/>
            <a:r>
              <a:rPr sz="900" b="0" i="0">
                <a:solidFill>
                  <a:srgbClr val="BCC9C6"/>
                </a:solidFill>
                <a:latin typeface="JetBrains Mono"/>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8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006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02920"/>
            <a:ext cx="10607040" cy="320040"/>
          </a:xfrm>
          <a:prstGeom prst="rect">
            <a:avLst/>
          </a:prstGeom>
          <a:noFill/>
        </p:spPr>
        <p:txBody>
          <a:bodyPr wrap="square" lIns="0" tIns="0" rIns="0" bIns="0" anchor="t">
            <a:spAutoFit/>
          </a:bodyPr>
          <a:lstStyle/>
          <a:p>
            <a:pPr algn="l">
              <a:spcBef>
                <a:spcPts val="0"/>
              </a:spcBef>
              <a:spcAft>
                <a:spcPts val="600"/>
              </a:spcAft>
            </a:pPr>
            <a:r>
              <a:rPr sz="1250" b="1" i="0" spc="140">
                <a:solidFill>
                  <a:srgbClr val="00685F"/>
                </a:solidFill>
                <a:latin typeface="Inter"/>
              </a:rPr>
              <a:t>GO-TO-MARKET</a:t>
            </a:r>
          </a:p>
        </p:txBody>
      </p:sp>
      <p:sp>
        <p:nvSpPr>
          <p:cNvPr id="4" name="TextBox 3"/>
          <p:cNvSpPr txBox="1"/>
          <p:nvPr/>
        </p:nvSpPr>
        <p:spPr>
          <a:xfrm>
            <a:off x="777240" y="841248"/>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31B2E"/>
                </a:solidFill>
                <a:latin typeface="Space Grotesk"/>
              </a:rPr>
              <a:t>Du diagnostic 90 s au devis — motions &amp; boucles</a:t>
            </a:r>
          </a:p>
        </p:txBody>
      </p:sp>
      <p:sp>
        <p:nvSpPr>
          <p:cNvPr id="5" name="Rectangle 4"/>
          <p:cNvSpPr/>
          <p:nvPr/>
        </p:nvSpPr>
        <p:spPr>
          <a:xfrm>
            <a:off x="777240" y="1627632"/>
            <a:ext cx="10607040" cy="17780"/>
          </a:xfrm>
          <a:prstGeom prst="rect">
            <a:avLst/>
          </a:prstGeom>
          <a:solidFill>
            <a:srgbClr val="BCC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77240" y="1874519"/>
            <a:ext cx="2487168" cy="1371600"/>
          </a:xfrm>
          <a:prstGeom prst="roundRect">
            <a:avLst>
              <a:gd name="adj" fmla="val 6000"/>
            </a:avLst>
          </a:prstGeom>
          <a:solidFill>
            <a:srgbClr val="00685F"/>
          </a:solidFill>
          <a:ln>
            <a:noFill/>
          </a:ln>
          <a:effectLst/>
        </p:spPr>
        <p:style>
          <a:lnRef idx="1">
            <a:schemeClr val="accent1"/>
          </a:lnRef>
          <a:fillRef idx="3">
            <a:schemeClr val="accent1"/>
          </a:fillRef>
          <a:effectRef idx="2">
            <a:schemeClr val="accent1"/>
          </a:effectRef>
          <a:fontRef idx="minor">
            <a:schemeClr val="lt1"/>
          </a:fontRef>
        </p:style>
        <p:txBody>
          <a:bodyPr wrap="square" lIns="128016" rIns="128016" rtlCol="0" anchor="ctr"/>
          <a:lstStyle/>
          <a:p>
            <a:pPr algn="ctr">
              <a:spcBef>
                <a:spcPts val="0"/>
              </a:spcBef>
              <a:spcAft>
                <a:spcPts val="400"/>
              </a:spcAft>
            </a:pPr>
            <a:r>
              <a:rPr sz="1500" b="1" i="0">
                <a:solidFill>
                  <a:srgbClr val="FFFFFF"/>
                </a:solidFill>
                <a:latin typeface="Space Grotesk"/>
              </a:rPr>
              <a:t>Accroche</a:t>
            </a:r>
          </a:p>
          <a:p>
            <a:pPr algn="ctr">
              <a:spcBef>
                <a:spcPts val="0"/>
              </a:spcBef>
              <a:spcAft>
                <a:spcPts val="100"/>
              </a:spcAft>
            </a:pPr>
            <a:r>
              <a:rPr sz="1150" b="0" i="0">
                <a:solidFill>
                  <a:srgbClr val="FFFFFF"/>
                </a:solidFill>
                <a:latin typeface="Inter"/>
              </a:rPr>
              <a:t>Diagnostic gratuit</a:t>
            </a:r>
          </a:p>
          <a:p>
            <a:pPr algn="ctr">
              <a:spcBef>
                <a:spcPts val="0"/>
              </a:spcBef>
              <a:spcAft>
                <a:spcPts val="100"/>
              </a:spcAft>
            </a:pPr>
            <a:r>
              <a:rPr sz="1150" b="0" i="0">
                <a:solidFill>
                  <a:srgbClr val="FFFFFF"/>
                </a:solidFill>
                <a:latin typeface="Inter"/>
              </a:rPr>
              <a:t>intake libre / 4 questions</a:t>
            </a:r>
          </a:p>
        </p:txBody>
      </p:sp>
      <p:sp>
        <p:nvSpPr>
          <p:cNvPr id="7" name="Chevron 6"/>
          <p:cNvSpPr/>
          <p:nvPr/>
        </p:nvSpPr>
        <p:spPr>
          <a:xfrm>
            <a:off x="3246120" y="2350007"/>
            <a:ext cx="237744" cy="420624"/>
          </a:xfrm>
          <a:prstGeom prst="chevron">
            <a:avLst/>
          </a:prstGeom>
          <a:solidFill>
            <a:srgbClr val="BCC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465576" y="1874519"/>
            <a:ext cx="2487168" cy="1371600"/>
          </a:xfrm>
          <a:prstGeom prst="roundRect">
            <a:avLst>
              <a:gd name="adj" fmla="val 6000"/>
            </a:avLst>
          </a:prstGeom>
          <a:solidFill>
            <a:srgbClr val="008378"/>
          </a:solidFill>
          <a:ln>
            <a:noFill/>
          </a:ln>
          <a:effectLst/>
        </p:spPr>
        <p:style>
          <a:lnRef idx="1">
            <a:schemeClr val="accent1"/>
          </a:lnRef>
          <a:fillRef idx="3">
            <a:schemeClr val="accent1"/>
          </a:fillRef>
          <a:effectRef idx="2">
            <a:schemeClr val="accent1"/>
          </a:effectRef>
          <a:fontRef idx="minor">
            <a:schemeClr val="lt1"/>
          </a:fontRef>
        </p:style>
        <p:txBody>
          <a:bodyPr wrap="square" lIns="128016" rIns="128016" rtlCol="0" anchor="ctr"/>
          <a:lstStyle/>
          <a:p>
            <a:pPr algn="ctr">
              <a:spcBef>
                <a:spcPts val="0"/>
              </a:spcBef>
              <a:spcAft>
                <a:spcPts val="400"/>
              </a:spcAft>
            </a:pPr>
            <a:r>
              <a:rPr sz="1500" b="1" i="0">
                <a:solidFill>
                  <a:srgbClr val="FFFFFF"/>
                </a:solidFill>
                <a:latin typeface="Space Grotesk"/>
              </a:rPr>
              <a:t>Verdict 90 s</a:t>
            </a:r>
          </a:p>
          <a:p>
            <a:pPr algn="ctr">
              <a:spcBef>
                <a:spcPts val="0"/>
              </a:spcBef>
              <a:spcAft>
                <a:spcPts val="100"/>
              </a:spcAft>
            </a:pPr>
            <a:r>
              <a:rPr sz="1150" b="0" i="0">
                <a:solidFill>
                  <a:srgbClr val="FFFFFF"/>
                </a:solidFill>
                <a:latin typeface="Inter"/>
              </a:rPr>
              <a:t>Reco 7 couches + coût</a:t>
            </a:r>
          </a:p>
          <a:p>
            <a:pPr algn="ctr">
              <a:spcBef>
                <a:spcPts val="0"/>
              </a:spcBef>
              <a:spcAft>
                <a:spcPts val="100"/>
              </a:spcAft>
            </a:pPr>
            <a:r>
              <a:rPr sz="1150" b="0" i="0">
                <a:solidFill>
                  <a:srgbClr val="FFFFFF"/>
                </a:solidFill>
                <a:latin typeface="Inter"/>
              </a:rPr>
              <a:t>sourcé + risque/gain</a:t>
            </a:r>
          </a:p>
        </p:txBody>
      </p:sp>
      <p:sp>
        <p:nvSpPr>
          <p:cNvPr id="9" name="Chevron 8"/>
          <p:cNvSpPr/>
          <p:nvPr/>
        </p:nvSpPr>
        <p:spPr>
          <a:xfrm>
            <a:off x="5934456" y="2350007"/>
            <a:ext cx="237744" cy="420624"/>
          </a:xfrm>
          <a:prstGeom prst="chevron">
            <a:avLst/>
          </a:prstGeom>
          <a:solidFill>
            <a:srgbClr val="BCC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153912" y="1874519"/>
            <a:ext cx="2487168" cy="1371600"/>
          </a:xfrm>
          <a:prstGeom prst="roundRect">
            <a:avLst>
              <a:gd name="adj" fmla="val 6000"/>
            </a:avLst>
          </a:prstGeom>
          <a:solidFill>
            <a:srgbClr val="0051D5"/>
          </a:solidFill>
          <a:ln>
            <a:noFill/>
          </a:ln>
          <a:effectLst/>
        </p:spPr>
        <p:style>
          <a:lnRef idx="1">
            <a:schemeClr val="accent1"/>
          </a:lnRef>
          <a:fillRef idx="3">
            <a:schemeClr val="accent1"/>
          </a:fillRef>
          <a:effectRef idx="2">
            <a:schemeClr val="accent1"/>
          </a:effectRef>
          <a:fontRef idx="minor">
            <a:schemeClr val="lt1"/>
          </a:fontRef>
        </p:style>
        <p:txBody>
          <a:bodyPr wrap="square" lIns="128016" rIns="128016" rtlCol="0" anchor="ctr"/>
          <a:lstStyle/>
          <a:p>
            <a:pPr algn="ctr">
              <a:spcBef>
                <a:spcPts val="0"/>
              </a:spcBef>
              <a:spcAft>
                <a:spcPts val="400"/>
              </a:spcAft>
            </a:pPr>
            <a:r>
              <a:rPr sz="1500" b="1" i="0">
                <a:solidFill>
                  <a:srgbClr val="FFFFFF"/>
                </a:solidFill>
                <a:latin typeface="Space Grotesk"/>
              </a:rPr>
              <a:t>Livrable</a:t>
            </a:r>
          </a:p>
          <a:p>
            <a:pPr algn="ctr">
              <a:spcBef>
                <a:spcPts val="0"/>
              </a:spcBef>
              <a:spcAft>
                <a:spcPts val="100"/>
              </a:spcAft>
            </a:pPr>
            <a:r>
              <a:rPr sz="1150" b="0" i="0">
                <a:solidFill>
                  <a:srgbClr val="FFFFFF"/>
                </a:solidFill>
                <a:latin typeface="Inter"/>
              </a:rPr>
              <a:t>Export MD/PDF sourcé</a:t>
            </a:r>
          </a:p>
          <a:p>
            <a:pPr algn="ctr">
              <a:spcBef>
                <a:spcPts val="0"/>
              </a:spcBef>
              <a:spcAft>
                <a:spcPts val="100"/>
              </a:spcAft>
            </a:pPr>
            <a:r>
              <a:rPr sz="1150" b="0" i="0">
                <a:solidFill>
                  <a:srgbClr val="FFFFFF"/>
                </a:solidFill>
                <a:latin typeface="Inter"/>
              </a:rPr>
              <a:t>+ Exit Escrow</a:t>
            </a:r>
          </a:p>
        </p:txBody>
      </p:sp>
      <p:sp>
        <p:nvSpPr>
          <p:cNvPr id="11" name="Chevron 10"/>
          <p:cNvSpPr/>
          <p:nvPr/>
        </p:nvSpPr>
        <p:spPr>
          <a:xfrm>
            <a:off x="8622792" y="2350007"/>
            <a:ext cx="237744" cy="420624"/>
          </a:xfrm>
          <a:prstGeom prst="chevron">
            <a:avLst/>
          </a:prstGeom>
          <a:solidFill>
            <a:srgbClr val="BCC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842248" y="1874519"/>
            <a:ext cx="2487168" cy="1371600"/>
          </a:xfrm>
          <a:prstGeom prst="roundRect">
            <a:avLst>
              <a:gd name="adj" fmla="val 6000"/>
            </a:avLst>
          </a:prstGeom>
          <a:solidFill>
            <a:srgbClr val="7D5400"/>
          </a:solidFill>
          <a:ln>
            <a:noFill/>
          </a:ln>
          <a:effectLst/>
        </p:spPr>
        <p:style>
          <a:lnRef idx="1">
            <a:schemeClr val="accent1"/>
          </a:lnRef>
          <a:fillRef idx="3">
            <a:schemeClr val="accent1"/>
          </a:fillRef>
          <a:effectRef idx="2">
            <a:schemeClr val="accent1"/>
          </a:effectRef>
          <a:fontRef idx="minor">
            <a:schemeClr val="lt1"/>
          </a:fontRef>
        </p:style>
        <p:txBody>
          <a:bodyPr wrap="square" lIns="128016" rIns="128016" rtlCol="0" anchor="ctr"/>
          <a:lstStyle/>
          <a:p>
            <a:pPr algn="ctr">
              <a:spcBef>
                <a:spcPts val="0"/>
              </a:spcBef>
              <a:spcAft>
                <a:spcPts val="400"/>
              </a:spcAft>
            </a:pPr>
            <a:r>
              <a:rPr sz="1500" b="1" i="0">
                <a:solidFill>
                  <a:srgbClr val="FFFFFF"/>
                </a:solidFill>
                <a:latin typeface="Space Grotesk"/>
              </a:rPr>
              <a:t>Engagement</a:t>
            </a:r>
          </a:p>
          <a:p>
            <a:pPr algn="ctr">
              <a:spcBef>
                <a:spcPts val="0"/>
              </a:spcBef>
              <a:spcAft>
                <a:spcPts val="100"/>
              </a:spcAft>
            </a:pPr>
            <a:r>
              <a:rPr sz="1150" b="0" i="0">
                <a:solidFill>
                  <a:srgbClr val="FFFFFF"/>
                </a:solidFill>
                <a:latin typeface="Inter"/>
              </a:rPr>
              <a:t>Cuisine payante :</a:t>
            </a:r>
          </a:p>
          <a:p>
            <a:pPr algn="ctr">
              <a:spcBef>
                <a:spcPts val="0"/>
              </a:spcBef>
              <a:spcAft>
                <a:spcPts val="100"/>
              </a:spcAft>
            </a:pPr>
            <a:r>
              <a:rPr sz="1150" b="0" i="0">
                <a:solidFill>
                  <a:srgbClr val="FFFFFF"/>
                </a:solidFill>
                <a:latin typeface="Inter"/>
              </a:rPr>
              <a:t>déploiement + supervision</a:t>
            </a:r>
          </a:p>
        </p:txBody>
      </p:sp>
      <p:sp>
        <p:nvSpPr>
          <p:cNvPr id="13" name="TextBox 12"/>
          <p:cNvSpPr txBox="1"/>
          <p:nvPr/>
        </p:nvSpPr>
        <p:spPr>
          <a:xfrm>
            <a:off x="777240" y="3611880"/>
            <a:ext cx="10607040" cy="2651760"/>
          </a:xfrm>
          <a:prstGeom prst="rect">
            <a:avLst/>
          </a:prstGeom>
          <a:noFill/>
        </p:spPr>
        <p:txBody>
          <a:bodyPr wrap="square" lIns="0" tIns="0" rIns="0" bIns="0" anchor="t">
            <a:spAutoFit/>
          </a:bodyPr>
          <a:lstStyle/>
          <a:p>
            <a:pPr algn="l">
              <a:spcBef>
                <a:spcPts val="0"/>
              </a:spcBef>
              <a:spcAft>
                <a:spcPts val="800"/>
              </a:spcAft>
            </a:pPr>
            <a:r>
              <a:rPr sz="1600" b="1" i="0">
                <a:solidFill>
                  <a:srgbClr val="131B2E"/>
                </a:solidFill>
                <a:latin typeface="Space Grotesk"/>
              </a:rPr>
              <a:t>Motion &amp; canaux</a:t>
            </a:r>
          </a:p>
          <a:p>
            <a:pPr>
              <a:lnSpc>
                <a:spcPct val="108000"/>
              </a:lnSpc>
              <a:spcAft>
                <a:spcPts val="800"/>
              </a:spcAft>
            </a:pPr>
            <a:r>
              <a:rPr sz="1500" b="1" i="0">
                <a:solidFill>
                  <a:srgbClr val="00685F"/>
                </a:solidFill>
                <a:latin typeface="Inter"/>
              </a:rPr>
              <a:t>—  </a:t>
            </a:r>
            <a:r>
              <a:rPr sz="1500" b="1" i="0">
                <a:solidFill>
                  <a:srgbClr val="131B2E"/>
                </a:solidFill>
                <a:latin typeface="Inter"/>
              </a:rPr>
              <a:t>Motion. </a:t>
            </a:r>
            <a:r>
              <a:rPr sz="1500" b="0" i="0">
                <a:solidFill>
                  <a:srgbClr val="3D4947"/>
                </a:solidFill>
                <a:latin typeface="Inter"/>
              </a:rPr>
              <a:t>Hybride PLG → sales-léger : le free tier (recette ouverte) crée l'habitude, l'humain ferme la « cuisine ».</a:t>
            </a:r>
          </a:p>
          <a:p>
            <a:pPr>
              <a:lnSpc>
                <a:spcPct val="108000"/>
              </a:lnSpc>
              <a:spcAft>
                <a:spcPts val="800"/>
              </a:spcAft>
            </a:pPr>
            <a:r>
              <a:rPr sz="1500" b="1" i="0">
                <a:solidFill>
                  <a:srgbClr val="00685F"/>
                </a:solidFill>
                <a:latin typeface="Inter"/>
              </a:rPr>
              <a:t>—  </a:t>
            </a:r>
            <a:r>
              <a:rPr sz="1500" b="1" i="0">
                <a:solidFill>
                  <a:srgbClr val="131B2E"/>
                </a:solidFill>
                <a:latin typeface="Inter"/>
              </a:rPr>
              <a:t>Acquisition. </a:t>
            </a:r>
            <a:r>
              <a:rPr sz="1500" b="0" i="0">
                <a:solidFill>
                  <a:srgbClr val="3D4947"/>
                </a:solidFill>
                <a:latin typeface="Inter"/>
              </a:rPr>
              <a:t>Communauté d'Amine (P1) en premier — accès direct, CAC quasi nul, bouche-à-oreille ; puis contenu + référencement.</a:t>
            </a:r>
          </a:p>
          <a:p>
            <a:pPr>
              <a:lnSpc>
                <a:spcPct val="108000"/>
              </a:lnSpc>
              <a:spcAft>
                <a:spcPts val="800"/>
              </a:spcAft>
            </a:pPr>
            <a:r>
              <a:rPr sz="1500" b="1" i="0">
                <a:solidFill>
                  <a:srgbClr val="00685F"/>
                </a:solidFill>
                <a:latin typeface="Inter"/>
              </a:rPr>
              <a:t>—  </a:t>
            </a:r>
            <a:r>
              <a:rPr sz="1500" b="1" i="0">
                <a:solidFill>
                  <a:srgbClr val="131B2E"/>
                </a:solidFill>
                <a:latin typeface="Inter"/>
              </a:rPr>
              <a:t>Boucles de croissance. </a:t>
            </a:r>
            <a:r>
              <a:rPr sz="1500" b="0" i="0">
                <a:solidFill>
                  <a:srgbClr val="3D4947"/>
                </a:solidFill>
                <a:latin typeface="Inter"/>
              </a:rPr>
              <a:t>Exit Escrow = boucle de confiance (réduit la peur d'achat) ; Network = boucle de données (plus de clients → meilleure calibration → meilleur produit).</a:t>
            </a:r>
          </a:p>
          <a:p>
            <a:pPr>
              <a:lnSpc>
                <a:spcPct val="108000"/>
              </a:lnSpc>
              <a:spcAft>
                <a:spcPts val="0"/>
              </a:spcAft>
            </a:pPr>
            <a:r>
              <a:rPr sz="1500" b="1" i="0">
                <a:solidFill>
                  <a:srgbClr val="00685F"/>
                </a:solidFill>
                <a:latin typeface="Inter"/>
              </a:rPr>
              <a:t>—  </a:t>
            </a:r>
            <a:r>
              <a:rPr sz="1500" b="1" i="0">
                <a:solidFill>
                  <a:srgbClr val="131B2E"/>
                </a:solidFill>
                <a:latin typeface="Inter"/>
              </a:rPr>
              <a:t>Géographie. </a:t>
            </a:r>
            <a:r>
              <a:rPr sz="1500" b="0" i="0">
                <a:solidFill>
                  <a:srgbClr val="3D4947"/>
                </a:solidFill>
                <a:latin typeface="Inter"/>
              </a:rPr>
              <a:t>Maroc-UE francophone d'abord (P1/P2), puis régulés (P4) et agences (P3) ; ETI hors périmètre.</a:t>
            </a:r>
          </a:p>
        </p:txBody>
      </p:sp>
      <p:sp>
        <p:nvSpPr>
          <p:cNvPr id="14" name="TextBox 13"/>
          <p:cNvSpPr txBox="1"/>
          <p:nvPr/>
        </p:nvSpPr>
        <p:spPr>
          <a:xfrm>
            <a:off x="777240" y="6446520"/>
            <a:ext cx="10607040" cy="274320"/>
          </a:xfrm>
          <a:prstGeom prst="rect">
            <a:avLst/>
          </a:prstGeom>
          <a:noFill/>
        </p:spPr>
        <p:txBody>
          <a:bodyPr wrap="square" lIns="0" tIns="0" rIns="0" bIns="0" anchor="t">
            <a:spAutoFit/>
          </a:bodyPr>
          <a:lstStyle/>
          <a:p>
            <a:pPr algn="l"/>
            <a:r>
              <a:rPr sz="900" b="0" i="0">
                <a:solidFill>
                  <a:srgbClr val="BCC9C6"/>
                </a:solidFill>
                <a:latin typeface="JetBrains Mono"/>
              </a:rPr>
              <a:t>Strate · Business model</a:t>
            </a:r>
          </a:p>
        </p:txBody>
      </p:sp>
      <p:sp>
        <p:nvSpPr>
          <p:cNvPr id="15" name="TextBox 14"/>
          <p:cNvSpPr txBox="1"/>
          <p:nvPr/>
        </p:nvSpPr>
        <p:spPr>
          <a:xfrm>
            <a:off x="10789920" y="6446520"/>
            <a:ext cx="594360" cy="274320"/>
          </a:xfrm>
          <a:prstGeom prst="rect">
            <a:avLst/>
          </a:prstGeom>
          <a:noFill/>
        </p:spPr>
        <p:txBody>
          <a:bodyPr wrap="square" lIns="0" tIns="0" rIns="0" bIns="0" anchor="t">
            <a:spAutoFit/>
          </a:bodyPr>
          <a:lstStyle/>
          <a:p>
            <a:pPr algn="r"/>
            <a:r>
              <a:rPr sz="900" b="0" i="0">
                <a:solidFill>
                  <a:srgbClr val="BCC9C6"/>
                </a:solidFill>
                <a:latin typeface="JetBrains Mono"/>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8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9D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02920"/>
            <a:ext cx="10607040" cy="320040"/>
          </a:xfrm>
          <a:prstGeom prst="rect">
            <a:avLst/>
          </a:prstGeom>
          <a:noFill/>
        </p:spPr>
        <p:txBody>
          <a:bodyPr wrap="square" lIns="0" tIns="0" rIns="0" bIns="0" anchor="t">
            <a:spAutoFit/>
          </a:bodyPr>
          <a:lstStyle/>
          <a:p>
            <a:pPr algn="l">
              <a:spcBef>
                <a:spcPts val="0"/>
              </a:spcBef>
              <a:spcAft>
                <a:spcPts val="600"/>
              </a:spcAft>
            </a:pPr>
            <a:r>
              <a:rPr sz="1250" b="1" i="0" spc="140">
                <a:solidFill>
                  <a:srgbClr val="7D5400"/>
                </a:solidFill>
                <a:latin typeface="Inter"/>
              </a:rPr>
              <a:t>STRATÉGIE DE PRIX · 1/2</a:t>
            </a:r>
          </a:p>
        </p:txBody>
      </p:sp>
      <p:sp>
        <p:nvSpPr>
          <p:cNvPr id="4" name="TextBox 3"/>
          <p:cNvSpPr txBox="1"/>
          <p:nvPr/>
        </p:nvSpPr>
        <p:spPr>
          <a:xfrm>
            <a:off x="777240" y="841248"/>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31B2E"/>
                </a:solidFill>
                <a:latin typeface="Space Grotesk"/>
              </a:rPr>
              <a:t>Architecture : on tarife le service, pas l'infra</a:t>
            </a:r>
          </a:p>
        </p:txBody>
      </p:sp>
      <p:sp>
        <p:nvSpPr>
          <p:cNvPr id="5" name="Rectangle 4"/>
          <p:cNvSpPr/>
          <p:nvPr/>
        </p:nvSpPr>
        <p:spPr>
          <a:xfrm>
            <a:off x="777240" y="1627632"/>
            <a:ext cx="10607040" cy="17780"/>
          </a:xfrm>
          <a:prstGeom prst="rect">
            <a:avLst/>
          </a:prstGeom>
          <a:solidFill>
            <a:srgbClr val="BCC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77240" y="1828800"/>
            <a:ext cx="10607040" cy="914400"/>
          </a:xfrm>
          <a:prstGeom prst="roundRect">
            <a:avLst>
              <a:gd name="adj" fmla="val 6000"/>
            </a:avLst>
          </a:prstGeom>
          <a:solidFill>
            <a:srgbClr val="F2F3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64592" tIns="146304" rIns="164592" bIns="128016" rtlCol="0" anchor="ctr"/>
          <a:lstStyle/>
          <a:p>
            <a:pPr algn="ctr">
              <a:spcBef>
                <a:spcPts val="0"/>
              </a:spcBef>
              <a:spcAft>
                <a:spcPts val="0"/>
              </a:spcAft>
            </a:pPr>
            <a:r>
              <a:rPr sz="1550" b="1" i="0">
                <a:solidFill>
                  <a:srgbClr val="00685F"/>
                </a:solidFill>
                <a:latin typeface="Space Grotesk"/>
              </a:rPr>
              <a:t>Le service Strate = prix ferme.  L'infra = coût aux fournisseurs (±30 %, zéro marge).  « Recette ouverte, cuisine payante. »</a:t>
            </a:r>
          </a:p>
        </p:txBody>
      </p:sp>
      <p:sp>
        <p:nvSpPr>
          <p:cNvPr id="7" name="Rounded Rectangle 6"/>
          <p:cNvSpPr/>
          <p:nvPr/>
        </p:nvSpPr>
        <p:spPr>
          <a:xfrm>
            <a:off x="777240" y="2971800"/>
            <a:ext cx="3383280" cy="2743200"/>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82880" tIns="201168" rIns="182880" rtlCol="0" anchor="t"/>
          <a:lstStyle/>
          <a:p>
            <a:pPr algn="ctr">
              <a:spcBef>
                <a:spcPts val="0"/>
              </a:spcBef>
              <a:spcAft>
                <a:spcPts val="400"/>
              </a:spcAft>
            </a:pPr>
            <a:r>
              <a:rPr sz="1800" b="1" i="0">
                <a:solidFill>
                  <a:srgbClr val="131B2E"/>
                </a:solidFill>
                <a:latin typeface="Space Grotesk"/>
              </a:rPr>
              <a:t>Diagnostic</a:t>
            </a:r>
          </a:p>
          <a:p>
            <a:pPr algn="ctr">
              <a:spcBef>
                <a:spcPts val="0"/>
              </a:spcBef>
              <a:spcAft>
                <a:spcPts val="1000"/>
              </a:spcAft>
            </a:pPr>
            <a:r>
              <a:rPr sz="2000" b="1" i="0">
                <a:solidFill>
                  <a:srgbClr val="00685F"/>
                </a:solidFill>
                <a:latin typeface="JetBrains Mono"/>
              </a:rPr>
              <a:t>Gratuit</a:t>
            </a:r>
          </a:p>
          <a:p>
            <a:pPr algn="ctr">
              <a:spcBef>
                <a:spcPts val="0"/>
              </a:spcBef>
              <a:spcAft>
                <a:spcPts val="0"/>
              </a:spcAft>
            </a:pPr>
            <a:r>
              <a:rPr sz="1250" b="0" i="0">
                <a:solidFill>
                  <a:srgbClr val="3D4947"/>
                </a:solidFill>
                <a:latin typeface="Inter"/>
              </a:rPr>
              <a:t>Wizard + reco + livrable de base sourcé. Lead magnet, crée l'habitude.</a:t>
            </a:r>
          </a:p>
        </p:txBody>
      </p:sp>
      <p:sp>
        <p:nvSpPr>
          <p:cNvPr id="8" name="Rounded Rectangle 7"/>
          <p:cNvSpPr/>
          <p:nvPr/>
        </p:nvSpPr>
        <p:spPr>
          <a:xfrm>
            <a:off x="4389120" y="2971800"/>
            <a:ext cx="3383280" cy="2743200"/>
          </a:xfrm>
          <a:prstGeom prst="roundRect">
            <a:avLst>
              <a:gd name="adj" fmla="val 6000"/>
            </a:avLst>
          </a:prstGeom>
          <a:solidFill>
            <a:srgbClr val="00685F"/>
          </a:solidFill>
          <a:ln w="27940">
            <a:solidFill>
              <a:srgbClr val="00685F"/>
            </a:solidFill>
          </a:ln>
          <a:effectLst/>
        </p:spPr>
        <p:style>
          <a:lnRef idx="1">
            <a:schemeClr val="accent1"/>
          </a:lnRef>
          <a:fillRef idx="3">
            <a:schemeClr val="accent1"/>
          </a:fillRef>
          <a:effectRef idx="2">
            <a:schemeClr val="accent1"/>
          </a:effectRef>
          <a:fontRef idx="minor">
            <a:schemeClr val="lt1"/>
          </a:fontRef>
        </p:style>
        <p:txBody>
          <a:bodyPr wrap="square" lIns="182880" tIns="201168" rIns="182880" rtlCol="0" anchor="t"/>
          <a:lstStyle/>
          <a:p>
            <a:pPr algn="ctr">
              <a:spcBef>
                <a:spcPts val="0"/>
              </a:spcBef>
              <a:spcAft>
                <a:spcPts val="400"/>
              </a:spcAft>
            </a:pPr>
            <a:r>
              <a:rPr sz="1800" b="1" i="0">
                <a:solidFill>
                  <a:srgbClr val="FFFFFF"/>
                </a:solidFill>
                <a:latin typeface="Space Grotesk"/>
              </a:rPr>
              <a:t>Pro</a:t>
            </a:r>
          </a:p>
          <a:p>
            <a:pPr algn="ctr">
              <a:spcBef>
                <a:spcPts val="0"/>
              </a:spcBef>
              <a:spcAft>
                <a:spcPts val="1000"/>
              </a:spcAft>
            </a:pPr>
            <a:r>
              <a:rPr sz="2000" b="1" i="0">
                <a:solidFill>
                  <a:srgbClr val="FFFFFF"/>
                </a:solidFill>
                <a:latin typeface="JetBrains Mono"/>
              </a:rPr>
              <a:t>[PLACEHOLDER] / mois</a:t>
            </a:r>
          </a:p>
          <a:p>
            <a:pPr algn="ctr">
              <a:spcBef>
                <a:spcPts val="0"/>
              </a:spcBef>
              <a:spcAft>
                <a:spcPts val="0"/>
              </a:spcAft>
            </a:pPr>
            <a:r>
              <a:rPr sz="1250" b="0" i="0">
                <a:solidFill>
                  <a:srgbClr val="EEF0FF"/>
                </a:solidFill>
                <a:latin typeface="Inter"/>
              </a:rPr>
              <a:t>Déploiement assisté + monitoring + recalibration + négociation vendor. Exit bundle premium.</a:t>
            </a:r>
          </a:p>
        </p:txBody>
      </p:sp>
      <p:sp>
        <p:nvSpPr>
          <p:cNvPr id="9" name="Rounded Rectangle 8"/>
          <p:cNvSpPr/>
          <p:nvPr/>
        </p:nvSpPr>
        <p:spPr>
          <a:xfrm>
            <a:off x="8001000" y="2971800"/>
            <a:ext cx="3383280" cy="2743200"/>
          </a:xfrm>
          <a:prstGeom prst="roundRect">
            <a:avLst>
              <a:gd name="adj" fmla="val 6000"/>
            </a:avLst>
          </a:prstGeom>
          <a:solidFill>
            <a:srgbClr val="7D5400"/>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82880" tIns="201168" rIns="182880" rtlCol="0" anchor="t"/>
          <a:lstStyle/>
          <a:p>
            <a:pPr algn="ctr">
              <a:spcBef>
                <a:spcPts val="0"/>
              </a:spcBef>
              <a:spcAft>
                <a:spcPts val="400"/>
              </a:spcAft>
            </a:pPr>
            <a:r>
              <a:rPr sz="1800" b="1" i="0">
                <a:solidFill>
                  <a:srgbClr val="FFFFFF"/>
                </a:solidFill>
                <a:latin typeface="Space Grotesk"/>
              </a:rPr>
              <a:t>Souverain+</a:t>
            </a:r>
          </a:p>
          <a:p>
            <a:pPr algn="ctr">
              <a:spcBef>
                <a:spcPts val="0"/>
              </a:spcBef>
              <a:spcAft>
                <a:spcPts val="1000"/>
              </a:spcAft>
            </a:pPr>
            <a:r>
              <a:rPr sz="2000" b="1" i="0">
                <a:solidFill>
                  <a:srgbClr val="FFFFFF"/>
                </a:solidFill>
                <a:latin typeface="JetBrains Mono"/>
              </a:rPr>
              <a:t>Sur devis</a:t>
            </a:r>
          </a:p>
          <a:p>
            <a:pPr algn="ctr">
              <a:spcBef>
                <a:spcPts val="0"/>
              </a:spcBef>
              <a:spcAft>
                <a:spcPts val="0"/>
              </a:spcAft>
            </a:pPr>
            <a:r>
              <a:rPr sz="1250" b="0" i="0">
                <a:solidFill>
                  <a:srgbClr val="EEF0FF"/>
                </a:solidFill>
                <a:latin typeface="Inter"/>
              </a:rPr>
              <a:t>On-prem / air-gapped, gouvernance avancée, support dédié + SLA, multi-région (à venir).</a:t>
            </a:r>
          </a:p>
        </p:txBody>
      </p:sp>
      <p:sp>
        <p:nvSpPr>
          <p:cNvPr id="10" name="TextBox 9"/>
          <p:cNvSpPr txBox="1"/>
          <p:nvPr/>
        </p:nvSpPr>
        <p:spPr>
          <a:xfrm>
            <a:off x="777240" y="6446520"/>
            <a:ext cx="10607040" cy="274320"/>
          </a:xfrm>
          <a:prstGeom prst="rect">
            <a:avLst/>
          </a:prstGeom>
          <a:noFill/>
        </p:spPr>
        <p:txBody>
          <a:bodyPr wrap="square" lIns="0" tIns="0" rIns="0" bIns="0" anchor="t">
            <a:spAutoFit/>
          </a:bodyPr>
          <a:lstStyle/>
          <a:p>
            <a:pPr algn="l"/>
            <a:r>
              <a:rPr sz="900" b="0" i="0">
                <a:solidFill>
                  <a:srgbClr val="BCC9C6"/>
                </a:solidFill>
                <a:latin typeface="JetBrains Mono"/>
              </a:rPr>
              <a:t>Strate · Business model</a:t>
            </a:r>
          </a:p>
        </p:txBody>
      </p:sp>
      <p:sp>
        <p:nvSpPr>
          <p:cNvPr id="11" name="TextBox 10"/>
          <p:cNvSpPr txBox="1"/>
          <p:nvPr/>
        </p:nvSpPr>
        <p:spPr>
          <a:xfrm>
            <a:off x="10789920" y="6446520"/>
            <a:ext cx="594360" cy="274320"/>
          </a:xfrm>
          <a:prstGeom prst="rect">
            <a:avLst/>
          </a:prstGeom>
          <a:noFill/>
        </p:spPr>
        <p:txBody>
          <a:bodyPr wrap="square" lIns="0" tIns="0" rIns="0" bIns="0" anchor="t">
            <a:spAutoFit/>
          </a:bodyPr>
          <a:lstStyle/>
          <a:p>
            <a:pPr algn="r"/>
            <a:r>
              <a:rPr sz="900" b="0" i="0">
                <a:solidFill>
                  <a:srgbClr val="BCC9C6"/>
                </a:solidFill>
                <a:latin typeface="JetBrains Mono"/>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8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9D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02920"/>
            <a:ext cx="10607040" cy="320040"/>
          </a:xfrm>
          <a:prstGeom prst="rect">
            <a:avLst/>
          </a:prstGeom>
          <a:noFill/>
        </p:spPr>
        <p:txBody>
          <a:bodyPr wrap="square" lIns="0" tIns="0" rIns="0" bIns="0" anchor="t">
            <a:spAutoFit/>
          </a:bodyPr>
          <a:lstStyle/>
          <a:p>
            <a:pPr algn="l">
              <a:spcBef>
                <a:spcPts val="0"/>
              </a:spcBef>
              <a:spcAft>
                <a:spcPts val="600"/>
              </a:spcAft>
            </a:pPr>
            <a:r>
              <a:rPr sz="1250" b="1" i="0" spc="140">
                <a:solidFill>
                  <a:srgbClr val="7D5400"/>
                </a:solidFill>
                <a:latin typeface="Inter"/>
              </a:rPr>
              <a:t>STRATÉGIE DE PRIX · 2/2</a:t>
            </a:r>
          </a:p>
        </p:txBody>
      </p:sp>
      <p:sp>
        <p:nvSpPr>
          <p:cNvPr id="4" name="TextBox 3"/>
          <p:cNvSpPr txBox="1"/>
          <p:nvPr/>
        </p:nvSpPr>
        <p:spPr>
          <a:xfrm>
            <a:off x="777240" y="841248"/>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31B2E"/>
                </a:solidFill>
                <a:latin typeface="Space Grotesk"/>
              </a:rPr>
              <a:t>Caler le prix : la méthode, pas le doigt mouillé</a:t>
            </a:r>
          </a:p>
        </p:txBody>
      </p:sp>
      <p:sp>
        <p:nvSpPr>
          <p:cNvPr id="5" name="Rectangle 4"/>
          <p:cNvSpPr/>
          <p:nvPr/>
        </p:nvSpPr>
        <p:spPr>
          <a:xfrm>
            <a:off x="777240" y="1627632"/>
            <a:ext cx="10607040" cy="17780"/>
          </a:xfrm>
          <a:prstGeom prst="rect">
            <a:avLst/>
          </a:prstGeom>
          <a:solidFill>
            <a:srgbClr val="BCC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77240" y="1828800"/>
            <a:ext cx="5212080" cy="4160520"/>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64592" tIns="146304" rIns="164592" bIns="128016" rtlCol="0" anchor="t"/>
          <a:lstStyle/>
          <a:p>
            <a:pPr algn="l">
              <a:spcBef>
                <a:spcPts val="200"/>
              </a:spcBef>
              <a:spcAft>
                <a:spcPts val="900"/>
              </a:spcAft>
            </a:pPr>
            <a:r>
              <a:rPr sz="1600" b="1" i="0">
                <a:solidFill>
                  <a:srgbClr val="00685F"/>
                </a:solidFill>
                <a:latin typeface="Space Grotesk"/>
              </a:rPr>
              <a:t>Méthode (en cours)</a:t>
            </a:r>
          </a:p>
          <a:p>
            <a:pPr algn="l">
              <a:spcBef>
                <a:spcPts val="0"/>
              </a:spcBef>
              <a:spcAft>
                <a:spcPts val="800"/>
              </a:spcAft>
            </a:pPr>
            <a:r>
              <a:rPr sz="1250" b="0" i="0">
                <a:solidFill>
                  <a:srgbClr val="3D4947"/>
                </a:solidFill>
                <a:latin typeface="Inter"/>
              </a:rPr>
              <a:t>Van Westendorp (10-15 prospects) → fourchette acceptable [PMC … PME], OPP, IPP.</a:t>
            </a:r>
          </a:p>
          <a:p>
            <a:pPr algn="l">
              <a:spcBef>
                <a:spcPts val="0"/>
              </a:spcBef>
              <a:spcAft>
                <a:spcPts val="800"/>
              </a:spcAft>
            </a:pPr>
            <a:r>
              <a:rPr sz="1250" b="0" i="0">
                <a:solidFill>
                  <a:srgbClr val="3D4947"/>
                </a:solidFill>
                <a:latin typeface="Inter"/>
              </a:rPr>
              <a:t>Conjoint CBC (30-50 répondants) → quels attributs portent le prix + prix optimal par palier.</a:t>
            </a:r>
          </a:p>
          <a:p>
            <a:pPr algn="l">
              <a:spcBef>
                <a:spcPts val="0"/>
              </a:spcBef>
              <a:spcAft>
                <a:spcPts val="800"/>
              </a:spcAft>
            </a:pPr>
            <a:r>
              <a:rPr sz="1250" b="0" i="0">
                <a:solidFill>
                  <a:srgbClr val="3D4947"/>
                </a:solidFill>
                <a:latin typeface="Inter"/>
              </a:rPr>
              <a:t>Question d'intention (Q5) → corrige l'optimisme déclaratif.</a:t>
            </a:r>
          </a:p>
          <a:p>
            <a:pPr algn="l">
              <a:spcBef>
                <a:spcPts val="0"/>
              </a:spcBef>
              <a:spcAft>
                <a:spcPts val="200"/>
              </a:spcAft>
            </a:pPr>
            <a:r>
              <a:rPr sz="1250" b="0" i="0">
                <a:solidFill>
                  <a:srgbClr val="3D4947"/>
                </a:solidFill>
                <a:latin typeface="Inter"/>
              </a:rPr>
              <a:t>Seuil de figeage : ≥ 15 réponses VW + ≥ 30 conjoint avant de fixer.</a:t>
            </a:r>
          </a:p>
        </p:txBody>
      </p:sp>
      <p:sp>
        <p:nvSpPr>
          <p:cNvPr id="7" name="Rounded Rectangle 6"/>
          <p:cNvSpPr/>
          <p:nvPr/>
        </p:nvSpPr>
        <p:spPr>
          <a:xfrm>
            <a:off x="6172200" y="1828800"/>
            <a:ext cx="5212080" cy="4160520"/>
          </a:xfrm>
          <a:prstGeom prst="roundRect">
            <a:avLst>
              <a:gd name="adj" fmla="val 6000"/>
            </a:avLst>
          </a:prstGeom>
          <a:solidFill>
            <a:srgbClr val="F2F3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64592" tIns="146304" rIns="164592" bIns="128016" rtlCol="0" anchor="t"/>
          <a:lstStyle/>
          <a:p>
            <a:pPr algn="l">
              <a:spcBef>
                <a:spcPts val="200"/>
              </a:spcBef>
              <a:spcAft>
                <a:spcPts val="900"/>
              </a:spcAft>
            </a:pPr>
            <a:r>
              <a:rPr sz="1600" b="1" i="0">
                <a:solidFill>
                  <a:srgbClr val="7D5400"/>
                </a:solidFill>
                <a:latin typeface="Space Grotesk"/>
              </a:rPr>
              <a:t>Modèles de revenu candidats</a:t>
            </a:r>
          </a:p>
          <a:p>
            <a:pPr algn="l">
              <a:spcBef>
                <a:spcPts val="0"/>
              </a:spcBef>
              <a:spcAft>
                <a:spcPts val="800"/>
              </a:spcAft>
            </a:pPr>
            <a:r>
              <a:rPr sz="1250" b="0" i="0">
                <a:solidFill>
                  <a:srgbClr val="3D4947"/>
                </a:solidFill>
                <a:latin typeface="Inter"/>
              </a:rPr>
              <a:t>Abonnement (forfait service /mois) — base, prévisible.</a:t>
            </a:r>
          </a:p>
          <a:p>
            <a:pPr algn="l">
              <a:spcBef>
                <a:spcPts val="0"/>
              </a:spcBef>
              <a:spcAft>
                <a:spcPts val="800"/>
              </a:spcAft>
            </a:pPr>
            <a:r>
              <a:rPr sz="1250" b="0" i="0">
                <a:solidFill>
                  <a:srgbClr val="3D4947"/>
                </a:solidFill>
                <a:latin typeface="Inter"/>
              </a:rPr>
              <a:t>Setup + run (mise en route one-time + récurrent).</a:t>
            </a:r>
          </a:p>
          <a:p>
            <a:pPr algn="l">
              <a:spcBef>
                <a:spcPts val="0"/>
              </a:spcBef>
              <a:spcAft>
                <a:spcPts val="800"/>
              </a:spcAft>
            </a:pPr>
            <a:r>
              <a:rPr sz="1250" b="0" i="0">
                <a:solidFill>
                  <a:srgbClr val="3D4947"/>
                </a:solidFill>
                <a:latin typeface="Inter"/>
              </a:rPr>
              <a:t>À l'usage / value-based (négo vendor : part de l'économie générée).</a:t>
            </a:r>
          </a:p>
          <a:p>
            <a:pPr algn="l">
              <a:spcBef>
                <a:spcPts val="0"/>
              </a:spcBef>
              <a:spcAft>
                <a:spcPts val="200"/>
              </a:spcAft>
            </a:pPr>
            <a:r>
              <a:rPr sz="1250" b="0" i="0">
                <a:solidFill>
                  <a:srgbClr val="3D4947"/>
                </a:solidFill>
                <a:latin typeface="Inter"/>
              </a:rPr>
              <a:t>Attributs de valeur (conjoint) : on-prem, recalibration/négo, support dédié.</a:t>
            </a:r>
          </a:p>
        </p:txBody>
      </p:sp>
      <p:sp>
        <p:nvSpPr>
          <p:cNvPr id="8" name="TextBox 7"/>
          <p:cNvSpPr txBox="1"/>
          <p:nvPr/>
        </p:nvSpPr>
        <p:spPr>
          <a:xfrm>
            <a:off x="777240" y="6126480"/>
            <a:ext cx="10607040" cy="365760"/>
          </a:xfrm>
          <a:prstGeom prst="rect">
            <a:avLst/>
          </a:prstGeom>
          <a:noFill/>
        </p:spPr>
        <p:txBody>
          <a:bodyPr wrap="square" lIns="0" tIns="0" rIns="0" bIns="0" anchor="t">
            <a:spAutoFit/>
          </a:bodyPr>
          <a:lstStyle/>
          <a:p>
            <a:pPr algn="l">
              <a:spcBef>
                <a:spcPts val="0"/>
              </a:spcBef>
              <a:spcAft>
                <a:spcPts val="600"/>
              </a:spcAft>
            </a:pPr>
            <a:r>
              <a:rPr sz="1100" b="0" i="0">
                <a:solidFill>
                  <a:srgbClr val="BA1A1A"/>
                </a:solidFill>
                <a:latin typeface="JetBrains Mono"/>
              </a:rPr>
              <a:t>Prix de vente Strate = [PLACEHOLDER] tant que le sondage n'a pas atteint ses seuils. Aucune fourchette ferme présentée ici — c'est une décision à trancher après données.</a:t>
            </a:r>
          </a:p>
        </p:txBody>
      </p:sp>
      <p:sp>
        <p:nvSpPr>
          <p:cNvPr id="9" name="TextBox 8"/>
          <p:cNvSpPr txBox="1"/>
          <p:nvPr/>
        </p:nvSpPr>
        <p:spPr>
          <a:xfrm>
            <a:off x="777240" y="6446520"/>
            <a:ext cx="10607040" cy="274320"/>
          </a:xfrm>
          <a:prstGeom prst="rect">
            <a:avLst/>
          </a:prstGeom>
          <a:noFill/>
        </p:spPr>
        <p:txBody>
          <a:bodyPr wrap="square" lIns="0" tIns="0" rIns="0" bIns="0" anchor="t">
            <a:spAutoFit/>
          </a:bodyPr>
          <a:lstStyle/>
          <a:p>
            <a:pPr algn="l"/>
            <a:r>
              <a:rPr sz="900" b="0" i="0">
                <a:solidFill>
                  <a:srgbClr val="BCC9C6"/>
                </a:solidFill>
                <a:latin typeface="JetBrains Mono"/>
              </a:rPr>
              <a:t>Strate · Business model</a:t>
            </a:r>
          </a:p>
        </p:txBody>
      </p:sp>
      <p:sp>
        <p:nvSpPr>
          <p:cNvPr id="10" name="TextBox 9"/>
          <p:cNvSpPr txBox="1"/>
          <p:nvPr/>
        </p:nvSpPr>
        <p:spPr>
          <a:xfrm>
            <a:off x="10789920" y="6446520"/>
            <a:ext cx="594360" cy="274320"/>
          </a:xfrm>
          <a:prstGeom prst="rect">
            <a:avLst/>
          </a:prstGeom>
          <a:noFill/>
        </p:spPr>
        <p:txBody>
          <a:bodyPr wrap="square" lIns="0" tIns="0" rIns="0" bIns="0" anchor="t">
            <a:spAutoFit/>
          </a:bodyPr>
          <a:lstStyle/>
          <a:p>
            <a:pPr algn="r"/>
            <a:r>
              <a:rPr sz="900" b="0" i="0">
                <a:solidFill>
                  <a:srgbClr val="BCC9C6"/>
                </a:solidFill>
                <a:latin typeface="JetBrains Mono"/>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8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005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02920"/>
            <a:ext cx="10607040" cy="320040"/>
          </a:xfrm>
          <a:prstGeom prst="rect">
            <a:avLst/>
          </a:prstGeom>
          <a:noFill/>
        </p:spPr>
        <p:txBody>
          <a:bodyPr wrap="square" lIns="0" tIns="0" rIns="0" bIns="0" anchor="t">
            <a:spAutoFit/>
          </a:bodyPr>
          <a:lstStyle/>
          <a:p>
            <a:pPr algn="l">
              <a:spcBef>
                <a:spcPts val="0"/>
              </a:spcBef>
              <a:spcAft>
                <a:spcPts val="600"/>
              </a:spcAft>
            </a:pPr>
            <a:r>
              <a:rPr sz="1250" b="1" i="0" spc="140">
                <a:solidFill>
                  <a:srgbClr val="0051D5"/>
                </a:solidFill>
                <a:latin typeface="Inter"/>
              </a:rPr>
              <a:t>STRATÉGIE DE COMMUNICATION</a:t>
            </a:r>
          </a:p>
        </p:txBody>
      </p:sp>
      <p:sp>
        <p:nvSpPr>
          <p:cNvPr id="4" name="TextBox 3"/>
          <p:cNvSpPr txBox="1"/>
          <p:nvPr/>
        </p:nvSpPr>
        <p:spPr>
          <a:xfrm>
            <a:off x="777240" y="841248"/>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31B2E"/>
                </a:solidFill>
                <a:latin typeface="Space Grotesk"/>
              </a:rPr>
              <a:t>Un récit de souveraineté, prouvé par l'exit</a:t>
            </a:r>
          </a:p>
        </p:txBody>
      </p:sp>
      <p:sp>
        <p:nvSpPr>
          <p:cNvPr id="5" name="Rectangle 4"/>
          <p:cNvSpPr/>
          <p:nvPr/>
        </p:nvSpPr>
        <p:spPr>
          <a:xfrm>
            <a:off x="777240" y="1627632"/>
            <a:ext cx="10607040" cy="17780"/>
          </a:xfrm>
          <a:prstGeom prst="rect">
            <a:avLst/>
          </a:prstGeom>
          <a:solidFill>
            <a:srgbClr val="BCC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828800"/>
            <a:ext cx="10607040" cy="777240"/>
          </a:xfrm>
          <a:prstGeom prst="rect">
            <a:avLst/>
          </a:prstGeom>
          <a:noFill/>
        </p:spPr>
        <p:txBody>
          <a:bodyPr wrap="square" lIns="0" tIns="0" rIns="0" bIns="0" anchor="t">
            <a:spAutoFit/>
          </a:bodyPr>
          <a:lstStyle/>
          <a:p>
            <a:pPr algn="l">
              <a:spcBef>
                <a:spcPts val="0"/>
              </a:spcBef>
              <a:spcAft>
                <a:spcPts val="600"/>
              </a:spcAft>
            </a:pPr>
            <a:r>
              <a:rPr sz="1800" b="1" i="1">
                <a:solidFill>
                  <a:srgbClr val="0051D5"/>
                </a:solidFill>
                <a:latin typeface="Space Grotesk"/>
              </a:rPr>
              <a:t>« Votre mémoire d'organisation, souveraine et réversible. Repartez avec toute votre stack quand vous voulez. »</a:t>
            </a:r>
          </a:p>
        </p:txBody>
      </p:sp>
      <p:sp>
        <p:nvSpPr>
          <p:cNvPr id="7" name="Rounded Rectangle 6"/>
          <p:cNvSpPr/>
          <p:nvPr/>
        </p:nvSpPr>
        <p:spPr>
          <a:xfrm>
            <a:off x="777240" y="2743200"/>
            <a:ext cx="3383280" cy="3063240"/>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64592" tIns="219456" rIns="164592" rtlCol="0" anchor="ctr"/>
          <a:lstStyle/>
          <a:p>
            <a:pPr algn="l">
              <a:spcBef>
                <a:spcPts val="0"/>
              </a:spcBef>
              <a:spcAft>
                <a:spcPts val="900"/>
              </a:spcAft>
            </a:pPr>
            <a:r>
              <a:rPr sz="1500" b="1" i="0">
                <a:solidFill>
                  <a:srgbClr val="131B2E"/>
                </a:solidFill>
                <a:latin typeface="Space Grotesk"/>
              </a:rPr>
              <a:t>Récit de marque</a:t>
            </a:r>
          </a:p>
          <a:p>
            <a:pPr>
              <a:lnSpc>
                <a:spcPct val="108000"/>
              </a:lnSpc>
              <a:spcAft>
                <a:spcPts val="800"/>
              </a:spcAft>
            </a:pPr>
            <a:r>
              <a:rPr sz="1200" b="1" i="0">
                <a:solidFill>
                  <a:srgbClr val="00685F"/>
                </a:solidFill>
                <a:latin typeface="Inter"/>
              </a:rPr>
              <a:t>—  </a:t>
            </a:r>
            <a:r>
              <a:rPr sz="1200" b="0" i="0">
                <a:solidFill>
                  <a:srgbClr val="3D4947"/>
                </a:solidFill>
                <a:latin typeface="Inter"/>
              </a:rPr>
              <a:t>Souveraineté (vos données, votre loi).</a:t>
            </a:r>
          </a:p>
          <a:p>
            <a:pPr>
              <a:lnSpc>
                <a:spcPct val="108000"/>
              </a:lnSpc>
              <a:spcAft>
                <a:spcPts val="800"/>
              </a:spcAft>
            </a:pPr>
            <a:r>
              <a:rPr sz="1200" b="1" i="0">
                <a:solidFill>
                  <a:srgbClr val="00685F"/>
                </a:solidFill>
                <a:latin typeface="Inter"/>
              </a:rPr>
              <a:t>—  </a:t>
            </a:r>
            <a:r>
              <a:rPr sz="1200" b="0" i="0">
                <a:solidFill>
                  <a:srgbClr val="3D4947"/>
                </a:solidFill>
                <a:latin typeface="Inter"/>
              </a:rPr>
              <a:t>Fiduciaire (zéro commission cachée).</a:t>
            </a:r>
          </a:p>
          <a:p>
            <a:pPr>
              <a:lnSpc>
                <a:spcPct val="108000"/>
              </a:lnSpc>
              <a:spcAft>
                <a:spcPts val="800"/>
              </a:spcAft>
            </a:pPr>
            <a:r>
              <a:rPr sz="1200" b="1" i="0">
                <a:solidFill>
                  <a:srgbClr val="00685F"/>
                </a:solidFill>
                <a:latin typeface="Inter"/>
              </a:rPr>
              <a:t>—  </a:t>
            </a:r>
            <a:r>
              <a:rPr sz="1200" b="0" i="0">
                <a:solidFill>
                  <a:srgbClr val="3D4947"/>
                </a:solidFill>
                <a:latin typeface="Inter"/>
              </a:rPr>
              <a:t>Anti-lock-in (sortie certifiée).</a:t>
            </a:r>
          </a:p>
          <a:p>
            <a:pPr>
              <a:lnSpc>
                <a:spcPct val="108000"/>
              </a:lnSpc>
              <a:spcAft>
                <a:spcPts val="800"/>
              </a:spcAft>
            </a:pPr>
            <a:r>
              <a:rPr sz="1200" b="1" i="0">
                <a:solidFill>
                  <a:srgbClr val="00685F"/>
                </a:solidFill>
                <a:latin typeface="Inter"/>
              </a:rPr>
              <a:t>—  </a:t>
            </a:r>
            <a:r>
              <a:rPr sz="1200" b="0" i="0">
                <a:solidFill>
                  <a:srgbClr val="3D4947"/>
                </a:solidFill>
                <a:latin typeface="Inter"/>
              </a:rPr>
              <a:t>Transparence radicale des coûts.</a:t>
            </a:r>
          </a:p>
        </p:txBody>
      </p:sp>
      <p:sp>
        <p:nvSpPr>
          <p:cNvPr id="8" name="Rectangle 7"/>
          <p:cNvSpPr/>
          <p:nvPr/>
        </p:nvSpPr>
        <p:spPr>
          <a:xfrm>
            <a:off x="777240" y="2743200"/>
            <a:ext cx="3383280" cy="82296"/>
          </a:xfrm>
          <a:prstGeom prst="rect">
            <a:avLst/>
          </a:prstGeom>
          <a:solidFill>
            <a:srgbClr val="006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389120" y="2743200"/>
            <a:ext cx="3383280" cy="3063240"/>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64592" tIns="219456" rIns="164592" rtlCol="0" anchor="ctr"/>
          <a:lstStyle/>
          <a:p>
            <a:pPr algn="l">
              <a:spcBef>
                <a:spcPts val="0"/>
              </a:spcBef>
              <a:spcAft>
                <a:spcPts val="900"/>
              </a:spcAft>
            </a:pPr>
            <a:r>
              <a:rPr sz="1500" b="1" i="0">
                <a:solidFill>
                  <a:srgbClr val="131B2E"/>
                </a:solidFill>
                <a:latin typeface="Space Grotesk"/>
              </a:rPr>
              <a:t>Régime de preuve</a:t>
            </a:r>
          </a:p>
          <a:p>
            <a:pPr>
              <a:lnSpc>
                <a:spcPct val="108000"/>
              </a:lnSpc>
              <a:spcAft>
                <a:spcPts val="800"/>
              </a:spcAft>
            </a:pPr>
            <a:r>
              <a:rPr sz="1200" b="1" i="0">
                <a:solidFill>
                  <a:srgbClr val="7D5400"/>
                </a:solidFill>
                <a:latin typeface="Inter"/>
              </a:rPr>
              <a:t>—  </a:t>
            </a:r>
            <a:r>
              <a:rPr sz="1200" b="0" i="0">
                <a:solidFill>
                  <a:srgbClr val="3D4947"/>
                </a:solidFill>
                <a:latin typeface="Inter"/>
              </a:rPr>
              <a:t>DURE : Exit Escrow (testable) + charte fiduciaire.</a:t>
            </a:r>
          </a:p>
          <a:p>
            <a:pPr>
              <a:lnSpc>
                <a:spcPct val="108000"/>
              </a:lnSpc>
              <a:spcAft>
                <a:spcPts val="800"/>
              </a:spcAft>
            </a:pPr>
            <a:r>
              <a:rPr sz="1200" b="1" i="0">
                <a:solidFill>
                  <a:srgbClr val="7D5400"/>
                </a:solidFill>
                <a:latin typeface="Inter"/>
              </a:rPr>
              <a:t>—  </a:t>
            </a:r>
            <a:r>
              <a:rPr sz="1200" b="0" i="0">
                <a:solidFill>
                  <a:srgbClr val="3D4947"/>
                </a:solidFill>
                <a:latin typeface="Inter"/>
              </a:rPr>
              <a:t>MOLLE : gain de temps / qualité = « à mesurer chez vous ».</a:t>
            </a:r>
          </a:p>
          <a:p>
            <a:pPr>
              <a:lnSpc>
                <a:spcPct val="108000"/>
              </a:lnSpc>
              <a:spcAft>
                <a:spcPts val="800"/>
              </a:spcAft>
            </a:pPr>
            <a:r>
              <a:rPr sz="1200" b="1" i="0">
                <a:solidFill>
                  <a:srgbClr val="7D5400"/>
                </a:solidFill>
                <a:latin typeface="Inter"/>
              </a:rPr>
              <a:t>—  </a:t>
            </a:r>
            <a:r>
              <a:rPr sz="1200" b="0" i="0">
                <a:solidFill>
                  <a:srgbClr val="3D4947"/>
                </a:solidFill>
                <a:latin typeface="Inter"/>
              </a:rPr>
              <a:t>Jamais de stat inventée (DÉFCON 1).</a:t>
            </a:r>
          </a:p>
        </p:txBody>
      </p:sp>
      <p:sp>
        <p:nvSpPr>
          <p:cNvPr id="10" name="Rectangle 9"/>
          <p:cNvSpPr/>
          <p:nvPr/>
        </p:nvSpPr>
        <p:spPr>
          <a:xfrm>
            <a:off x="4389120" y="2743200"/>
            <a:ext cx="3383280" cy="82296"/>
          </a:xfrm>
          <a:prstGeom prst="rect">
            <a:avLst/>
          </a:prstGeom>
          <a:solidFill>
            <a:srgbClr val="7D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001000" y="2743200"/>
            <a:ext cx="3383280" cy="3063240"/>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64592" tIns="219456" rIns="164592" rtlCol="0" anchor="ctr"/>
          <a:lstStyle/>
          <a:p>
            <a:pPr algn="l">
              <a:spcBef>
                <a:spcPts val="0"/>
              </a:spcBef>
              <a:spcAft>
                <a:spcPts val="900"/>
              </a:spcAft>
            </a:pPr>
            <a:r>
              <a:rPr sz="1500" b="1" i="0">
                <a:solidFill>
                  <a:srgbClr val="131B2E"/>
                </a:solidFill>
                <a:latin typeface="Space Grotesk"/>
              </a:rPr>
              <a:t>Messages par segment</a:t>
            </a:r>
          </a:p>
          <a:p>
            <a:pPr>
              <a:lnSpc>
                <a:spcPct val="108000"/>
              </a:lnSpc>
              <a:spcAft>
                <a:spcPts val="800"/>
              </a:spcAft>
            </a:pPr>
            <a:r>
              <a:rPr sz="1200" b="1" i="0">
                <a:solidFill>
                  <a:srgbClr val="0051D5"/>
                </a:solidFill>
                <a:latin typeface="Inter"/>
              </a:rPr>
              <a:t>—  </a:t>
            </a:r>
            <a:r>
              <a:rPr sz="1200" b="0" i="0">
                <a:solidFill>
                  <a:srgbClr val="3D4947"/>
                </a:solidFill>
                <a:latin typeface="Inter"/>
              </a:rPr>
              <a:t>P1 : votre base, revendable, à vous.</a:t>
            </a:r>
          </a:p>
          <a:p>
            <a:pPr>
              <a:lnSpc>
                <a:spcPct val="108000"/>
              </a:lnSpc>
              <a:spcAft>
                <a:spcPts val="800"/>
              </a:spcAft>
            </a:pPr>
            <a:r>
              <a:rPr sz="1200" b="1" i="0">
                <a:solidFill>
                  <a:srgbClr val="0051D5"/>
                </a:solidFill>
                <a:latin typeface="Inter"/>
              </a:rPr>
              <a:t>—  </a:t>
            </a:r>
            <a:r>
              <a:rPr sz="1200" b="0" i="0">
                <a:solidFill>
                  <a:srgbClr val="3D4947"/>
                </a:solidFill>
                <a:latin typeface="Inter"/>
              </a:rPr>
              <a:t>P2 : conformité + vitesse, sans intégrateur.</a:t>
            </a:r>
          </a:p>
          <a:p>
            <a:pPr>
              <a:lnSpc>
                <a:spcPct val="108000"/>
              </a:lnSpc>
              <a:spcAft>
                <a:spcPts val="800"/>
              </a:spcAft>
            </a:pPr>
            <a:r>
              <a:rPr sz="1200" b="1" i="0">
                <a:solidFill>
                  <a:srgbClr val="0051D5"/>
                </a:solidFill>
                <a:latin typeface="Inter"/>
              </a:rPr>
              <a:t>—  </a:t>
            </a:r>
            <a:r>
              <a:rPr sz="1200" b="0" i="0">
                <a:solidFill>
                  <a:srgbClr val="3D4947"/>
                </a:solidFill>
                <a:latin typeface="Inter"/>
              </a:rPr>
              <a:t>P4 : secret pro, audit, preset HARD.</a:t>
            </a:r>
          </a:p>
        </p:txBody>
      </p:sp>
      <p:sp>
        <p:nvSpPr>
          <p:cNvPr id="12" name="Rectangle 11"/>
          <p:cNvSpPr/>
          <p:nvPr/>
        </p:nvSpPr>
        <p:spPr>
          <a:xfrm>
            <a:off x="8001000" y="2743200"/>
            <a:ext cx="3383280" cy="82296"/>
          </a:xfrm>
          <a:prstGeom prst="rect">
            <a:avLst/>
          </a:prstGeom>
          <a:solidFill>
            <a:srgbClr val="005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6446520"/>
            <a:ext cx="10607040" cy="274320"/>
          </a:xfrm>
          <a:prstGeom prst="rect">
            <a:avLst/>
          </a:prstGeom>
          <a:noFill/>
        </p:spPr>
        <p:txBody>
          <a:bodyPr wrap="square" lIns="0" tIns="0" rIns="0" bIns="0" anchor="t">
            <a:spAutoFit/>
          </a:bodyPr>
          <a:lstStyle/>
          <a:p>
            <a:pPr algn="l"/>
            <a:r>
              <a:rPr sz="900" b="0" i="0">
                <a:solidFill>
                  <a:srgbClr val="BCC9C6"/>
                </a:solidFill>
                <a:latin typeface="JetBrains Mono"/>
              </a:rPr>
              <a:t>Strate · Business model</a:t>
            </a:r>
          </a:p>
        </p:txBody>
      </p:sp>
      <p:sp>
        <p:nvSpPr>
          <p:cNvPr id="14" name="TextBox 13"/>
          <p:cNvSpPr txBox="1"/>
          <p:nvPr/>
        </p:nvSpPr>
        <p:spPr>
          <a:xfrm>
            <a:off x="10789920" y="6446520"/>
            <a:ext cx="594360" cy="274320"/>
          </a:xfrm>
          <a:prstGeom prst="rect">
            <a:avLst/>
          </a:prstGeom>
          <a:noFill/>
        </p:spPr>
        <p:txBody>
          <a:bodyPr wrap="square" lIns="0" tIns="0" rIns="0" bIns="0" anchor="t">
            <a:spAutoFit/>
          </a:bodyPr>
          <a:lstStyle/>
          <a:p>
            <a:pPr algn="r"/>
            <a:r>
              <a:rPr sz="900" b="0" i="0">
                <a:solidFill>
                  <a:srgbClr val="BCC9C6"/>
                </a:solidFill>
                <a:latin typeface="JetBrains Mono"/>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83044"/>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9D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02920"/>
            <a:ext cx="10607040" cy="320040"/>
          </a:xfrm>
          <a:prstGeom prst="rect">
            <a:avLst/>
          </a:prstGeom>
          <a:noFill/>
        </p:spPr>
        <p:txBody>
          <a:bodyPr wrap="square" lIns="0" tIns="0" rIns="0" bIns="0" anchor="t">
            <a:spAutoFit/>
          </a:bodyPr>
          <a:lstStyle/>
          <a:p>
            <a:pPr algn="l">
              <a:spcBef>
                <a:spcPts val="0"/>
              </a:spcBef>
              <a:spcAft>
                <a:spcPts val="600"/>
              </a:spcAft>
            </a:pPr>
            <a:r>
              <a:rPr sz="1250" b="1" i="0" spc="140">
                <a:solidFill>
                  <a:srgbClr val="FFBA46"/>
                </a:solidFill>
                <a:latin typeface="Inter"/>
              </a:rPr>
              <a:t>P&amp;L PRÉVISIONNEL · 1/3</a:t>
            </a:r>
          </a:p>
        </p:txBody>
      </p:sp>
      <p:sp>
        <p:nvSpPr>
          <p:cNvPr id="4" name="TextBox 3"/>
          <p:cNvSpPr txBox="1"/>
          <p:nvPr/>
        </p:nvSpPr>
        <p:spPr>
          <a:xfrm>
            <a:off x="777240" y="841248"/>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FFFFFF"/>
                </a:solidFill>
                <a:latin typeface="Space Grotesk"/>
              </a:rPr>
              <a:t>Modèle financier — tout est HYPOTHÈSE</a:t>
            </a:r>
          </a:p>
        </p:txBody>
      </p:sp>
      <p:sp>
        <p:nvSpPr>
          <p:cNvPr id="5" name="Rectangle 4"/>
          <p:cNvSpPr/>
          <p:nvPr/>
        </p:nvSpPr>
        <p:spPr>
          <a:xfrm>
            <a:off x="777240" y="1627632"/>
            <a:ext cx="10607040" cy="17780"/>
          </a:xfrm>
          <a:prstGeom prst="rect">
            <a:avLst/>
          </a:prstGeom>
          <a:solidFill>
            <a:srgbClr val="4A5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920240"/>
            <a:ext cx="10607040" cy="822960"/>
          </a:xfrm>
          <a:prstGeom prst="rect">
            <a:avLst/>
          </a:prstGeom>
          <a:noFill/>
        </p:spPr>
        <p:txBody>
          <a:bodyPr wrap="square" lIns="0" tIns="0" rIns="0" bIns="0" anchor="t">
            <a:spAutoFit/>
          </a:bodyPr>
          <a:lstStyle/>
          <a:p>
            <a:pPr algn="l">
              <a:spcBef>
                <a:spcPts val="0"/>
              </a:spcBef>
              <a:spcAft>
                <a:spcPts val="600"/>
              </a:spcAft>
            </a:pPr>
            <a:r>
              <a:rPr sz="1500" b="0" i="1">
                <a:solidFill>
                  <a:srgbClr val="FFBA46"/>
                </a:solidFill>
                <a:latin typeface="Inter"/>
              </a:rPr>
              <a:t>Aucun chiffre des 3 prochaines slides n'est une prévision. Ce sont des DRIVERS et des scénarios pour raisonner — à valider par le sondage et les premières ventes.</a:t>
            </a:r>
          </a:p>
        </p:txBody>
      </p:sp>
      <p:sp>
        <p:nvSpPr>
          <p:cNvPr id="7" name="TextBox 6"/>
          <p:cNvSpPr txBox="1"/>
          <p:nvPr/>
        </p:nvSpPr>
        <p:spPr>
          <a:xfrm>
            <a:off x="777240" y="2880360"/>
            <a:ext cx="5212080" cy="3291840"/>
          </a:xfrm>
          <a:prstGeom prst="rect">
            <a:avLst/>
          </a:prstGeom>
          <a:noFill/>
        </p:spPr>
        <p:txBody>
          <a:bodyPr wrap="square" lIns="0" tIns="0" rIns="0" bIns="0" anchor="t">
            <a:spAutoFit/>
          </a:bodyPr>
          <a:lstStyle/>
          <a:p>
            <a:pPr algn="l">
              <a:spcBef>
                <a:spcPts val="0"/>
              </a:spcBef>
              <a:spcAft>
                <a:spcPts val="900"/>
              </a:spcAft>
            </a:pPr>
            <a:r>
              <a:rPr sz="1500" b="1" i="0">
                <a:solidFill>
                  <a:srgbClr val="6BD8CB"/>
                </a:solidFill>
                <a:latin typeface="Space Grotesk"/>
              </a:rPr>
              <a:t>Drivers de revenu</a:t>
            </a:r>
          </a:p>
          <a:p>
            <a:pPr>
              <a:lnSpc>
                <a:spcPct val="108000"/>
              </a:lnSpc>
              <a:spcAft>
                <a:spcPts val="700"/>
              </a:spcAft>
            </a:pPr>
            <a:r>
              <a:rPr sz="1250" b="1" i="0">
                <a:solidFill>
                  <a:srgbClr val="6BD8CB"/>
                </a:solidFill>
                <a:latin typeface="Inter"/>
              </a:rPr>
              <a:t>—  </a:t>
            </a:r>
            <a:r>
              <a:rPr sz="1250" b="0" i="0">
                <a:solidFill>
                  <a:srgbClr val="EEF0FF"/>
                </a:solidFill>
                <a:latin typeface="Inter"/>
              </a:rPr>
              <a:t>Nombre de clients payants (Pro + Souverain+).</a:t>
            </a:r>
          </a:p>
          <a:p>
            <a:pPr>
              <a:lnSpc>
                <a:spcPct val="108000"/>
              </a:lnSpc>
              <a:spcAft>
                <a:spcPts val="700"/>
              </a:spcAft>
            </a:pPr>
            <a:r>
              <a:rPr sz="1250" b="1" i="0">
                <a:solidFill>
                  <a:srgbClr val="6BD8CB"/>
                </a:solidFill>
                <a:latin typeface="Inter"/>
              </a:rPr>
              <a:t>—  </a:t>
            </a:r>
            <a:r>
              <a:rPr sz="1250" b="0" i="0">
                <a:solidFill>
                  <a:srgbClr val="EEF0FF"/>
                </a:solidFill>
                <a:latin typeface="Inter"/>
              </a:rPr>
              <a:t>ARPA = prix service /mois [PLACEHOLDER].</a:t>
            </a:r>
          </a:p>
          <a:p>
            <a:pPr>
              <a:lnSpc>
                <a:spcPct val="108000"/>
              </a:lnSpc>
              <a:spcAft>
                <a:spcPts val="700"/>
              </a:spcAft>
            </a:pPr>
            <a:r>
              <a:rPr sz="1250" b="1" i="0">
                <a:solidFill>
                  <a:srgbClr val="6BD8CB"/>
                </a:solidFill>
                <a:latin typeface="Inter"/>
              </a:rPr>
              <a:t>—  </a:t>
            </a:r>
            <a:r>
              <a:rPr sz="1250" b="0" i="0">
                <a:solidFill>
                  <a:srgbClr val="EEF0FF"/>
                </a:solidFill>
                <a:latin typeface="Inter"/>
              </a:rPr>
              <a:t>Mix paliers (Pro vs Souverain+ devis).</a:t>
            </a:r>
          </a:p>
          <a:p>
            <a:pPr>
              <a:lnSpc>
                <a:spcPct val="108000"/>
              </a:lnSpc>
              <a:spcAft>
                <a:spcPts val="700"/>
              </a:spcAft>
            </a:pPr>
            <a:r>
              <a:rPr sz="1250" b="1" i="0">
                <a:solidFill>
                  <a:srgbClr val="6BD8CB"/>
                </a:solidFill>
                <a:latin typeface="Inter"/>
              </a:rPr>
              <a:t>—  </a:t>
            </a:r>
            <a:r>
              <a:rPr sz="1250" b="0" i="0">
                <a:solidFill>
                  <a:srgbClr val="EEF0FF"/>
                </a:solidFill>
                <a:latin typeface="Inter"/>
              </a:rPr>
              <a:t>Taux de conversion diagnostic → payant.</a:t>
            </a:r>
          </a:p>
          <a:p>
            <a:pPr>
              <a:lnSpc>
                <a:spcPct val="108000"/>
              </a:lnSpc>
              <a:spcAft>
                <a:spcPts val="700"/>
              </a:spcAft>
            </a:pPr>
            <a:r>
              <a:rPr sz="1250" b="1" i="0">
                <a:solidFill>
                  <a:srgbClr val="6BD8CB"/>
                </a:solidFill>
                <a:latin typeface="Inter"/>
              </a:rPr>
              <a:t>—  </a:t>
            </a:r>
            <a:r>
              <a:rPr sz="1250" b="0" i="0">
                <a:solidFill>
                  <a:srgbClr val="EEF0FF"/>
                </a:solidFill>
                <a:latin typeface="Inter"/>
              </a:rPr>
              <a:t>Churn mensuel / rétention.</a:t>
            </a:r>
          </a:p>
        </p:txBody>
      </p:sp>
      <p:sp>
        <p:nvSpPr>
          <p:cNvPr id="8" name="TextBox 7"/>
          <p:cNvSpPr txBox="1"/>
          <p:nvPr/>
        </p:nvSpPr>
        <p:spPr>
          <a:xfrm>
            <a:off x="6172200" y="2880360"/>
            <a:ext cx="5212080" cy="3291840"/>
          </a:xfrm>
          <a:prstGeom prst="rect">
            <a:avLst/>
          </a:prstGeom>
          <a:noFill/>
        </p:spPr>
        <p:txBody>
          <a:bodyPr wrap="square" lIns="0" tIns="0" rIns="0" bIns="0" anchor="t">
            <a:spAutoFit/>
          </a:bodyPr>
          <a:lstStyle/>
          <a:p>
            <a:pPr algn="l">
              <a:spcBef>
                <a:spcPts val="0"/>
              </a:spcBef>
              <a:spcAft>
                <a:spcPts val="900"/>
              </a:spcAft>
            </a:pPr>
            <a:r>
              <a:rPr sz="1500" b="1" i="0">
                <a:solidFill>
                  <a:srgbClr val="FFBA46"/>
                </a:solidFill>
                <a:latin typeface="Space Grotesk"/>
              </a:rPr>
              <a:t>Drivers de coût</a:t>
            </a:r>
          </a:p>
          <a:p>
            <a:pPr>
              <a:lnSpc>
                <a:spcPct val="108000"/>
              </a:lnSpc>
              <a:spcAft>
                <a:spcPts val="700"/>
              </a:spcAft>
            </a:pPr>
            <a:r>
              <a:rPr sz="1250" b="1" i="0">
                <a:solidFill>
                  <a:srgbClr val="FFBA46"/>
                </a:solidFill>
                <a:latin typeface="Inter"/>
              </a:rPr>
              <a:t>—  </a:t>
            </a:r>
            <a:r>
              <a:rPr sz="1250" b="0" i="0">
                <a:solidFill>
                  <a:srgbClr val="EEF0FF"/>
                </a:solidFill>
                <a:latin typeface="Inter"/>
              </a:rPr>
              <a:t>Marge brute : l'infra est REVERSÉE (pas de marge) → revenu = service.</a:t>
            </a:r>
          </a:p>
          <a:p>
            <a:pPr>
              <a:lnSpc>
                <a:spcPct val="108000"/>
              </a:lnSpc>
              <a:spcAft>
                <a:spcPts val="700"/>
              </a:spcAft>
            </a:pPr>
            <a:r>
              <a:rPr sz="1250" b="1" i="0">
                <a:solidFill>
                  <a:srgbClr val="FFBA46"/>
                </a:solidFill>
                <a:latin typeface="Inter"/>
              </a:rPr>
              <a:t>—  </a:t>
            </a:r>
            <a:r>
              <a:rPr sz="1250" b="0" i="0">
                <a:solidFill>
                  <a:srgbClr val="EEF0FF"/>
                </a:solidFill>
                <a:latin typeface="Inter"/>
              </a:rPr>
              <a:t>Coûts LLM/tokens à l'usage (intake, narration, assistant, veille).</a:t>
            </a:r>
          </a:p>
          <a:p>
            <a:pPr>
              <a:lnSpc>
                <a:spcPct val="108000"/>
              </a:lnSpc>
              <a:spcAft>
                <a:spcPts val="700"/>
              </a:spcAft>
            </a:pPr>
            <a:r>
              <a:rPr sz="1250" b="1" i="0">
                <a:solidFill>
                  <a:srgbClr val="FFBA46"/>
                </a:solidFill>
                <a:latin typeface="Inter"/>
              </a:rPr>
              <a:t>—  </a:t>
            </a:r>
            <a:r>
              <a:rPr sz="1250" b="0" i="0">
                <a:solidFill>
                  <a:srgbClr val="EEF0FF"/>
                </a:solidFill>
                <a:latin typeface="Inter"/>
              </a:rPr>
              <a:t>Firecrawl (price feed + veille catalogue).</a:t>
            </a:r>
          </a:p>
          <a:p>
            <a:pPr>
              <a:lnSpc>
                <a:spcPct val="108000"/>
              </a:lnSpc>
              <a:spcAft>
                <a:spcPts val="700"/>
              </a:spcAft>
            </a:pPr>
            <a:r>
              <a:rPr sz="1250" b="1" i="0">
                <a:solidFill>
                  <a:srgbClr val="FFBA46"/>
                </a:solidFill>
                <a:latin typeface="Inter"/>
              </a:rPr>
              <a:t>—  </a:t>
            </a:r>
            <a:r>
              <a:rPr sz="1250" b="0" i="0">
                <a:solidFill>
                  <a:srgbClr val="EEF0FF"/>
                </a:solidFill>
                <a:latin typeface="Inter"/>
              </a:rPr>
              <a:t>CAC (faible sur P1, croissant ensuite).</a:t>
            </a:r>
          </a:p>
          <a:p>
            <a:pPr>
              <a:lnSpc>
                <a:spcPct val="108000"/>
              </a:lnSpc>
              <a:spcAft>
                <a:spcPts val="700"/>
              </a:spcAft>
            </a:pPr>
            <a:r>
              <a:rPr sz="1250" b="1" i="0">
                <a:solidFill>
                  <a:srgbClr val="FFBA46"/>
                </a:solidFill>
                <a:latin typeface="Inter"/>
              </a:rPr>
              <a:t>—  </a:t>
            </a:r>
            <a:r>
              <a:rPr sz="1250" b="0" i="0">
                <a:solidFill>
                  <a:srgbClr val="EEF0FF"/>
                </a:solidFill>
                <a:latin typeface="Inter"/>
              </a:rPr>
              <a:t>OPEX : dev, support, hébergement plateforme.</a:t>
            </a:r>
          </a:p>
        </p:txBody>
      </p:sp>
      <p:sp>
        <p:nvSpPr>
          <p:cNvPr id="9" name="TextBox 8"/>
          <p:cNvSpPr txBox="1"/>
          <p:nvPr/>
        </p:nvSpPr>
        <p:spPr>
          <a:xfrm>
            <a:off x="777240" y="6446520"/>
            <a:ext cx="10607040" cy="274320"/>
          </a:xfrm>
          <a:prstGeom prst="rect">
            <a:avLst/>
          </a:prstGeom>
          <a:noFill/>
        </p:spPr>
        <p:txBody>
          <a:bodyPr wrap="square" lIns="0" tIns="0" rIns="0" bIns="0" anchor="t">
            <a:spAutoFit/>
          </a:bodyPr>
          <a:lstStyle/>
          <a:p>
            <a:pPr algn="l"/>
            <a:r>
              <a:rPr sz="900" b="0" i="0">
                <a:solidFill>
                  <a:srgbClr val="BCC9C6"/>
                </a:solidFill>
                <a:latin typeface="JetBrains Mono"/>
              </a:rPr>
              <a:t>Strate · Business model</a:t>
            </a:r>
          </a:p>
        </p:txBody>
      </p:sp>
      <p:sp>
        <p:nvSpPr>
          <p:cNvPr id="10" name="TextBox 9"/>
          <p:cNvSpPr txBox="1"/>
          <p:nvPr/>
        </p:nvSpPr>
        <p:spPr>
          <a:xfrm>
            <a:off x="10789920" y="6446520"/>
            <a:ext cx="594360" cy="274320"/>
          </a:xfrm>
          <a:prstGeom prst="rect">
            <a:avLst/>
          </a:prstGeom>
          <a:noFill/>
        </p:spPr>
        <p:txBody>
          <a:bodyPr wrap="square" lIns="0" tIns="0" rIns="0" bIns="0" anchor="t">
            <a:spAutoFit/>
          </a:bodyPr>
          <a:lstStyle/>
          <a:p>
            <a:pPr algn="r"/>
            <a:r>
              <a:rPr sz="900" b="0" i="0">
                <a:solidFill>
                  <a:srgbClr val="BCC9C6"/>
                </a:solidFill>
                <a:latin typeface="JetBrains Mono"/>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8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9D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02920"/>
            <a:ext cx="10607040" cy="320040"/>
          </a:xfrm>
          <a:prstGeom prst="rect">
            <a:avLst/>
          </a:prstGeom>
          <a:noFill/>
        </p:spPr>
        <p:txBody>
          <a:bodyPr wrap="square" lIns="0" tIns="0" rIns="0" bIns="0" anchor="t">
            <a:spAutoFit/>
          </a:bodyPr>
          <a:lstStyle/>
          <a:p>
            <a:pPr algn="l">
              <a:spcBef>
                <a:spcPts val="0"/>
              </a:spcBef>
              <a:spcAft>
                <a:spcPts val="600"/>
              </a:spcAft>
            </a:pPr>
            <a:r>
              <a:rPr sz="1250" b="1" i="0" spc="140">
                <a:solidFill>
                  <a:srgbClr val="7D5400"/>
                </a:solidFill>
                <a:latin typeface="Inter"/>
              </a:rPr>
              <a:t>P&amp;L PRÉVISIONNEL · 2/3</a:t>
            </a:r>
          </a:p>
        </p:txBody>
      </p:sp>
      <p:sp>
        <p:nvSpPr>
          <p:cNvPr id="4" name="TextBox 3"/>
          <p:cNvSpPr txBox="1"/>
          <p:nvPr/>
        </p:nvSpPr>
        <p:spPr>
          <a:xfrm>
            <a:off x="777240" y="841248"/>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31B2E"/>
                </a:solidFill>
                <a:latin typeface="Space Grotesk"/>
              </a:rPr>
              <a:t>Trois scénarios paramétriques (hypothèses)</a:t>
            </a:r>
          </a:p>
        </p:txBody>
      </p:sp>
      <p:sp>
        <p:nvSpPr>
          <p:cNvPr id="5" name="Rectangle 4"/>
          <p:cNvSpPr/>
          <p:nvPr/>
        </p:nvSpPr>
        <p:spPr>
          <a:xfrm>
            <a:off x="777240" y="1627632"/>
            <a:ext cx="10607040" cy="17780"/>
          </a:xfrm>
          <a:prstGeom prst="rect">
            <a:avLst/>
          </a:prstGeom>
          <a:solidFill>
            <a:srgbClr val="BCC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1965960"/>
            <a:ext cx="4572000" cy="566928"/>
          </a:xfrm>
          <a:prstGeom prst="rect">
            <a:avLst/>
          </a:prstGeom>
          <a:solidFill>
            <a:srgbClr val="283044"/>
          </a:solidFill>
          <a:ln>
            <a:noFill/>
          </a:ln>
          <a:effectLst/>
        </p:spPr>
        <p:style>
          <a:lnRef idx="1">
            <a:schemeClr val="accent1"/>
          </a:lnRef>
          <a:fillRef idx="3">
            <a:schemeClr val="accent1"/>
          </a:fillRef>
          <a:effectRef idx="2">
            <a:schemeClr val="accent1"/>
          </a:effectRef>
          <a:fontRef idx="minor">
            <a:schemeClr val="lt1"/>
          </a:fontRef>
        </p:style>
        <p:txBody>
          <a:bodyPr wrap="square" lIns="128016" rtlCol="0" anchor="ctr"/>
          <a:lstStyle/>
          <a:p>
            <a:pPr algn="l"/>
            <a:endParaRPr/>
          </a:p>
        </p:txBody>
      </p:sp>
      <p:sp>
        <p:nvSpPr>
          <p:cNvPr id="7" name="Rectangle 6"/>
          <p:cNvSpPr/>
          <p:nvPr/>
        </p:nvSpPr>
        <p:spPr>
          <a:xfrm>
            <a:off x="5349240" y="1965960"/>
            <a:ext cx="2011680" cy="566928"/>
          </a:xfrm>
          <a:prstGeom prst="rect">
            <a:avLst/>
          </a:prstGeom>
          <a:solidFill>
            <a:srgbClr val="283044"/>
          </a:solidFill>
          <a:ln>
            <a:noFill/>
          </a:ln>
          <a:effectLst/>
        </p:spPr>
        <p:style>
          <a:lnRef idx="1">
            <a:schemeClr val="accent1"/>
          </a:lnRef>
          <a:fillRef idx="3">
            <a:schemeClr val="accent1"/>
          </a:fillRef>
          <a:effectRef idx="2">
            <a:schemeClr val="accent1"/>
          </a:effectRef>
          <a:fontRef idx="minor">
            <a:schemeClr val="lt1"/>
          </a:fontRef>
        </p:style>
        <p:txBody>
          <a:bodyPr wrap="square" lIns="128016" rtlCol="0" anchor="ctr"/>
          <a:lstStyle/>
          <a:p>
            <a:pPr algn="ctr"/>
            <a:r>
              <a:rPr sz="1300" b="1" i="0">
                <a:solidFill>
                  <a:srgbClr val="FFFFFF"/>
                </a:solidFill>
                <a:latin typeface="Space Grotesk"/>
              </a:rPr>
              <a:t>An 1</a:t>
            </a:r>
          </a:p>
        </p:txBody>
      </p:sp>
      <p:sp>
        <p:nvSpPr>
          <p:cNvPr id="8" name="Rectangle 7"/>
          <p:cNvSpPr/>
          <p:nvPr/>
        </p:nvSpPr>
        <p:spPr>
          <a:xfrm>
            <a:off x="7360920" y="1965960"/>
            <a:ext cx="2011680" cy="566928"/>
          </a:xfrm>
          <a:prstGeom prst="rect">
            <a:avLst/>
          </a:prstGeom>
          <a:solidFill>
            <a:srgbClr val="283044"/>
          </a:solidFill>
          <a:ln>
            <a:noFill/>
          </a:ln>
          <a:effectLst/>
        </p:spPr>
        <p:style>
          <a:lnRef idx="1">
            <a:schemeClr val="accent1"/>
          </a:lnRef>
          <a:fillRef idx="3">
            <a:schemeClr val="accent1"/>
          </a:fillRef>
          <a:effectRef idx="2">
            <a:schemeClr val="accent1"/>
          </a:effectRef>
          <a:fontRef idx="minor">
            <a:schemeClr val="lt1"/>
          </a:fontRef>
        </p:style>
        <p:txBody>
          <a:bodyPr wrap="square" lIns="128016" rtlCol="0" anchor="ctr"/>
          <a:lstStyle/>
          <a:p>
            <a:pPr algn="ctr"/>
            <a:r>
              <a:rPr sz="1300" b="1" i="0">
                <a:solidFill>
                  <a:srgbClr val="FFFFFF"/>
                </a:solidFill>
                <a:latin typeface="Space Grotesk"/>
              </a:rPr>
              <a:t>An 2</a:t>
            </a:r>
          </a:p>
        </p:txBody>
      </p:sp>
      <p:sp>
        <p:nvSpPr>
          <p:cNvPr id="9" name="Rectangle 8"/>
          <p:cNvSpPr/>
          <p:nvPr/>
        </p:nvSpPr>
        <p:spPr>
          <a:xfrm>
            <a:off x="9372600" y="1965960"/>
            <a:ext cx="2011680" cy="566928"/>
          </a:xfrm>
          <a:prstGeom prst="rect">
            <a:avLst/>
          </a:prstGeom>
          <a:solidFill>
            <a:srgbClr val="283044"/>
          </a:solidFill>
          <a:ln>
            <a:noFill/>
          </a:ln>
          <a:effectLst/>
        </p:spPr>
        <p:style>
          <a:lnRef idx="1">
            <a:schemeClr val="accent1"/>
          </a:lnRef>
          <a:fillRef idx="3">
            <a:schemeClr val="accent1"/>
          </a:fillRef>
          <a:effectRef idx="2">
            <a:schemeClr val="accent1"/>
          </a:effectRef>
          <a:fontRef idx="minor">
            <a:schemeClr val="lt1"/>
          </a:fontRef>
        </p:style>
        <p:txBody>
          <a:bodyPr wrap="square" lIns="128016" rtlCol="0" anchor="ctr"/>
          <a:lstStyle/>
          <a:p>
            <a:pPr algn="ctr"/>
            <a:r>
              <a:rPr sz="1300" b="1" i="0">
                <a:solidFill>
                  <a:srgbClr val="FFFFFF"/>
                </a:solidFill>
                <a:latin typeface="Space Grotesk"/>
              </a:rPr>
              <a:t>An 3</a:t>
            </a:r>
          </a:p>
        </p:txBody>
      </p:sp>
      <p:sp>
        <p:nvSpPr>
          <p:cNvPr id="10" name="Rectangle 9"/>
          <p:cNvSpPr/>
          <p:nvPr/>
        </p:nvSpPr>
        <p:spPr>
          <a:xfrm>
            <a:off x="777240" y="2532888"/>
            <a:ext cx="4572000" cy="566928"/>
          </a:xfrm>
          <a:prstGeom prst="rect">
            <a:avLst/>
          </a:prstGeom>
          <a:solidFill>
            <a:srgbClr val="F2F3FF"/>
          </a:solidFill>
          <a:ln w="9525">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28016" rtlCol="0" anchor="ctr"/>
          <a:lstStyle/>
          <a:p>
            <a:pPr algn="l"/>
            <a:r>
              <a:rPr sz="1300" b="1" i="0">
                <a:solidFill>
                  <a:srgbClr val="3D4947"/>
                </a:solidFill>
                <a:latin typeface="Inter"/>
              </a:rPr>
              <a:t>Prudent — clients payants</a:t>
            </a:r>
          </a:p>
        </p:txBody>
      </p:sp>
      <p:sp>
        <p:nvSpPr>
          <p:cNvPr id="11" name="Rectangle 10"/>
          <p:cNvSpPr/>
          <p:nvPr/>
        </p:nvSpPr>
        <p:spPr>
          <a:xfrm>
            <a:off x="5349240" y="2532888"/>
            <a:ext cx="2011680" cy="566928"/>
          </a:xfrm>
          <a:prstGeom prst="rect">
            <a:avLst/>
          </a:prstGeom>
          <a:solidFill>
            <a:srgbClr val="F2F3FF"/>
          </a:solidFill>
          <a:ln w="9525">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28016" rtlCol="0" anchor="ctr"/>
          <a:lstStyle/>
          <a:p>
            <a:pPr algn="ctr"/>
            <a:r>
              <a:rPr sz="1500" b="1" i="0">
                <a:solidFill>
                  <a:srgbClr val="131B2E"/>
                </a:solidFill>
                <a:latin typeface="JetBrains Mono"/>
              </a:rPr>
              <a:t>8</a:t>
            </a:r>
          </a:p>
        </p:txBody>
      </p:sp>
      <p:sp>
        <p:nvSpPr>
          <p:cNvPr id="12" name="Rectangle 11"/>
          <p:cNvSpPr/>
          <p:nvPr/>
        </p:nvSpPr>
        <p:spPr>
          <a:xfrm>
            <a:off x="7360920" y="2532888"/>
            <a:ext cx="2011680" cy="566928"/>
          </a:xfrm>
          <a:prstGeom prst="rect">
            <a:avLst/>
          </a:prstGeom>
          <a:solidFill>
            <a:srgbClr val="F2F3FF"/>
          </a:solidFill>
          <a:ln w="9525">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28016" rtlCol="0" anchor="ctr"/>
          <a:lstStyle/>
          <a:p>
            <a:pPr algn="ctr"/>
            <a:r>
              <a:rPr sz="1500" b="1" i="0">
                <a:solidFill>
                  <a:srgbClr val="131B2E"/>
                </a:solidFill>
                <a:latin typeface="JetBrains Mono"/>
              </a:rPr>
              <a:t>25</a:t>
            </a:r>
          </a:p>
        </p:txBody>
      </p:sp>
      <p:sp>
        <p:nvSpPr>
          <p:cNvPr id="13" name="Rectangle 12"/>
          <p:cNvSpPr/>
          <p:nvPr/>
        </p:nvSpPr>
        <p:spPr>
          <a:xfrm>
            <a:off x="9372600" y="2532888"/>
            <a:ext cx="2011680" cy="566928"/>
          </a:xfrm>
          <a:prstGeom prst="rect">
            <a:avLst/>
          </a:prstGeom>
          <a:solidFill>
            <a:srgbClr val="F2F3FF"/>
          </a:solidFill>
          <a:ln w="9525">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28016" rtlCol="0" anchor="ctr"/>
          <a:lstStyle/>
          <a:p>
            <a:pPr algn="ctr"/>
            <a:r>
              <a:rPr sz="1500" b="1" i="0">
                <a:solidFill>
                  <a:srgbClr val="131B2E"/>
                </a:solidFill>
                <a:latin typeface="JetBrains Mono"/>
              </a:rPr>
              <a:t>60</a:t>
            </a:r>
          </a:p>
        </p:txBody>
      </p:sp>
      <p:sp>
        <p:nvSpPr>
          <p:cNvPr id="14" name="Rectangle 13"/>
          <p:cNvSpPr/>
          <p:nvPr/>
        </p:nvSpPr>
        <p:spPr>
          <a:xfrm>
            <a:off x="777240" y="3099816"/>
            <a:ext cx="4572000" cy="566928"/>
          </a:xfrm>
          <a:prstGeom prst="rect">
            <a:avLst/>
          </a:prstGeom>
          <a:solidFill>
            <a:srgbClr val="FFFFFF"/>
          </a:solidFill>
          <a:ln w="9525">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28016" rtlCol="0" anchor="ctr"/>
          <a:lstStyle/>
          <a:p>
            <a:pPr algn="l"/>
            <a:r>
              <a:rPr sz="1300" b="1" i="0">
                <a:solidFill>
                  <a:srgbClr val="00685F"/>
                </a:solidFill>
                <a:latin typeface="Inter"/>
              </a:rPr>
              <a:t>Base — clients payants</a:t>
            </a:r>
          </a:p>
        </p:txBody>
      </p:sp>
      <p:sp>
        <p:nvSpPr>
          <p:cNvPr id="15" name="Rectangle 14"/>
          <p:cNvSpPr/>
          <p:nvPr/>
        </p:nvSpPr>
        <p:spPr>
          <a:xfrm>
            <a:off x="5349240" y="3099816"/>
            <a:ext cx="2011680" cy="566928"/>
          </a:xfrm>
          <a:prstGeom prst="rect">
            <a:avLst/>
          </a:prstGeom>
          <a:solidFill>
            <a:srgbClr val="FFFFFF"/>
          </a:solidFill>
          <a:ln w="9525">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28016" rtlCol="0" anchor="ctr"/>
          <a:lstStyle/>
          <a:p>
            <a:pPr algn="ctr"/>
            <a:r>
              <a:rPr sz="1500" b="1" i="0">
                <a:solidFill>
                  <a:srgbClr val="131B2E"/>
                </a:solidFill>
                <a:latin typeface="JetBrains Mono"/>
              </a:rPr>
              <a:t>15</a:t>
            </a:r>
          </a:p>
        </p:txBody>
      </p:sp>
      <p:sp>
        <p:nvSpPr>
          <p:cNvPr id="16" name="Rectangle 15"/>
          <p:cNvSpPr/>
          <p:nvPr/>
        </p:nvSpPr>
        <p:spPr>
          <a:xfrm>
            <a:off x="7360920" y="3099816"/>
            <a:ext cx="2011680" cy="566928"/>
          </a:xfrm>
          <a:prstGeom prst="rect">
            <a:avLst/>
          </a:prstGeom>
          <a:solidFill>
            <a:srgbClr val="FFFFFF"/>
          </a:solidFill>
          <a:ln w="9525">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28016" rtlCol="0" anchor="ctr"/>
          <a:lstStyle/>
          <a:p>
            <a:pPr algn="ctr"/>
            <a:r>
              <a:rPr sz="1500" b="1" i="0">
                <a:solidFill>
                  <a:srgbClr val="131B2E"/>
                </a:solidFill>
                <a:latin typeface="JetBrains Mono"/>
              </a:rPr>
              <a:t>60</a:t>
            </a:r>
          </a:p>
        </p:txBody>
      </p:sp>
      <p:sp>
        <p:nvSpPr>
          <p:cNvPr id="17" name="Rectangle 16"/>
          <p:cNvSpPr/>
          <p:nvPr/>
        </p:nvSpPr>
        <p:spPr>
          <a:xfrm>
            <a:off x="9372600" y="3099816"/>
            <a:ext cx="2011680" cy="566928"/>
          </a:xfrm>
          <a:prstGeom prst="rect">
            <a:avLst/>
          </a:prstGeom>
          <a:solidFill>
            <a:srgbClr val="FFFFFF"/>
          </a:solidFill>
          <a:ln w="9525">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28016" rtlCol="0" anchor="ctr"/>
          <a:lstStyle/>
          <a:p>
            <a:pPr algn="ctr"/>
            <a:r>
              <a:rPr sz="1500" b="1" i="0">
                <a:solidFill>
                  <a:srgbClr val="131B2E"/>
                </a:solidFill>
                <a:latin typeface="JetBrains Mono"/>
              </a:rPr>
              <a:t>180</a:t>
            </a:r>
          </a:p>
        </p:txBody>
      </p:sp>
      <p:sp>
        <p:nvSpPr>
          <p:cNvPr id="18" name="Rectangle 17"/>
          <p:cNvSpPr/>
          <p:nvPr/>
        </p:nvSpPr>
        <p:spPr>
          <a:xfrm>
            <a:off x="777240" y="3666744"/>
            <a:ext cx="4572000" cy="566928"/>
          </a:xfrm>
          <a:prstGeom prst="rect">
            <a:avLst/>
          </a:prstGeom>
          <a:solidFill>
            <a:srgbClr val="F2F3FF"/>
          </a:solidFill>
          <a:ln w="9525">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28016" rtlCol="0" anchor="ctr"/>
          <a:lstStyle/>
          <a:p>
            <a:pPr algn="l"/>
            <a:r>
              <a:rPr sz="1300" b="1" i="0">
                <a:solidFill>
                  <a:srgbClr val="7D5400"/>
                </a:solidFill>
                <a:latin typeface="Inter"/>
              </a:rPr>
              <a:t>Ambitieux — clients payants</a:t>
            </a:r>
          </a:p>
        </p:txBody>
      </p:sp>
      <p:sp>
        <p:nvSpPr>
          <p:cNvPr id="19" name="Rectangle 18"/>
          <p:cNvSpPr/>
          <p:nvPr/>
        </p:nvSpPr>
        <p:spPr>
          <a:xfrm>
            <a:off x="5349240" y="3666744"/>
            <a:ext cx="2011680" cy="566928"/>
          </a:xfrm>
          <a:prstGeom prst="rect">
            <a:avLst/>
          </a:prstGeom>
          <a:solidFill>
            <a:srgbClr val="F2F3FF"/>
          </a:solidFill>
          <a:ln w="9525">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28016" rtlCol="0" anchor="ctr"/>
          <a:lstStyle/>
          <a:p>
            <a:pPr algn="ctr"/>
            <a:r>
              <a:rPr sz="1500" b="1" i="0">
                <a:solidFill>
                  <a:srgbClr val="131B2E"/>
                </a:solidFill>
                <a:latin typeface="JetBrains Mono"/>
              </a:rPr>
              <a:t>30</a:t>
            </a:r>
          </a:p>
        </p:txBody>
      </p:sp>
      <p:sp>
        <p:nvSpPr>
          <p:cNvPr id="20" name="Rectangle 19"/>
          <p:cNvSpPr/>
          <p:nvPr/>
        </p:nvSpPr>
        <p:spPr>
          <a:xfrm>
            <a:off x="7360920" y="3666744"/>
            <a:ext cx="2011680" cy="566928"/>
          </a:xfrm>
          <a:prstGeom prst="rect">
            <a:avLst/>
          </a:prstGeom>
          <a:solidFill>
            <a:srgbClr val="F2F3FF"/>
          </a:solidFill>
          <a:ln w="9525">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28016" rtlCol="0" anchor="ctr"/>
          <a:lstStyle/>
          <a:p>
            <a:pPr algn="ctr"/>
            <a:r>
              <a:rPr sz="1500" b="1" i="0">
                <a:solidFill>
                  <a:srgbClr val="131B2E"/>
                </a:solidFill>
                <a:latin typeface="JetBrains Mono"/>
              </a:rPr>
              <a:t>150</a:t>
            </a:r>
          </a:p>
        </p:txBody>
      </p:sp>
      <p:sp>
        <p:nvSpPr>
          <p:cNvPr id="21" name="Rectangle 20"/>
          <p:cNvSpPr/>
          <p:nvPr/>
        </p:nvSpPr>
        <p:spPr>
          <a:xfrm>
            <a:off x="9372600" y="3666744"/>
            <a:ext cx="2011680" cy="566928"/>
          </a:xfrm>
          <a:prstGeom prst="rect">
            <a:avLst/>
          </a:prstGeom>
          <a:solidFill>
            <a:srgbClr val="F2F3FF"/>
          </a:solidFill>
          <a:ln w="9525">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28016" rtlCol="0" anchor="ctr"/>
          <a:lstStyle/>
          <a:p>
            <a:pPr algn="ctr"/>
            <a:r>
              <a:rPr sz="1500" b="1" i="0">
                <a:solidFill>
                  <a:srgbClr val="131B2E"/>
                </a:solidFill>
                <a:latin typeface="JetBrains Mono"/>
              </a:rPr>
              <a:t>500</a:t>
            </a:r>
          </a:p>
        </p:txBody>
      </p:sp>
      <p:sp>
        <p:nvSpPr>
          <p:cNvPr id="22" name="TextBox 21"/>
          <p:cNvSpPr txBox="1"/>
          <p:nvPr/>
        </p:nvSpPr>
        <p:spPr>
          <a:xfrm>
            <a:off x="777240" y="4343400"/>
            <a:ext cx="10607040" cy="1828800"/>
          </a:xfrm>
          <a:prstGeom prst="rect">
            <a:avLst/>
          </a:prstGeom>
          <a:noFill/>
        </p:spPr>
        <p:txBody>
          <a:bodyPr wrap="square" lIns="0" tIns="0" rIns="0" bIns="0" anchor="t">
            <a:spAutoFit/>
          </a:bodyPr>
          <a:lstStyle/>
          <a:p>
            <a:pPr algn="l">
              <a:spcBef>
                <a:spcPts val="0"/>
              </a:spcBef>
              <a:spcAft>
                <a:spcPts val="1000"/>
              </a:spcAft>
            </a:pPr>
            <a:r>
              <a:rPr sz="1400" b="1" i="0">
                <a:solidFill>
                  <a:srgbClr val="131B2E"/>
                </a:solidFill>
                <a:latin typeface="JetBrains Mono"/>
              </a:rPr>
              <a:t>Chiffre d'affaires = clients payants × ARPA × 12, où ARPA = [PLACEHOLDER]/mois (sondage en cours).</a:t>
            </a:r>
          </a:p>
          <a:p>
            <a:pPr>
              <a:lnSpc>
                <a:spcPct val="108000"/>
              </a:lnSpc>
              <a:spcAft>
                <a:spcPts val="800"/>
              </a:spcAft>
            </a:pPr>
            <a:r>
              <a:rPr sz="1500" b="1" i="0">
                <a:solidFill>
                  <a:srgbClr val="00685F"/>
                </a:solidFill>
                <a:latin typeface="Inter"/>
              </a:rPr>
              <a:t>—  </a:t>
            </a:r>
            <a:r>
              <a:rPr sz="1500" b="1" i="0">
                <a:solidFill>
                  <a:srgbClr val="131B2E"/>
                </a:solidFill>
                <a:latin typeface="Inter"/>
              </a:rPr>
              <a:t>Seuil. </a:t>
            </a:r>
            <a:r>
              <a:rPr sz="1500" b="0" i="0">
                <a:solidFill>
                  <a:srgbClr val="3D4947"/>
                </a:solidFill>
                <a:latin typeface="Inter"/>
              </a:rPr>
              <a:t>Point mort : atteint quand CA service &gt; OPEX fixes + coûts variables IA. Dépend entièrement de l'ARPA → calculable seulement après le sondage.</a:t>
            </a:r>
          </a:p>
          <a:p>
            <a:pPr>
              <a:lnSpc>
                <a:spcPct val="108000"/>
              </a:lnSpc>
              <a:spcAft>
                <a:spcPts val="0"/>
              </a:spcAft>
            </a:pPr>
            <a:r>
              <a:rPr sz="1500" b="1" i="0">
                <a:solidFill>
                  <a:srgbClr val="00685F"/>
                </a:solidFill>
                <a:latin typeface="Inter"/>
              </a:rPr>
              <a:t>—  </a:t>
            </a:r>
            <a:r>
              <a:rPr sz="1500" b="1" i="0">
                <a:solidFill>
                  <a:srgbClr val="131B2E"/>
                </a:solidFill>
                <a:latin typeface="Inter"/>
              </a:rPr>
              <a:t>Trésorerie. </a:t>
            </a:r>
            <a:r>
              <a:rPr sz="1500" b="0" i="0">
                <a:solidFill>
                  <a:srgbClr val="3D4947"/>
                </a:solidFill>
                <a:latin typeface="Inter"/>
              </a:rPr>
              <a:t>Runway : fonction de la base de coûts (équipe réduite, hébergement maîtrisé) — l'annuel (−20 %) sécurise la trésorerie.</a:t>
            </a:r>
          </a:p>
        </p:txBody>
      </p:sp>
      <p:sp>
        <p:nvSpPr>
          <p:cNvPr id="23" name="TextBox 22"/>
          <p:cNvSpPr txBox="1"/>
          <p:nvPr/>
        </p:nvSpPr>
        <p:spPr>
          <a:xfrm>
            <a:off x="777240" y="6446520"/>
            <a:ext cx="10607040" cy="274320"/>
          </a:xfrm>
          <a:prstGeom prst="rect">
            <a:avLst/>
          </a:prstGeom>
          <a:noFill/>
        </p:spPr>
        <p:txBody>
          <a:bodyPr wrap="square" lIns="0" tIns="0" rIns="0" bIns="0" anchor="t">
            <a:spAutoFit/>
          </a:bodyPr>
          <a:lstStyle/>
          <a:p>
            <a:pPr algn="l"/>
            <a:r>
              <a:rPr sz="900" b="0" i="0">
                <a:solidFill>
                  <a:srgbClr val="BCC9C6"/>
                </a:solidFill>
                <a:latin typeface="JetBrains Mono"/>
              </a:rPr>
              <a:t>Strate · Business model</a:t>
            </a:r>
          </a:p>
        </p:txBody>
      </p:sp>
      <p:sp>
        <p:nvSpPr>
          <p:cNvPr id="24" name="TextBox 23"/>
          <p:cNvSpPr txBox="1"/>
          <p:nvPr/>
        </p:nvSpPr>
        <p:spPr>
          <a:xfrm>
            <a:off x="10789920" y="6446520"/>
            <a:ext cx="594360" cy="274320"/>
          </a:xfrm>
          <a:prstGeom prst="rect">
            <a:avLst/>
          </a:prstGeom>
          <a:noFill/>
        </p:spPr>
        <p:txBody>
          <a:bodyPr wrap="square" lIns="0" tIns="0" rIns="0" bIns="0" anchor="t">
            <a:spAutoFit/>
          </a:bodyPr>
          <a:lstStyle/>
          <a:p>
            <a:pPr algn="r"/>
            <a:r>
              <a:rPr sz="900" b="0" i="0">
                <a:solidFill>
                  <a:srgbClr val="BCC9C6"/>
                </a:solidFill>
                <a:latin typeface="JetBrains Mono"/>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8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9D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02920"/>
            <a:ext cx="10607040" cy="320040"/>
          </a:xfrm>
          <a:prstGeom prst="rect">
            <a:avLst/>
          </a:prstGeom>
          <a:noFill/>
        </p:spPr>
        <p:txBody>
          <a:bodyPr wrap="square" lIns="0" tIns="0" rIns="0" bIns="0" anchor="t">
            <a:spAutoFit/>
          </a:bodyPr>
          <a:lstStyle/>
          <a:p>
            <a:pPr algn="l">
              <a:spcBef>
                <a:spcPts val="0"/>
              </a:spcBef>
              <a:spcAft>
                <a:spcPts val="600"/>
              </a:spcAft>
            </a:pPr>
            <a:r>
              <a:rPr sz="1250" b="1" i="0" spc="140">
                <a:solidFill>
                  <a:srgbClr val="7D5400"/>
                </a:solidFill>
                <a:latin typeface="Inter"/>
              </a:rPr>
              <a:t>P&amp;L PRÉVISIONNEL · 3/3</a:t>
            </a:r>
          </a:p>
        </p:txBody>
      </p:sp>
      <p:sp>
        <p:nvSpPr>
          <p:cNvPr id="4" name="TextBox 3"/>
          <p:cNvSpPr txBox="1"/>
          <p:nvPr/>
        </p:nvSpPr>
        <p:spPr>
          <a:xfrm>
            <a:off x="777240" y="841248"/>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31B2E"/>
                </a:solidFill>
                <a:latin typeface="Space Grotesk"/>
              </a:rPr>
              <a:t>Unit economics : où se joue la viabilité</a:t>
            </a:r>
          </a:p>
        </p:txBody>
      </p:sp>
      <p:sp>
        <p:nvSpPr>
          <p:cNvPr id="5" name="Rectangle 4"/>
          <p:cNvSpPr/>
          <p:nvPr/>
        </p:nvSpPr>
        <p:spPr>
          <a:xfrm>
            <a:off x="777240" y="1627632"/>
            <a:ext cx="10607040" cy="17780"/>
          </a:xfrm>
          <a:prstGeom prst="rect">
            <a:avLst/>
          </a:prstGeom>
          <a:solidFill>
            <a:srgbClr val="BCC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77240" y="1920240"/>
            <a:ext cx="2542032" cy="2514600"/>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64592" tIns="146304" rIns="164592" bIns="128016" rtlCol="0" anchor="t"/>
          <a:lstStyle/>
          <a:p>
            <a:pPr algn="l">
              <a:spcBef>
                <a:spcPts val="600"/>
              </a:spcBef>
              <a:spcAft>
                <a:spcPts val="800"/>
              </a:spcAft>
            </a:pPr>
            <a:r>
              <a:rPr sz="1500" b="1" i="0">
                <a:solidFill>
                  <a:srgbClr val="131B2E"/>
                </a:solidFill>
                <a:latin typeface="Space Grotesk"/>
              </a:rPr>
              <a:t>Marge sur service</a:t>
            </a:r>
          </a:p>
          <a:p>
            <a:pPr algn="l">
              <a:spcBef>
                <a:spcPts val="0"/>
              </a:spcBef>
              <a:spcAft>
                <a:spcPts val="400"/>
              </a:spcAft>
            </a:pPr>
            <a:r>
              <a:rPr sz="1250" b="0" i="0">
                <a:solidFill>
                  <a:srgbClr val="3D4947"/>
                </a:solidFill>
                <a:latin typeface="Inter"/>
              </a:rPr>
              <a:t>Élevée en théorie (logiciel + expertise). L'infra reversée ne pèse PAS sur la marge Strate.</a:t>
            </a:r>
          </a:p>
        </p:txBody>
      </p:sp>
      <p:sp>
        <p:nvSpPr>
          <p:cNvPr id="7" name="Rectangle 6"/>
          <p:cNvSpPr/>
          <p:nvPr/>
        </p:nvSpPr>
        <p:spPr>
          <a:xfrm>
            <a:off x="777240" y="1920240"/>
            <a:ext cx="2542032" cy="82296"/>
          </a:xfrm>
          <a:prstGeom prst="rect">
            <a:avLst/>
          </a:prstGeom>
          <a:solidFill>
            <a:srgbClr val="006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483864" y="1920240"/>
            <a:ext cx="2542032" cy="2514600"/>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64592" tIns="146304" rIns="164592" bIns="128016" rtlCol="0" anchor="t"/>
          <a:lstStyle/>
          <a:p>
            <a:pPr algn="l">
              <a:spcBef>
                <a:spcPts val="600"/>
              </a:spcBef>
              <a:spcAft>
                <a:spcPts val="800"/>
              </a:spcAft>
            </a:pPr>
            <a:r>
              <a:rPr sz="1500" b="1" i="0">
                <a:solidFill>
                  <a:srgbClr val="131B2E"/>
                </a:solidFill>
                <a:latin typeface="Space Grotesk"/>
              </a:rPr>
              <a:t>Coût variable IA / lead</a:t>
            </a:r>
          </a:p>
          <a:p>
            <a:pPr algn="l">
              <a:spcBef>
                <a:spcPts val="0"/>
              </a:spcBef>
              <a:spcAft>
                <a:spcPts val="400"/>
              </a:spcAft>
            </a:pPr>
            <a:r>
              <a:rPr sz="1250" b="0" i="0">
                <a:solidFill>
                  <a:srgbClr val="3D4947"/>
                </a:solidFill>
                <a:latin typeface="Inter"/>
              </a:rPr>
              <a:t>Risque réel : LLM (intake, assistant, veille) + Firecrawl par utilisateur, même gratuit.</a:t>
            </a:r>
          </a:p>
        </p:txBody>
      </p:sp>
      <p:sp>
        <p:nvSpPr>
          <p:cNvPr id="9" name="Rectangle 8"/>
          <p:cNvSpPr/>
          <p:nvPr/>
        </p:nvSpPr>
        <p:spPr>
          <a:xfrm>
            <a:off x="3483864" y="1920240"/>
            <a:ext cx="2542032" cy="82296"/>
          </a:xfrm>
          <a:prstGeom prst="rect">
            <a:avLst/>
          </a:prstGeom>
          <a:solidFill>
            <a:srgbClr val="B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190488" y="1920240"/>
            <a:ext cx="2542032" cy="2514600"/>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64592" tIns="146304" rIns="164592" bIns="128016" rtlCol="0" anchor="t"/>
          <a:lstStyle/>
          <a:p>
            <a:pPr algn="l">
              <a:spcBef>
                <a:spcPts val="600"/>
              </a:spcBef>
              <a:spcAft>
                <a:spcPts val="800"/>
              </a:spcAft>
            </a:pPr>
            <a:r>
              <a:rPr sz="1500" b="1" i="0">
                <a:solidFill>
                  <a:srgbClr val="131B2E"/>
                </a:solidFill>
                <a:latin typeface="Space Grotesk"/>
              </a:rPr>
              <a:t>CAC</a:t>
            </a:r>
          </a:p>
          <a:p>
            <a:pPr algn="l">
              <a:spcBef>
                <a:spcPts val="0"/>
              </a:spcBef>
              <a:spcAft>
                <a:spcPts val="400"/>
              </a:spcAft>
            </a:pPr>
            <a:r>
              <a:rPr sz="1250" b="0" i="0">
                <a:solidFill>
                  <a:srgbClr val="3D4947"/>
                </a:solidFill>
                <a:latin typeface="Inter"/>
              </a:rPr>
              <a:t>Quasi nul sur P1 (communauté) ; à modéliser dès qu'on acquiert hors réseau.</a:t>
            </a:r>
          </a:p>
        </p:txBody>
      </p:sp>
      <p:sp>
        <p:nvSpPr>
          <p:cNvPr id="11" name="Rectangle 10"/>
          <p:cNvSpPr/>
          <p:nvPr/>
        </p:nvSpPr>
        <p:spPr>
          <a:xfrm>
            <a:off x="6190488" y="1920240"/>
            <a:ext cx="2542032" cy="82296"/>
          </a:xfrm>
          <a:prstGeom prst="rect">
            <a:avLst/>
          </a:prstGeom>
          <a:solidFill>
            <a:srgbClr val="005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897112" y="1920240"/>
            <a:ext cx="2542032" cy="2514600"/>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64592" tIns="146304" rIns="164592" bIns="128016" rtlCol="0" anchor="t"/>
          <a:lstStyle/>
          <a:p>
            <a:pPr algn="l">
              <a:spcBef>
                <a:spcPts val="600"/>
              </a:spcBef>
              <a:spcAft>
                <a:spcPts val="800"/>
              </a:spcAft>
            </a:pPr>
            <a:r>
              <a:rPr sz="1500" b="1" i="0">
                <a:solidFill>
                  <a:srgbClr val="131B2E"/>
                </a:solidFill>
                <a:latin typeface="Space Grotesk"/>
              </a:rPr>
              <a:t>LTV</a:t>
            </a:r>
          </a:p>
          <a:p>
            <a:pPr algn="l">
              <a:spcBef>
                <a:spcPts val="0"/>
              </a:spcBef>
              <a:spcAft>
                <a:spcPts val="400"/>
              </a:spcAft>
            </a:pPr>
            <a:r>
              <a:rPr sz="1250" b="0" i="0">
                <a:solidFill>
                  <a:srgbClr val="3D4947"/>
                </a:solidFill>
                <a:latin typeface="Inter"/>
              </a:rPr>
              <a:t>Fonction de l'ARPA [PLACEHOLDER] × durée de vie (rétention Exit-Escrow &gt; 80 % visée).</a:t>
            </a:r>
          </a:p>
        </p:txBody>
      </p:sp>
      <p:sp>
        <p:nvSpPr>
          <p:cNvPr id="13" name="Rectangle 12"/>
          <p:cNvSpPr/>
          <p:nvPr/>
        </p:nvSpPr>
        <p:spPr>
          <a:xfrm>
            <a:off x="8897112" y="1920240"/>
            <a:ext cx="2542032" cy="82296"/>
          </a:xfrm>
          <a:prstGeom prst="rect">
            <a:avLst/>
          </a:prstGeom>
          <a:solidFill>
            <a:srgbClr val="7D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77240" y="4709160"/>
            <a:ext cx="10607040" cy="1280160"/>
          </a:xfrm>
          <a:prstGeom prst="roundRect">
            <a:avLst>
              <a:gd name="adj" fmla="val 6000"/>
            </a:avLst>
          </a:prstGeom>
          <a:solidFill>
            <a:srgbClr val="F2F3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64592" tIns="146304" rIns="164592" bIns="128016" rtlCol="0" anchor="ctr"/>
          <a:lstStyle/>
          <a:p>
            <a:pPr algn="l">
              <a:spcBef>
                <a:spcPts val="0"/>
              </a:spcBef>
              <a:spcAft>
                <a:spcPts val="500"/>
              </a:spcAft>
            </a:pPr>
            <a:r>
              <a:rPr sz="1400" b="0" i="0">
                <a:solidFill>
                  <a:srgbClr val="131B2E"/>
                </a:solidFill>
                <a:latin typeface="Inter"/>
              </a:rPr>
              <a:t>Verrou de viabilité : LTV/CAC sain SI (1) le free tier IA reste sous contrôle (quotas / cache / modèle économe) et (2) la rétention tient grâce à l'Exit Escrow + la supervision continue.</a:t>
            </a:r>
          </a:p>
          <a:p>
            <a:pPr algn="l">
              <a:spcBef>
                <a:spcPts val="0"/>
              </a:spcBef>
              <a:spcAft>
                <a:spcPts val="0"/>
              </a:spcAft>
            </a:pPr>
            <a:r>
              <a:rPr sz="1300" b="1" i="1">
                <a:solidFill>
                  <a:srgbClr val="7D5400"/>
                </a:solidFill>
                <a:latin typeface="Inter"/>
              </a:rPr>
              <a:t>Tout ratio chiffré ici serait fictif tant que ARPA, CAC et churn ne sont pas observés. → priorité : sondage + 5 premières ventes P1.</a:t>
            </a:r>
          </a:p>
        </p:txBody>
      </p:sp>
      <p:sp>
        <p:nvSpPr>
          <p:cNvPr id="15" name="TextBox 14"/>
          <p:cNvSpPr txBox="1"/>
          <p:nvPr/>
        </p:nvSpPr>
        <p:spPr>
          <a:xfrm>
            <a:off x="777240" y="6446520"/>
            <a:ext cx="10607040" cy="274320"/>
          </a:xfrm>
          <a:prstGeom prst="rect">
            <a:avLst/>
          </a:prstGeom>
          <a:noFill/>
        </p:spPr>
        <p:txBody>
          <a:bodyPr wrap="square" lIns="0" tIns="0" rIns="0" bIns="0" anchor="t">
            <a:spAutoFit/>
          </a:bodyPr>
          <a:lstStyle/>
          <a:p>
            <a:pPr algn="l"/>
            <a:r>
              <a:rPr sz="900" b="0" i="0">
                <a:solidFill>
                  <a:srgbClr val="BCC9C6"/>
                </a:solidFill>
                <a:latin typeface="JetBrains Mono"/>
              </a:rPr>
              <a:t>Strate · Business model</a:t>
            </a:r>
          </a:p>
        </p:txBody>
      </p:sp>
      <p:sp>
        <p:nvSpPr>
          <p:cNvPr id="16" name="TextBox 15"/>
          <p:cNvSpPr txBox="1"/>
          <p:nvPr/>
        </p:nvSpPr>
        <p:spPr>
          <a:xfrm>
            <a:off x="10789920" y="6446520"/>
            <a:ext cx="594360" cy="274320"/>
          </a:xfrm>
          <a:prstGeom prst="rect">
            <a:avLst/>
          </a:prstGeom>
          <a:noFill/>
        </p:spPr>
        <p:txBody>
          <a:bodyPr wrap="square" lIns="0" tIns="0" rIns="0" bIns="0" anchor="t">
            <a:spAutoFit/>
          </a:bodyPr>
          <a:lstStyle/>
          <a:p>
            <a:pPr algn="r"/>
            <a:r>
              <a:rPr sz="900" b="0" i="0">
                <a:solidFill>
                  <a:srgbClr val="BCC9C6"/>
                </a:solidFill>
                <a:latin typeface="JetBrains Mono"/>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8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006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02920"/>
            <a:ext cx="10607040" cy="320040"/>
          </a:xfrm>
          <a:prstGeom prst="rect">
            <a:avLst/>
          </a:prstGeom>
          <a:noFill/>
        </p:spPr>
        <p:txBody>
          <a:bodyPr wrap="square" lIns="0" tIns="0" rIns="0" bIns="0" anchor="t">
            <a:spAutoFit/>
          </a:bodyPr>
          <a:lstStyle/>
          <a:p>
            <a:pPr algn="l">
              <a:spcBef>
                <a:spcPts val="0"/>
              </a:spcBef>
              <a:spcAft>
                <a:spcPts val="600"/>
              </a:spcAft>
            </a:pPr>
            <a:r>
              <a:rPr sz="1250" b="1" i="0" spc="140">
                <a:solidFill>
                  <a:srgbClr val="00685F"/>
                </a:solidFill>
                <a:latin typeface="Inter"/>
              </a:rPr>
              <a:t>PARTENARIATS &amp; ALIGNEMENT STRATÉGIQUE</a:t>
            </a:r>
          </a:p>
        </p:txBody>
      </p:sp>
      <p:sp>
        <p:nvSpPr>
          <p:cNvPr id="4" name="TextBox 3"/>
          <p:cNvSpPr txBox="1"/>
          <p:nvPr/>
        </p:nvSpPr>
        <p:spPr>
          <a:xfrm>
            <a:off x="777240" y="841248"/>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31B2E"/>
                </a:solidFill>
                <a:latin typeface="Space Grotesk"/>
              </a:rPr>
              <a:t>Nouer des alliances sans trahir le fiduciaire</a:t>
            </a:r>
          </a:p>
        </p:txBody>
      </p:sp>
      <p:sp>
        <p:nvSpPr>
          <p:cNvPr id="5" name="Rectangle 4"/>
          <p:cNvSpPr/>
          <p:nvPr/>
        </p:nvSpPr>
        <p:spPr>
          <a:xfrm>
            <a:off x="777240" y="1627632"/>
            <a:ext cx="10607040" cy="17780"/>
          </a:xfrm>
          <a:prstGeom prst="rect">
            <a:avLst/>
          </a:prstGeom>
          <a:solidFill>
            <a:srgbClr val="BCC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77240" y="1828800"/>
            <a:ext cx="10607040" cy="868680"/>
          </a:xfrm>
          <a:prstGeom prst="roundRect">
            <a:avLst>
              <a:gd name="adj" fmla="val 6000"/>
            </a:avLst>
          </a:prstGeom>
          <a:solidFill>
            <a:srgbClr val="FFDAD6"/>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64592" tIns="146304" rIns="164592" bIns="128016" rtlCol="0" anchor="ctr"/>
          <a:lstStyle/>
          <a:p>
            <a:pPr algn="ctr">
              <a:spcBef>
                <a:spcPts val="0"/>
              </a:spcBef>
              <a:spcAft>
                <a:spcPts val="0"/>
              </a:spcAft>
            </a:pPr>
            <a:r>
              <a:rPr sz="1450" b="1" i="0">
                <a:solidFill>
                  <a:srgbClr val="93000A"/>
                </a:solidFill>
                <a:latin typeface="Inter"/>
              </a:rPr>
              <a:t>Tension centrale : tout partenariat commissionné par un fournisseur DÉTRUIT le moat fiduciaire (leçon Flipper). Règle : aucune reco conditionnée à une rémunération vendor — jamais.</a:t>
            </a:r>
          </a:p>
        </p:txBody>
      </p:sp>
      <p:sp>
        <p:nvSpPr>
          <p:cNvPr id="7" name="Rounded Rectangle 6"/>
          <p:cNvSpPr/>
          <p:nvPr/>
        </p:nvSpPr>
        <p:spPr>
          <a:xfrm>
            <a:off x="777240" y="2926080"/>
            <a:ext cx="5212080" cy="1508760"/>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82880" rIns="164592" rtlCol="0" anchor="ctr"/>
          <a:lstStyle/>
          <a:p>
            <a:pPr algn="l">
              <a:spcBef>
                <a:spcPts val="0"/>
              </a:spcBef>
              <a:spcAft>
                <a:spcPts val="400"/>
              </a:spcAft>
            </a:pPr>
            <a:r>
              <a:rPr sz="1400" b="1" i="0">
                <a:solidFill>
                  <a:srgbClr val="131B2E"/>
                </a:solidFill>
                <a:latin typeface="Space Grotesk"/>
              </a:rPr>
              <a:t>Fournisseurs d'infra souveraine</a:t>
            </a:r>
          </a:p>
          <a:p>
            <a:pPr algn="l">
              <a:spcBef>
                <a:spcPts val="0"/>
              </a:spcBef>
              <a:spcAft>
                <a:spcPts val="0"/>
              </a:spcAft>
            </a:pPr>
            <a:r>
              <a:rPr sz="1200" b="0" i="0">
                <a:solidFill>
                  <a:srgbClr val="3D4947"/>
                </a:solidFill>
                <a:latin typeface="Inter"/>
              </a:rPr>
              <a:t>Scaleway, OVH, hébergeurs UE/Maroc. Accord : tarif négocié AU NOM du client, rémunération AFFICHÉE — jamais une rétrocommission cachée.</a:t>
            </a:r>
          </a:p>
        </p:txBody>
      </p:sp>
      <p:sp>
        <p:nvSpPr>
          <p:cNvPr id="8" name="Rectangle 7"/>
          <p:cNvSpPr/>
          <p:nvPr/>
        </p:nvSpPr>
        <p:spPr>
          <a:xfrm>
            <a:off x="777240" y="2926080"/>
            <a:ext cx="73152" cy="1508760"/>
          </a:xfrm>
          <a:prstGeom prst="rect">
            <a:avLst/>
          </a:prstGeom>
          <a:solidFill>
            <a:srgbClr val="006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172200" y="2926080"/>
            <a:ext cx="5212080" cy="1508760"/>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82880" rIns="164592" rtlCol="0" anchor="ctr"/>
          <a:lstStyle/>
          <a:p>
            <a:pPr algn="l">
              <a:spcBef>
                <a:spcPts val="0"/>
              </a:spcBef>
              <a:spcAft>
                <a:spcPts val="400"/>
              </a:spcAft>
            </a:pPr>
            <a:r>
              <a:rPr sz="1400" b="1" i="0">
                <a:solidFill>
                  <a:srgbClr val="131B2E"/>
                </a:solidFill>
                <a:latin typeface="Space Grotesk"/>
              </a:rPr>
              <a:t>Intégrateurs &amp; cabinets conseil</a:t>
            </a:r>
          </a:p>
          <a:p>
            <a:pPr algn="l">
              <a:spcBef>
                <a:spcPts val="0"/>
              </a:spcBef>
              <a:spcAft>
                <a:spcPts val="0"/>
              </a:spcAft>
            </a:pPr>
            <a:r>
              <a:rPr sz="1200" b="0" i="0">
                <a:solidFill>
                  <a:srgbClr val="3D4947"/>
                </a:solidFill>
                <a:latin typeface="Inter"/>
              </a:rPr>
              <a:t>Sous-traitance du déploiement Lot 2 / apport d'affaires transparent. Strate reste le mandataire du client.</a:t>
            </a:r>
          </a:p>
        </p:txBody>
      </p:sp>
      <p:sp>
        <p:nvSpPr>
          <p:cNvPr id="10" name="Rectangle 9"/>
          <p:cNvSpPr/>
          <p:nvPr/>
        </p:nvSpPr>
        <p:spPr>
          <a:xfrm>
            <a:off x="6172200" y="2926080"/>
            <a:ext cx="73152" cy="1508760"/>
          </a:xfrm>
          <a:prstGeom prst="rect">
            <a:avLst/>
          </a:prstGeom>
          <a:solidFill>
            <a:srgbClr val="005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77240" y="4599432"/>
            <a:ext cx="5212080" cy="1508760"/>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82880" rIns="164592" rtlCol="0" anchor="ctr"/>
          <a:lstStyle/>
          <a:p>
            <a:pPr algn="l">
              <a:spcBef>
                <a:spcPts val="0"/>
              </a:spcBef>
              <a:spcAft>
                <a:spcPts val="400"/>
              </a:spcAft>
            </a:pPr>
            <a:r>
              <a:rPr sz="1400" b="1" i="0">
                <a:solidFill>
                  <a:srgbClr val="131B2E"/>
                </a:solidFill>
                <a:latin typeface="Space Grotesk"/>
              </a:rPr>
              <a:t>Cabinets juridiques / DPO</a:t>
            </a:r>
          </a:p>
          <a:p>
            <a:pPr algn="l">
              <a:spcBef>
                <a:spcPts val="0"/>
              </a:spcBef>
              <a:spcAft>
                <a:spcPts val="0"/>
              </a:spcAft>
            </a:pPr>
            <a:r>
              <a:rPr sz="1200" b="0" i="0">
                <a:solidFill>
                  <a:srgbClr val="3D4947"/>
                </a:solidFill>
                <a:latin typeface="Inter"/>
              </a:rPr>
              <a:t>Couche conformité (RGPD/CNDP) en produit dérivé ; Strate reste « ingénierie, pas conseil juridique ».</a:t>
            </a:r>
          </a:p>
        </p:txBody>
      </p:sp>
      <p:sp>
        <p:nvSpPr>
          <p:cNvPr id="12" name="Rectangle 11"/>
          <p:cNvSpPr/>
          <p:nvPr/>
        </p:nvSpPr>
        <p:spPr>
          <a:xfrm>
            <a:off x="777240" y="4599432"/>
            <a:ext cx="73152" cy="1508760"/>
          </a:xfrm>
          <a:prstGeom prst="rect">
            <a:avLst/>
          </a:prstGeom>
          <a:solidFill>
            <a:srgbClr val="7D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172200" y="4599432"/>
            <a:ext cx="5212080" cy="1508760"/>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82880" rIns="164592" rtlCol="0" anchor="ctr"/>
          <a:lstStyle/>
          <a:p>
            <a:pPr algn="l">
              <a:spcBef>
                <a:spcPts val="0"/>
              </a:spcBef>
              <a:spcAft>
                <a:spcPts val="400"/>
              </a:spcAft>
            </a:pPr>
            <a:r>
              <a:rPr sz="1400" b="1" i="0">
                <a:solidFill>
                  <a:srgbClr val="131B2E"/>
                </a:solidFill>
                <a:latin typeface="Space Grotesk"/>
              </a:rPr>
              <a:t>Open-source &amp; fournisseurs de modèles</a:t>
            </a:r>
          </a:p>
          <a:p>
            <a:pPr algn="l">
              <a:spcBef>
                <a:spcPts val="0"/>
              </a:spcBef>
              <a:spcAft>
                <a:spcPts val="0"/>
              </a:spcAft>
            </a:pPr>
            <a:r>
              <a:rPr sz="1200" b="0" i="0">
                <a:solidFill>
                  <a:srgbClr val="3D4947"/>
                </a:solidFill>
                <a:latin typeface="Inter"/>
              </a:rPr>
              <a:t>Communautés (embeddings open, LLM) + proxy LiteLLM neutre : on change de modèle sans changer de produit.</a:t>
            </a:r>
          </a:p>
        </p:txBody>
      </p:sp>
      <p:sp>
        <p:nvSpPr>
          <p:cNvPr id="14" name="Rectangle 13"/>
          <p:cNvSpPr/>
          <p:nvPr/>
        </p:nvSpPr>
        <p:spPr>
          <a:xfrm>
            <a:off x="6172200" y="4599432"/>
            <a:ext cx="73152" cy="1508760"/>
          </a:xfrm>
          <a:prstGeom prst="rect">
            <a:avLst/>
          </a:prstGeom>
          <a:solidFill>
            <a:srgbClr val="006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6446520"/>
            <a:ext cx="10607040" cy="274320"/>
          </a:xfrm>
          <a:prstGeom prst="rect">
            <a:avLst/>
          </a:prstGeom>
          <a:noFill/>
        </p:spPr>
        <p:txBody>
          <a:bodyPr wrap="square" lIns="0" tIns="0" rIns="0" bIns="0" anchor="t">
            <a:spAutoFit/>
          </a:bodyPr>
          <a:lstStyle/>
          <a:p>
            <a:pPr algn="l"/>
            <a:r>
              <a:rPr sz="900" b="0" i="0">
                <a:solidFill>
                  <a:srgbClr val="BCC9C6"/>
                </a:solidFill>
                <a:latin typeface="JetBrains Mono"/>
              </a:rPr>
              <a:t>Strate · Business model</a:t>
            </a:r>
          </a:p>
        </p:txBody>
      </p:sp>
      <p:sp>
        <p:nvSpPr>
          <p:cNvPr id="16" name="TextBox 15"/>
          <p:cNvSpPr txBox="1"/>
          <p:nvPr/>
        </p:nvSpPr>
        <p:spPr>
          <a:xfrm>
            <a:off x="10789920" y="6446520"/>
            <a:ext cx="594360" cy="274320"/>
          </a:xfrm>
          <a:prstGeom prst="rect">
            <a:avLst/>
          </a:prstGeom>
          <a:noFill/>
        </p:spPr>
        <p:txBody>
          <a:bodyPr wrap="square" lIns="0" tIns="0" rIns="0" bIns="0" anchor="t">
            <a:spAutoFit/>
          </a:bodyPr>
          <a:lstStyle/>
          <a:p>
            <a:pPr algn="r"/>
            <a:r>
              <a:rPr sz="900" b="0" i="0">
                <a:solidFill>
                  <a:srgbClr val="BCC9C6"/>
                </a:solidFill>
                <a:latin typeface="JetBrains Mono"/>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83044"/>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B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02920"/>
            <a:ext cx="10607040" cy="320040"/>
          </a:xfrm>
          <a:prstGeom prst="rect">
            <a:avLst/>
          </a:prstGeom>
          <a:noFill/>
        </p:spPr>
        <p:txBody>
          <a:bodyPr wrap="square" lIns="0" tIns="0" rIns="0" bIns="0" anchor="t">
            <a:spAutoFit/>
          </a:bodyPr>
          <a:lstStyle/>
          <a:p>
            <a:pPr algn="l">
              <a:spcBef>
                <a:spcPts val="0"/>
              </a:spcBef>
              <a:spcAft>
                <a:spcPts val="600"/>
              </a:spcAft>
            </a:pPr>
            <a:r>
              <a:rPr sz="1250" b="1" i="0" spc="140">
                <a:solidFill>
                  <a:srgbClr val="FFB4AB"/>
                </a:solidFill>
                <a:latin typeface="Inter"/>
              </a:rPr>
              <a:t>AVOCAT DU DIABLE</a:t>
            </a:r>
          </a:p>
        </p:txBody>
      </p:sp>
      <p:sp>
        <p:nvSpPr>
          <p:cNvPr id="4" name="TextBox 3"/>
          <p:cNvSpPr txBox="1"/>
          <p:nvPr/>
        </p:nvSpPr>
        <p:spPr>
          <a:xfrm>
            <a:off x="777240" y="841248"/>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FFFFFF"/>
                </a:solidFill>
                <a:latin typeface="Space Grotesk"/>
              </a:rPr>
              <a:t>Ce qui pourrait tuer Strate</a:t>
            </a:r>
          </a:p>
        </p:txBody>
      </p:sp>
      <p:sp>
        <p:nvSpPr>
          <p:cNvPr id="5" name="Rectangle 4"/>
          <p:cNvSpPr/>
          <p:nvPr/>
        </p:nvSpPr>
        <p:spPr>
          <a:xfrm>
            <a:off x="777240" y="1627632"/>
            <a:ext cx="10607040" cy="17780"/>
          </a:xfrm>
          <a:prstGeom prst="rect">
            <a:avLst/>
          </a:prstGeom>
          <a:solidFill>
            <a:srgbClr val="4A5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965960"/>
            <a:ext cx="10607040" cy="4114800"/>
          </a:xfrm>
          <a:prstGeom prst="rect">
            <a:avLst/>
          </a:prstGeom>
          <a:noFill/>
        </p:spPr>
        <p:txBody>
          <a:bodyPr wrap="square" lIns="0" tIns="0" rIns="0" bIns="0" anchor="t">
            <a:spAutoFit/>
          </a:bodyPr>
          <a:lstStyle/>
          <a:p>
            <a:pPr algn="l">
              <a:spcBef>
                <a:spcPts val="0"/>
              </a:spcBef>
              <a:spcAft>
                <a:spcPts val="1600"/>
              </a:spcAft>
            </a:pPr>
            <a:r>
              <a:rPr sz="1500" b="0" i="1">
                <a:solidFill>
                  <a:srgbClr val="FFBA46"/>
                </a:solidFill>
                <a:latin typeface="Inter"/>
              </a:rPr>
              <a:t>Sans complaisance — chaque risque appelle une expérience ou une preuve, pas une réassurance.</a:t>
            </a:r>
          </a:p>
          <a:p>
            <a:pPr>
              <a:lnSpc>
                <a:spcPct val="108000"/>
              </a:lnSpc>
              <a:spcAft>
                <a:spcPts val="1100"/>
              </a:spcAft>
            </a:pPr>
            <a:r>
              <a:rPr sz="1400" b="1" i="0">
                <a:solidFill>
                  <a:srgbClr val="FFB4AB"/>
                </a:solidFill>
                <a:latin typeface="Inter"/>
              </a:rPr>
              <a:t>▸  </a:t>
            </a:r>
            <a:r>
              <a:rPr sz="1400" b="0" i="0">
                <a:solidFill>
                  <a:srgbClr val="EEF0FF"/>
                </a:solidFill>
                <a:latin typeface="Inter"/>
              </a:rPr>
              <a:t>Unit economics réelles : la marge survit-elle au coût IA du free tier et au CAC hors-communauté ?</a:t>
            </a:r>
          </a:p>
          <a:p>
            <a:pPr>
              <a:lnSpc>
                <a:spcPct val="108000"/>
              </a:lnSpc>
              <a:spcAft>
                <a:spcPts val="1100"/>
              </a:spcAft>
            </a:pPr>
            <a:r>
              <a:rPr sz="1400" b="1" i="0">
                <a:solidFill>
                  <a:srgbClr val="FFB4AB"/>
                </a:solidFill>
                <a:latin typeface="Inter"/>
              </a:rPr>
              <a:t>▸  </a:t>
            </a:r>
            <a:r>
              <a:rPr sz="1400" b="0" i="0">
                <a:solidFill>
                  <a:srgbClr val="EEF0FF"/>
                </a:solidFill>
                <a:latin typeface="Inter"/>
              </a:rPr>
              <a:t>Dépendance fournisseurs (LLM / Firecrawl) : prêcher la souveraineté en dépendant d'API tierces ?</a:t>
            </a:r>
          </a:p>
          <a:p>
            <a:pPr>
              <a:lnSpc>
                <a:spcPct val="108000"/>
              </a:lnSpc>
              <a:spcAft>
                <a:spcPts val="1100"/>
              </a:spcAft>
            </a:pPr>
            <a:r>
              <a:rPr sz="1400" b="1" i="0">
                <a:solidFill>
                  <a:srgbClr val="FFB4AB"/>
                </a:solidFill>
                <a:latin typeface="Inter"/>
              </a:rPr>
              <a:t>▸  </a:t>
            </a:r>
            <a:r>
              <a:rPr sz="1400" b="0" i="0">
                <a:solidFill>
                  <a:srgbClr val="EEF0FF"/>
                </a:solidFill>
                <a:latin typeface="Inter"/>
              </a:rPr>
              <a:t>Érosion des moats : un hyperscaler peut-il copier l'Exit Escrow ? l'effet réseau est-il réel ?</a:t>
            </a:r>
          </a:p>
          <a:p>
            <a:pPr>
              <a:lnSpc>
                <a:spcPct val="108000"/>
              </a:lnSpc>
              <a:spcAft>
                <a:spcPts val="1100"/>
              </a:spcAft>
            </a:pPr>
            <a:r>
              <a:rPr sz="1400" b="1" i="0">
                <a:solidFill>
                  <a:srgbClr val="FFB4AB"/>
                </a:solidFill>
                <a:latin typeface="Inter"/>
              </a:rPr>
              <a:t>▸  </a:t>
            </a:r>
            <a:r>
              <a:rPr sz="1400" b="0" i="0">
                <a:solidFill>
                  <a:srgbClr val="EEF0FF"/>
                </a:solidFill>
                <a:latin typeface="Inter"/>
              </a:rPr>
              <a:t>Risque juridique : Strate frôle-t-il le conseil réglementé (juridique / financier) ?</a:t>
            </a:r>
          </a:p>
          <a:p>
            <a:pPr>
              <a:lnSpc>
                <a:spcPct val="108000"/>
              </a:lnSpc>
              <a:spcAft>
                <a:spcPts val="1100"/>
              </a:spcAft>
            </a:pPr>
            <a:r>
              <a:rPr sz="1400" b="1" i="0">
                <a:solidFill>
                  <a:srgbClr val="FFB4AB"/>
                </a:solidFill>
                <a:latin typeface="Inter"/>
              </a:rPr>
              <a:t>▸  </a:t>
            </a:r>
            <a:r>
              <a:rPr sz="1400" b="0" i="0">
                <a:solidFill>
                  <a:srgbClr val="EEF0FF"/>
                </a:solidFill>
                <a:latin typeface="Inter"/>
              </a:rPr>
              <a:t>Marché : la « souveraineté IA » est-elle un marché assez grand et mûr, et payant ?</a:t>
            </a:r>
          </a:p>
          <a:p>
            <a:pPr>
              <a:lnSpc>
                <a:spcPct val="108000"/>
              </a:lnSpc>
              <a:spcAft>
                <a:spcPts val="1100"/>
              </a:spcAft>
            </a:pPr>
            <a:r>
              <a:rPr sz="1400" b="1" i="0">
                <a:solidFill>
                  <a:srgbClr val="FFB4AB"/>
                </a:solidFill>
                <a:latin typeface="Inter"/>
              </a:rPr>
              <a:t>▸  </a:t>
            </a:r>
            <a:r>
              <a:rPr sz="1400" b="0" i="0">
                <a:solidFill>
                  <a:srgbClr val="EEF0FF"/>
                </a:solidFill>
                <a:latin typeface="Inter"/>
              </a:rPr>
              <a:t>Le piège du [PLACEHOLDER] : et si la willingness-to-pay est trop basse pour la cuisine ?</a:t>
            </a:r>
          </a:p>
        </p:txBody>
      </p:sp>
      <p:sp>
        <p:nvSpPr>
          <p:cNvPr id="7" name="TextBox 6"/>
          <p:cNvSpPr txBox="1"/>
          <p:nvPr/>
        </p:nvSpPr>
        <p:spPr>
          <a:xfrm>
            <a:off x="777240" y="6446520"/>
            <a:ext cx="10607040" cy="274320"/>
          </a:xfrm>
          <a:prstGeom prst="rect">
            <a:avLst/>
          </a:prstGeom>
          <a:noFill/>
        </p:spPr>
        <p:txBody>
          <a:bodyPr wrap="square" lIns="0" tIns="0" rIns="0" bIns="0" anchor="t">
            <a:spAutoFit/>
          </a:bodyPr>
          <a:lstStyle/>
          <a:p>
            <a:pPr algn="l"/>
            <a:r>
              <a:rPr sz="900" b="0" i="0">
                <a:solidFill>
                  <a:srgbClr val="BCC9C6"/>
                </a:solidFill>
                <a:latin typeface="JetBrains Mono"/>
              </a:rPr>
              <a:t>Strate · Business model</a:t>
            </a:r>
          </a:p>
        </p:txBody>
      </p:sp>
      <p:sp>
        <p:nvSpPr>
          <p:cNvPr id="8" name="TextBox 7"/>
          <p:cNvSpPr txBox="1"/>
          <p:nvPr/>
        </p:nvSpPr>
        <p:spPr>
          <a:xfrm>
            <a:off x="10789920" y="6446520"/>
            <a:ext cx="594360" cy="274320"/>
          </a:xfrm>
          <a:prstGeom prst="rect">
            <a:avLst/>
          </a:prstGeom>
          <a:noFill/>
        </p:spPr>
        <p:txBody>
          <a:bodyPr wrap="square" lIns="0" tIns="0" rIns="0" bIns="0" anchor="t">
            <a:spAutoFit/>
          </a:bodyPr>
          <a:lstStyle/>
          <a:p>
            <a:pPr algn="r"/>
            <a:r>
              <a:rPr sz="900" b="0" i="0">
                <a:solidFill>
                  <a:srgbClr val="BCC9C6"/>
                </a:solidFill>
                <a:latin typeface="JetBrains Mono"/>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8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B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02920"/>
            <a:ext cx="10607040" cy="320040"/>
          </a:xfrm>
          <a:prstGeom prst="rect">
            <a:avLst/>
          </a:prstGeom>
          <a:noFill/>
        </p:spPr>
        <p:txBody>
          <a:bodyPr wrap="square" lIns="0" tIns="0" rIns="0" bIns="0" anchor="t">
            <a:spAutoFit/>
          </a:bodyPr>
          <a:lstStyle/>
          <a:p>
            <a:pPr algn="l">
              <a:spcBef>
                <a:spcPts val="0"/>
              </a:spcBef>
              <a:spcAft>
                <a:spcPts val="600"/>
              </a:spcAft>
            </a:pPr>
            <a:r>
              <a:rPr sz="1250" b="1" i="0" spc="140">
                <a:solidFill>
                  <a:srgbClr val="BA1A1A"/>
                </a:solidFill>
                <a:latin typeface="Inter"/>
              </a:rPr>
              <a:t>AVOCAT DU DIABLE · RISQUES 1/2</a:t>
            </a:r>
          </a:p>
        </p:txBody>
      </p:sp>
      <p:sp>
        <p:nvSpPr>
          <p:cNvPr id="4" name="TextBox 3"/>
          <p:cNvSpPr txBox="1"/>
          <p:nvPr/>
        </p:nvSpPr>
        <p:spPr>
          <a:xfrm>
            <a:off x="777240" y="841248"/>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31B2E"/>
                </a:solidFill>
                <a:latin typeface="Space Grotesk"/>
              </a:rPr>
              <a:t>Risque → angle aveugle → preuve à mener</a:t>
            </a:r>
          </a:p>
        </p:txBody>
      </p:sp>
      <p:sp>
        <p:nvSpPr>
          <p:cNvPr id="5" name="Rectangle 4"/>
          <p:cNvSpPr/>
          <p:nvPr/>
        </p:nvSpPr>
        <p:spPr>
          <a:xfrm>
            <a:off x="777240" y="1627632"/>
            <a:ext cx="10607040" cy="17780"/>
          </a:xfrm>
          <a:prstGeom prst="rect">
            <a:avLst/>
          </a:prstGeom>
          <a:solidFill>
            <a:srgbClr val="BCC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77240" y="1828800"/>
            <a:ext cx="10607040" cy="1325880"/>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l">
              <a:spcBef>
                <a:spcPts val="0"/>
              </a:spcBef>
              <a:spcAft>
                <a:spcPts val="400"/>
              </a:spcAft>
            </a:pPr>
            <a:r>
              <a:rPr sz="1500" b="1" i="0">
                <a:solidFill>
                  <a:srgbClr val="BA1A1A"/>
                </a:solidFill>
                <a:latin typeface="Space Grotesk"/>
              </a:rPr>
              <a:t>Unit economics</a:t>
            </a:r>
          </a:p>
          <a:p>
            <a:pPr>
              <a:spcAft>
                <a:spcPts val="400"/>
              </a:spcAft>
            </a:pPr>
            <a:r>
              <a:rPr sz="1200" b="1" i="0">
                <a:solidFill>
                  <a:srgbClr val="131B2E"/>
                </a:solidFill>
                <a:latin typeface="Inter"/>
              </a:rPr>
              <a:t>Angle aveugle : </a:t>
            </a:r>
            <a:r>
              <a:rPr sz="1200" b="0" i="0">
                <a:solidFill>
                  <a:srgbClr val="3D4947"/>
                </a:solidFill>
                <a:latin typeface="Inter"/>
              </a:rPr>
              <a:t>Coût LLM/Firecrawl du free tier + CAC hors-communauté peuvent éroder la marge avant conversion.</a:t>
            </a:r>
          </a:p>
          <a:p>
            <a:pPr>
              <a:spcAft>
                <a:spcPts val="0"/>
              </a:spcAft>
            </a:pPr>
            <a:r>
              <a:rPr sz="1200" b="1" i="0">
                <a:solidFill>
                  <a:srgbClr val="00685F"/>
                </a:solidFill>
                <a:latin typeface="Inter"/>
              </a:rPr>
              <a:t>Preuve à mener : </a:t>
            </a:r>
            <a:r>
              <a:rPr sz="1200" b="0" i="0">
                <a:solidFill>
                  <a:srgbClr val="00685F"/>
                </a:solidFill>
                <a:latin typeface="Inter"/>
              </a:rPr>
              <a:t>Mesurer coût IA/lead + conversion sur 50 diagnostics réels ; tester quotas/cache.</a:t>
            </a:r>
          </a:p>
        </p:txBody>
      </p:sp>
      <p:sp>
        <p:nvSpPr>
          <p:cNvPr id="7" name="Rectangle 6"/>
          <p:cNvSpPr/>
          <p:nvPr/>
        </p:nvSpPr>
        <p:spPr>
          <a:xfrm>
            <a:off x="777240" y="1828800"/>
            <a:ext cx="82296" cy="1325880"/>
          </a:xfrm>
          <a:prstGeom prst="rect">
            <a:avLst/>
          </a:prstGeom>
          <a:solidFill>
            <a:srgbClr val="B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77240" y="3300984"/>
            <a:ext cx="10607040" cy="1325880"/>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l">
              <a:spcBef>
                <a:spcPts val="0"/>
              </a:spcBef>
              <a:spcAft>
                <a:spcPts val="400"/>
              </a:spcAft>
            </a:pPr>
            <a:r>
              <a:rPr sz="1500" b="1" i="0">
                <a:solidFill>
                  <a:srgbClr val="BA1A1A"/>
                </a:solidFill>
                <a:latin typeface="Space Grotesk"/>
              </a:rPr>
              <a:t>Dépendance fournisseurs</a:t>
            </a:r>
          </a:p>
          <a:p>
            <a:pPr>
              <a:spcAft>
                <a:spcPts val="400"/>
              </a:spcAft>
            </a:pPr>
            <a:r>
              <a:rPr sz="1200" b="1" i="0">
                <a:solidFill>
                  <a:srgbClr val="131B2E"/>
                </a:solidFill>
                <a:latin typeface="Inter"/>
              </a:rPr>
              <a:t>Angle aveugle : </a:t>
            </a:r>
            <a:r>
              <a:rPr sz="1200" b="0" i="0">
                <a:solidFill>
                  <a:srgbClr val="3D4947"/>
                </a:solidFill>
                <a:latin typeface="Inter"/>
              </a:rPr>
              <a:t>Souveraineté prêchée mais intake/narration/assistant dépendent d'un LLM tiers ; price feed dépend de Firecrawl.</a:t>
            </a:r>
          </a:p>
          <a:p>
            <a:pPr>
              <a:spcAft>
                <a:spcPts val="0"/>
              </a:spcAft>
            </a:pPr>
            <a:r>
              <a:rPr sz="1200" b="1" i="0">
                <a:solidFill>
                  <a:srgbClr val="00685F"/>
                </a:solidFill>
                <a:latin typeface="Inter"/>
              </a:rPr>
              <a:t>Preuve à mener : </a:t>
            </a:r>
            <a:r>
              <a:rPr sz="1200" b="0" i="0">
                <a:solidFill>
                  <a:srgbClr val="00685F"/>
                </a:solidFill>
                <a:latin typeface="Inter"/>
              </a:rPr>
              <a:t>Repli déterministe déjà codé ; tester un LLM auto-hébergé via LiteLLM ; dégradation gracieuse vérifiée.</a:t>
            </a:r>
          </a:p>
        </p:txBody>
      </p:sp>
      <p:sp>
        <p:nvSpPr>
          <p:cNvPr id="9" name="Rectangle 8"/>
          <p:cNvSpPr/>
          <p:nvPr/>
        </p:nvSpPr>
        <p:spPr>
          <a:xfrm>
            <a:off x="777240" y="3300984"/>
            <a:ext cx="82296" cy="1325880"/>
          </a:xfrm>
          <a:prstGeom prst="rect">
            <a:avLst/>
          </a:prstGeom>
          <a:solidFill>
            <a:srgbClr val="B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77240" y="4773168"/>
            <a:ext cx="10607040" cy="1325880"/>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l">
              <a:spcBef>
                <a:spcPts val="0"/>
              </a:spcBef>
              <a:spcAft>
                <a:spcPts val="400"/>
              </a:spcAft>
            </a:pPr>
            <a:r>
              <a:rPr sz="1500" b="1" i="0">
                <a:solidFill>
                  <a:srgbClr val="BA1A1A"/>
                </a:solidFill>
                <a:latin typeface="Space Grotesk"/>
              </a:rPr>
              <a:t>Érosion des moats</a:t>
            </a:r>
          </a:p>
          <a:p>
            <a:pPr>
              <a:spcAft>
                <a:spcPts val="400"/>
              </a:spcAft>
            </a:pPr>
            <a:r>
              <a:rPr sz="1200" b="1" i="0">
                <a:solidFill>
                  <a:srgbClr val="131B2E"/>
                </a:solidFill>
                <a:latin typeface="Inter"/>
              </a:rPr>
              <a:t>Angle aveugle : </a:t>
            </a:r>
            <a:r>
              <a:rPr sz="1200" b="0" i="0">
                <a:solidFill>
                  <a:srgbClr val="3D4947"/>
                </a:solidFill>
                <a:latin typeface="Inter"/>
              </a:rPr>
              <a:t>L'Exit Escrow est copiable ; l'effet réseau n'existe qu'avec un volume de déploiements monitorés.</a:t>
            </a:r>
          </a:p>
          <a:p>
            <a:pPr>
              <a:spcAft>
                <a:spcPts val="0"/>
              </a:spcAft>
            </a:pPr>
            <a:r>
              <a:rPr sz="1200" b="1" i="0">
                <a:solidFill>
                  <a:srgbClr val="00685F"/>
                </a:solidFill>
                <a:latin typeface="Inter"/>
              </a:rPr>
              <a:t>Preuve à mener : </a:t>
            </a:r>
            <a:r>
              <a:rPr sz="1200" b="0" i="0">
                <a:solidFill>
                  <a:srgbClr val="00685F"/>
                </a:solidFill>
                <a:latin typeface="Inter"/>
              </a:rPr>
              <a:t>Mesurer le temps avant 1er effet réseau ; documenter pourquoi un commissionné ne peut pas copier le fiduciaire.</a:t>
            </a:r>
          </a:p>
        </p:txBody>
      </p:sp>
      <p:sp>
        <p:nvSpPr>
          <p:cNvPr id="11" name="Rectangle 10"/>
          <p:cNvSpPr/>
          <p:nvPr/>
        </p:nvSpPr>
        <p:spPr>
          <a:xfrm>
            <a:off x="777240" y="4773168"/>
            <a:ext cx="82296" cy="1325880"/>
          </a:xfrm>
          <a:prstGeom prst="rect">
            <a:avLst/>
          </a:prstGeom>
          <a:solidFill>
            <a:srgbClr val="B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6446520"/>
            <a:ext cx="10607040" cy="274320"/>
          </a:xfrm>
          <a:prstGeom prst="rect">
            <a:avLst/>
          </a:prstGeom>
          <a:noFill/>
        </p:spPr>
        <p:txBody>
          <a:bodyPr wrap="square" lIns="0" tIns="0" rIns="0" bIns="0" anchor="t">
            <a:spAutoFit/>
          </a:bodyPr>
          <a:lstStyle/>
          <a:p>
            <a:pPr algn="l"/>
            <a:r>
              <a:rPr sz="900" b="0" i="0">
                <a:solidFill>
                  <a:srgbClr val="BCC9C6"/>
                </a:solidFill>
                <a:latin typeface="JetBrains Mono"/>
              </a:rPr>
              <a:t>Strate · Business model</a:t>
            </a:r>
          </a:p>
        </p:txBody>
      </p:sp>
      <p:sp>
        <p:nvSpPr>
          <p:cNvPr id="13" name="TextBox 12"/>
          <p:cNvSpPr txBox="1"/>
          <p:nvPr/>
        </p:nvSpPr>
        <p:spPr>
          <a:xfrm>
            <a:off x="10789920" y="6446520"/>
            <a:ext cx="594360" cy="274320"/>
          </a:xfrm>
          <a:prstGeom prst="rect">
            <a:avLst/>
          </a:prstGeom>
          <a:noFill/>
        </p:spPr>
        <p:txBody>
          <a:bodyPr wrap="square" lIns="0" tIns="0" rIns="0" bIns="0" anchor="t">
            <a:spAutoFit/>
          </a:bodyPr>
          <a:lstStyle/>
          <a:p>
            <a:pPr algn="r"/>
            <a:r>
              <a:rPr sz="900" b="0" i="0">
                <a:solidFill>
                  <a:srgbClr val="BCC9C6"/>
                </a:solidFill>
                <a:latin typeface="JetBrains Mono"/>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8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B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02920"/>
            <a:ext cx="10607040" cy="320040"/>
          </a:xfrm>
          <a:prstGeom prst="rect">
            <a:avLst/>
          </a:prstGeom>
          <a:noFill/>
        </p:spPr>
        <p:txBody>
          <a:bodyPr wrap="square" lIns="0" tIns="0" rIns="0" bIns="0" anchor="t">
            <a:spAutoFit/>
          </a:bodyPr>
          <a:lstStyle/>
          <a:p>
            <a:pPr algn="l">
              <a:spcBef>
                <a:spcPts val="0"/>
              </a:spcBef>
              <a:spcAft>
                <a:spcPts val="600"/>
              </a:spcAft>
            </a:pPr>
            <a:r>
              <a:rPr sz="1250" b="1" i="0" spc="140">
                <a:solidFill>
                  <a:srgbClr val="BA1A1A"/>
                </a:solidFill>
                <a:latin typeface="Inter"/>
              </a:rPr>
              <a:t>AVOCAT DU DIABLE · RISQUES 2/2</a:t>
            </a:r>
          </a:p>
        </p:txBody>
      </p:sp>
      <p:sp>
        <p:nvSpPr>
          <p:cNvPr id="4" name="TextBox 3"/>
          <p:cNvSpPr txBox="1"/>
          <p:nvPr/>
        </p:nvSpPr>
        <p:spPr>
          <a:xfrm>
            <a:off x="777240" y="841248"/>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31B2E"/>
                </a:solidFill>
                <a:latin typeface="Space Grotesk"/>
              </a:rPr>
              <a:t>Risque → angle aveugle → preuve à mener</a:t>
            </a:r>
          </a:p>
        </p:txBody>
      </p:sp>
      <p:sp>
        <p:nvSpPr>
          <p:cNvPr id="5" name="Rectangle 4"/>
          <p:cNvSpPr/>
          <p:nvPr/>
        </p:nvSpPr>
        <p:spPr>
          <a:xfrm>
            <a:off x="777240" y="1627632"/>
            <a:ext cx="10607040" cy="17780"/>
          </a:xfrm>
          <a:prstGeom prst="rect">
            <a:avLst/>
          </a:prstGeom>
          <a:solidFill>
            <a:srgbClr val="BCC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77240" y="1828800"/>
            <a:ext cx="10607040" cy="1024128"/>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l">
              <a:spcBef>
                <a:spcPts val="0"/>
              </a:spcBef>
              <a:spcAft>
                <a:spcPts val="300"/>
              </a:spcAft>
            </a:pPr>
            <a:r>
              <a:rPr sz="1400" b="1" i="0">
                <a:solidFill>
                  <a:srgbClr val="BA1A1A"/>
                </a:solidFill>
                <a:latin typeface="Space Grotesk"/>
              </a:rPr>
              <a:t>Risque juridique</a:t>
            </a:r>
          </a:p>
          <a:p>
            <a:pPr>
              <a:spcAft>
                <a:spcPts val="300"/>
              </a:spcAft>
            </a:pPr>
            <a:r>
              <a:rPr sz="1150" b="1" i="0">
                <a:solidFill>
                  <a:srgbClr val="131B2E"/>
                </a:solidFill>
                <a:latin typeface="Inter"/>
              </a:rPr>
              <a:t>Angle aveugle : </a:t>
            </a:r>
            <a:r>
              <a:rPr sz="1150" b="0" i="0">
                <a:solidFill>
                  <a:srgbClr val="3D4947"/>
                </a:solidFill>
                <a:latin typeface="Inter"/>
              </a:rPr>
              <a:t>Conseil souveraineté/conformité peut être lu comme du conseil juridique ou financier réglementé.</a:t>
            </a:r>
          </a:p>
          <a:p>
            <a:pPr>
              <a:spcAft>
                <a:spcPts val="0"/>
              </a:spcAft>
            </a:pPr>
            <a:r>
              <a:rPr sz="1150" b="1" i="0">
                <a:solidFill>
                  <a:srgbClr val="00685F"/>
                </a:solidFill>
                <a:latin typeface="Inter"/>
              </a:rPr>
              <a:t>Preuve : </a:t>
            </a:r>
            <a:r>
              <a:rPr sz="1150" b="0" i="0">
                <a:solidFill>
                  <a:srgbClr val="00685F"/>
                </a:solidFill>
                <a:latin typeface="Inter"/>
              </a:rPr>
              <a:t>Disclaimer « ingénierie, pas juridique » partout ; partenariat DPO/avocat ; faire relire les CGU.</a:t>
            </a:r>
          </a:p>
        </p:txBody>
      </p:sp>
      <p:sp>
        <p:nvSpPr>
          <p:cNvPr id="7" name="Rectangle 6"/>
          <p:cNvSpPr/>
          <p:nvPr/>
        </p:nvSpPr>
        <p:spPr>
          <a:xfrm>
            <a:off x="777240" y="1828800"/>
            <a:ext cx="82296" cy="1024128"/>
          </a:xfrm>
          <a:prstGeom prst="rect">
            <a:avLst/>
          </a:prstGeom>
          <a:solidFill>
            <a:srgbClr val="B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77240" y="2962656"/>
            <a:ext cx="10607040" cy="1024128"/>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l">
              <a:spcBef>
                <a:spcPts val="0"/>
              </a:spcBef>
              <a:spcAft>
                <a:spcPts val="300"/>
              </a:spcAft>
            </a:pPr>
            <a:r>
              <a:rPr sz="1400" b="1" i="0">
                <a:solidFill>
                  <a:srgbClr val="BA1A1A"/>
                </a:solidFill>
                <a:latin typeface="Space Grotesk"/>
              </a:rPr>
              <a:t>Marché &amp; maturité</a:t>
            </a:r>
          </a:p>
          <a:p>
            <a:pPr>
              <a:spcAft>
                <a:spcPts val="300"/>
              </a:spcAft>
            </a:pPr>
            <a:r>
              <a:rPr sz="1150" b="1" i="0">
                <a:solidFill>
                  <a:srgbClr val="131B2E"/>
                </a:solidFill>
                <a:latin typeface="Inter"/>
              </a:rPr>
              <a:t>Angle aveugle : </a:t>
            </a:r>
            <a:r>
              <a:rPr sz="1150" b="0" i="0">
                <a:solidFill>
                  <a:srgbClr val="3D4947"/>
                </a:solidFill>
                <a:latin typeface="Inter"/>
              </a:rPr>
              <a:t>Aucun TAM sourcé : « souveraineté IA » peut être un marché de niche, ou pas encore payant.</a:t>
            </a:r>
          </a:p>
          <a:p>
            <a:pPr>
              <a:spcAft>
                <a:spcPts val="0"/>
              </a:spcAft>
            </a:pPr>
            <a:r>
              <a:rPr sz="1150" b="1" i="0">
                <a:solidFill>
                  <a:srgbClr val="00685F"/>
                </a:solidFill>
                <a:latin typeface="Inter"/>
              </a:rPr>
              <a:t>Preuve : </a:t>
            </a:r>
            <a:r>
              <a:rPr sz="1150" b="0" i="0">
                <a:solidFill>
                  <a:srgbClr val="00685F"/>
                </a:solidFill>
                <a:latin typeface="Inter"/>
              </a:rPr>
              <a:t>Sourcer une vraie taille de marché ; valider 5 LOI/arrhes P1 avant d'extrapoler.</a:t>
            </a:r>
          </a:p>
        </p:txBody>
      </p:sp>
      <p:sp>
        <p:nvSpPr>
          <p:cNvPr id="9" name="Rectangle 8"/>
          <p:cNvSpPr/>
          <p:nvPr/>
        </p:nvSpPr>
        <p:spPr>
          <a:xfrm>
            <a:off x="777240" y="2962656"/>
            <a:ext cx="82296" cy="1024128"/>
          </a:xfrm>
          <a:prstGeom prst="rect">
            <a:avLst/>
          </a:prstGeom>
          <a:solidFill>
            <a:srgbClr val="B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77240" y="4096512"/>
            <a:ext cx="10607040" cy="1024128"/>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l">
              <a:spcBef>
                <a:spcPts val="0"/>
              </a:spcBef>
              <a:spcAft>
                <a:spcPts val="300"/>
              </a:spcAft>
            </a:pPr>
            <a:r>
              <a:rPr sz="1400" b="1" i="0">
                <a:solidFill>
                  <a:srgbClr val="BA1A1A"/>
                </a:solidFill>
                <a:latin typeface="Space Grotesk"/>
              </a:rPr>
              <a:t>Cycle B2B &amp; exécution solo</a:t>
            </a:r>
          </a:p>
          <a:p>
            <a:pPr>
              <a:spcAft>
                <a:spcPts val="300"/>
              </a:spcAft>
            </a:pPr>
            <a:r>
              <a:rPr sz="1150" b="1" i="0">
                <a:solidFill>
                  <a:srgbClr val="131B2E"/>
                </a:solidFill>
                <a:latin typeface="Inter"/>
              </a:rPr>
              <a:t>Angle aveugle : </a:t>
            </a:r>
            <a:r>
              <a:rPr sz="1150" b="0" i="0">
                <a:solidFill>
                  <a:srgbClr val="3D4947"/>
                </a:solidFill>
                <a:latin typeface="Inter"/>
              </a:rPr>
              <a:t>Vente régulés = cycle long ; petite équipe = risque d'exécution et de bus-factor.</a:t>
            </a:r>
          </a:p>
          <a:p>
            <a:pPr>
              <a:spcAft>
                <a:spcPts val="0"/>
              </a:spcAft>
            </a:pPr>
            <a:r>
              <a:rPr sz="1150" b="1" i="0">
                <a:solidFill>
                  <a:srgbClr val="00685F"/>
                </a:solidFill>
                <a:latin typeface="Inter"/>
              </a:rPr>
              <a:t>Preuve : </a:t>
            </a:r>
            <a:r>
              <a:rPr sz="1150" b="0" i="0">
                <a:solidFill>
                  <a:srgbClr val="00685F"/>
                </a:solidFill>
                <a:latin typeface="Inter"/>
              </a:rPr>
              <a:t>Concentrer P1/P2 (cycle court) ; documenter ; recruter sur les goulots ; jalonner.</a:t>
            </a:r>
          </a:p>
        </p:txBody>
      </p:sp>
      <p:sp>
        <p:nvSpPr>
          <p:cNvPr id="11" name="Rectangle 10"/>
          <p:cNvSpPr/>
          <p:nvPr/>
        </p:nvSpPr>
        <p:spPr>
          <a:xfrm>
            <a:off x="777240" y="4096512"/>
            <a:ext cx="82296" cy="1024128"/>
          </a:xfrm>
          <a:prstGeom prst="rect">
            <a:avLst/>
          </a:prstGeom>
          <a:solidFill>
            <a:srgbClr val="B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77240" y="5230368"/>
            <a:ext cx="10607040" cy="1024128"/>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l">
              <a:spcBef>
                <a:spcPts val="0"/>
              </a:spcBef>
              <a:spcAft>
                <a:spcPts val="300"/>
              </a:spcAft>
            </a:pPr>
            <a:r>
              <a:rPr sz="1400" b="1" i="0">
                <a:solidFill>
                  <a:srgbClr val="BA1A1A"/>
                </a:solidFill>
                <a:latin typeface="Space Grotesk"/>
              </a:rPr>
              <a:t>Le piège du [PLACEHOLDER]</a:t>
            </a:r>
          </a:p>
          <a:p>
            <a:pPr>
              <a:spcAft>
                <a:spcPts val="300"/>
              </a:spcAft>
            </a:pPr>
            <a:r>
              <a:rPr sz="1150" b="1" i="0">
                <a:solidFill>
                  <a:srgbClr val="131B2E"/>
                </a:solidFill>
                <a:latin typeface="Inter"/>
              </a:rPr>
              <a:t>Angle aveugle : </a:t>
            </a:r>
            <a:r>
              <a:rPr sz="1150" b="0" i="0">
                <a:solidFill>
                  <a:srgbClr val="3D4947"/>
                </a:solidFill>
                <a:latin typeface="Inter"/>
              </a:rPr>
              <a:t>Si la WTP &lt; coût de servir la cuisine, le modèle payant ne tient pas.</a:t>
            </a:r>
          </a:p>
          <a:p>
            <a:pPr>
              <a:spcAft>
                <a:spcPts val="0"/>
              </a:spcAft>
            </a:pPr>
            <a:r>
              <a:rPr sz="1150" b="1" i="0">
                <a:solidFill>
                  <a:srgbClr val="00685F"/>
                </a:solidFill>
                <a:latin typeface="Inter"/>
              </a:rPr>
              <a:t>Preuve : </a:t>
            </a:r>
            <a:r>
              <a:rPr sz="1150" b="0" i="0">
                <a:solidFill>
                  <a:srgbClr val="00685F"/>
                </a:solidFill>
                <a:latin typeface="Inter"/>
              </a:rPr>
              <a:t>Clore le sondage (seuils VW/conjoint) AVANT tout scale ; tester 3 prix sur ventes réelles.</a:t>
            </a:r>
          </a:p>
        </p:txBody>
      </p:sp>
      <p:sp>
        <p:nvSpPr>
          <p:cNvPr id="13" name="Rectangle 12"/>
          <p:cNvSpPr/>
          <p:nvPr/>
        </p:nvSpPr>
        <p:spPr>
          <a:xfrm>
            <a:off x="777240" y="5230368"/>
            <a:ext cx="82296" cy="1024128"/>
          </a:xfrm>
          <a:prstGeom prst="rect">
            <a:avLst/>
          </a:prstGeom>
          <a:solidFill>
            <a:srgbClr val="B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6446520"/>
            <a:ext cx="10607040" cy="274320"/>
          </a:xfrm>
          <a:prstGeom prst="rect">
            <a:avLst/>
          </a:prstGeom>
          <a:noFill/>
        </p:spPr>
        <p:txBody>
          <a:bodyPr wrap="square" lIns="0" tIns="0" rIns="0" bIns="0" anchor="t">
            <a:spAutoFit/>
          </a:bodyPr>
          <a:lstStyle/>
          <a:p>
            <a:pPr algn="l"/>
            <a:r>
              <a:rPr sz="900" b="0" i="0">
                <a:solidFill>
                  <a:srgbClr val="BCC9C6"/>
                </a:solidFill>
                <a:latin typeface="JetBrains Mono"/>
              </a:rPr>
              <a:t>Strate · Business model</a:t>
            </a:r>
          </a:p>
        </p:txBody>
      </p:sp>
      <p:sp>
        <p:nvSpPr>
          <p:cNvPr id="15" name="TextBox 14"/>
          <p:cNvSpPr txBox="1"/>
          <p:nvPr/>
        </p:nvSpPr>
        <p:spPr>
          <a:xfrm>
            <a:off x="10789920" y="6446520"/>
            <a:ext cx="594360" cy="274320"/>
          </a:xfrm>
          <a:prstGeom prst="rect">
            <a:avLst/>
          </a:prstGeom>
          <a:noFill/>
        </p:spPr>
        <p:txBody>
          <a:bodyPr wrap="square" lIns="0" tIns="0" rIns="0" bIns="0" anchor="t">
            <a:spAutoFit/>
          </a:bodyPr>
          <a:lstStyle/>
          <a:p>
            <a:pPr algn="r"/>
            <a:r>
              <a:rPr sz="900" b="0" i="0">
                <a:solidFill>
                  <a:srgbClr val="BCC9C6"/>
                </a:solidFill>
                <a:latin typeface="JetBrains Mono"/>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8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005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02920"/>
            <a:ext cx="10607040" cy="320040"/>
          </a:xfrm>
          <a:prstGeom prst="rect">
            <a:avLst/>
          </a:prstGeom>
          <a:noFill/>
        </p:spPr>
        <p:txBody>
          <a:bodyPr wrap="square" lIns="0" tIns="0" rIns="0" bIns="0" anchor="t">
            <a:spAutoFit/>
          </a:bodyPr>
          <a:lstStyle/>
          <a:p>
            <a:pPr algn="l">
              <a:spcBef>
                <a:spcPts val="0"/>
              </a:spcBef>
              <a:spcAft>
                <a:spcPts val="600"/>
              </a:spcAft>
            </a:pPr>
            <a:r>
              <a:rPr sz="1250" b="1" i="0" spc="140">
                <a:solidFill>
                  <a:srgbClr val="0051D5"/>
                </a:solidFill>
                <a:latin typeface="Inter"/>
              </a:rPr>
              <a:t>DÉCISIONS À TRANCHER &amp; KILL-CRITERIA</a:t>
            </a:r>
          </a:p>
        </p:txBody>
      </p:sp>
      <p:sp>
        <p:nvSpPr>
          <p:cNvPr id="4" name="TextBox 3"/>
          <p:cNvSpPr txBox="1"/>
          <p:nvPr/>
        </p:nvSpPr>
        <p:spPr>
          <a:xfrm>
            <a:off x="777240" y="841248"/>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31B2E"/>
                </a:solidFill>
                <a:latin typeface="Space Grotesk"/>
              </a:rPr>
              <a:t>Les questions ouvertes (l'utilisateur tranche)</a:t>
            </a:r>
          </a:p>
        </p:txBody>
      </p:sp>
      <p:sp>
        <p:nvSpPr>
          <p:cNvPr id="5" name="Rectangle 4"/>
          <p:cNvSpPr/>
          <p:nvPr/>
        </p:nvSpPr>
        <p:spPr>
          <a:xfrm>
            <a:off x="777240" y="1627632"/>
            <a:ext cx="10607040" cy="17780"/>
          </a:xfrm>
          <a:prstGeom prst="rect">
            <a:avLst/>
          </a:prstGeom>
          <a:solidFill>
            <a:srgbClr val="BCC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77240" y="1874519"/>
            <a:ext cx="3383280" cy="1554480"/>
          </a:xfrm>
          <a:prstGeom prst="roundRect">
            <a:avLst>
              <a:gd name="adj" fmla="val 6000"/>
            </a:avLst>
          </a:prstGeom>
          <a:solidFill>
            <a:srgbClr val="F2F3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64592" tIns="201168" rIns="164592" rtlCol="0" anchor="t"/>
          <a:lstStyle/>
          <a:p>
            <a:pPr algn="l">
              <a:spcBef>
                <a:spcPts val="0"/>
              </a:spcBef>
              <a:spcAft>
                <a:spcPts val="500"/>
              </a:spcAft>
            </a:pPr>
            <a:r>
              <a:rPr sz="1450" b="1" i="0">
                <a:solidFill>
                  <a:srgbClr val="131B2E"/>
                </a:solidFill>
                <a:latin typeface="Space Grotesk"/>
              </a:rPr>
              <a:t>Prix de la cuisine</a:t>
            </a:r>
          </a:p>
          <a:p>
            <a:pPr algn="l">
              <a:spcBef>
                <a:spcPts val="0"/>
              </a:spcBef>
              <a:spcAft>
                <a:spcPts val="0"/>
              </a:spcAft>
            </a:pPr>
            <a:r>
              <a:rPr sz="1200" b="0" i="0">
                <a:solidFill>
                  <a:srgbClr val="3D4947"/>
                </a:solidFill>
                <a:latin typeface="Inter"/>
              </a:rPr>
              <a:t>Quel forfait Pro ? → après sondage (VW + conjoint, seuils atteints).</a:t>
            </a:r>
          </a:p>
        </p:txBody>
      </p:sp>
      <p:sp>
        <p:nvSpPr>
          <p:cNvPr id="7" name="Rectangle 6"/>
          <p:cNvSpPr/>
          <p:nvPr/>
        </p:nvSpPr>
        <p:spPr>
          <a:xfrm>
            <a:off x="777240" y="1874519"/>
            <a:ext cx="3383280" cy="73152"/>
          </a:xfrm>
          <a:prstGeom prst="rect">
            <a:avLst/>
          </a:prstGeom>
          <a:solidFill>
            <a:srgbClr val="005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389120" y="1874519"/>
            <a:ext cx="3383280" cy="1554480"/>
          </a:xfrm>
          <a:prstGeom prst="roundRect">
            <a:avLst>
              <a:gd name="adj" fmla="val 6000"/>
            </a:avLst>
          </a:prstGeom>
          <a:solidFill>
            <a:srgbClr val="F2F3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64592" tIns="201168" rIns="164592" rtlCol="0" anchor="t"/>
          <a:lstStyle/>
          <a:p>
            <a:pPr algn="l">
              <a:spcBef>
                <a:spcPts val="0"/>
              </a:spcBef>
              <a:spcAft>
                <a:spcPts val="500"/>
              </a:spcAft>
            </a:pPr>
            <a:r>
              <a:rPr sz="1450" b="1" i="0">
                <a:solidFill>
                  <a:srgbClr val="131B2E"/>
                </a:solidFill>
                <a:latin typeface="Space Grotesk"/>
              </a:rPr>
              <a:t>Bootstrap ou levée</a:t>
            </a:r>
          </a:p>
          <a:p>
            <a:pPr algn="l">
              <a:spcBef>
                <a:spcPts val="0"/>
              </a:spcBef>
              <a:spcAft>
                <a:spcPts val="0"/>
              </a:spcAft>
            </a:pPr>
            <a:r>
              <a:rPr sz="1200" b="0" i="0">
                <a:solidFill>
                  <a:srgbClr val="3D4947"/>
                </a:solidFill>
                <a:latin typeface="Inter"/>
              </a:rPr>
              <a:t>Financer le Lot 2 sur fonds propres / revenus, ou lever ?</a:t>
            </a:r>
          </a:p>
        </p:txBody>
      </p:sp>
      <p:sp>
        <p:nvSpPr>
          <p:cNvPr id="9" name="Rectangle 8"/>
          <p:cNvSpPr/>
          <p:nvPr/>
        </p:nvSpPr>
        <p:spPr>
          <a:xfrm>
            <a:off x="4389120" y="1874519"/>
            <a:ext cx="3383280" cy="73152"/>
          </a:xfrm>
          <a:prstGeom prst="rect">
            <a:avLst/>
          </a:prstGeom>
          <a:solidFill>
            <a:srgbClr val="7D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001000" y="1874519"/>
            <a:ext cx="3383280" cy="1554480"/>
          </a:xfrm>
          <a:prstGeom prst="roundRect">
            <a:avLst>
              <a:gd name="adj" fmla="val 6000"/>
            </a:avLst>
          </a:prstGeom>
          <a:solidFill>
            <a:srgbClr val="F2F3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64592" tIns="201168" rIns="164592" rtlCol="0" anchor="t"/>
          <a:lstStyle/>
          <a:p>
            <a:pPr algn="l">
              <a:spcBef>
                <a:spcPts val="0"/>
              </a:spcBef>
              <a:spcAft>
                <a:spcPts val="500"/>
              </a:spcAft>
            </a:pPr>
            <a:r>
              <a:rPr sz="1450" b="1" i="0">
                <a:solidFill>
                  <a:srgbClr val="131B2E"/>
                </a:solidFill>
                <a:latin typeface="Space Grotesk"/>
              </a:rPr>
              <a:t>Free tier IA</a:t>
            </a:r>
          </a:p>
          <a:p>
            <a:pPr algn="l">
              <a:spcBef>
                <a:spcPts val="0"/>
              </a:spcBef>
              <a:spcAft>
                <a:spcPts val="0"/>
              </a:spcAft>
            </a:pPr>
            <a:r>
              <a:rPr sz="1200" b="0" i="0">
                <a:solidFill>
                  <a:srgbClr val="3D4947"/>
                </a:solidFill>
                <a:latin typeface="Inter"/>
              </a:rPr>
              <a:t>Quotas / cache / modèle économe pour borner le coût IA des gratuits ?</a:t>
            </a:r>
          </a:p>
        </p:txBody>
      </p:sp>
      <p:sp>
        <p:nvSpPr>
          <p:cNvPr id="11" name="Rectangle 10"/>
          <p:cNvSpPr/>
          <p:nvPr/>
        </p:nvSpPr>
        <p:spPr>
          <a:xfrm>
            <a:off x="8001000" y="1874519"/>
            <a:ext cx="3383280" cy="73152"/>
          </a:xfrm>
          <a:prstGeom prst="rect">
            <a:avLst/>
          </a:prstGeom>
          <a:solidFill>
            <a:srgbClr val="006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77240" y="3630167"/>
            <a:ext cx="3383280" cy="1554480"/>
          </a:xfrm>
          <a:prstGeom prst="roundRect">
            <a:avLst>
              <a:gd name="adj" fmla="val 6000"/>
            </a:avLst>
          </a:prstGeom>
          <a:solidFill>
            <a:srgbClr val="F2F3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64592" tIns="201168" rIns="164592" rtlCol="0" anchor="t"/>
          <a:lstStyle/>
          <a:p>
            <a:pPr algn="l">
              <a:spcBef>
                <a:spcPts val="0"/>
              </a:spcBef>
              <a:spcAft>
                <a:spcPts val="500"/>
              </a:spcAft>
            </a:pPr>
            <a:r>
              <a:rPr sz="1450" b="1" i="0">
                <a:solidFill>
                  <a:srgbClr val="131B2E"/>
                </a:solidFill>
                <a:latin typeface="Space Grotesk"/>
              </a:rPr>
              <a:t>Ordre des segments</a:t>
            </a:r>
          </a:p>
          <a:p>
            <a:pPr algn="l">
              <a:spcBef>
                <a:spcPts val="0"/>
              </a:spcBef>
              <a:spcAft>
                <a:spcPts val="0"/>
              </a:spcAft>
            </a:pPr>
            <a:r>
              <a:rPr sz="1200" b="0" i="0">
                <a:solidFill>
                  <a:srgbClr val="3D4947"/>
                </a:solidFill>
                <a:latin typeface="Inter"/>
              </a:rPr>
              <a:t>P3 (agences) ou P4 (régulés) en second, après P1/P2 ?</a:t>
            </a:r>
          </a:p>
        </p:txBody>
      </p:sp>
      <p:sp>
        <p:nvSpPr>
          <p:cNvPr id="13" name="Rectangle 12"/>
          <p:cNvSpPr/>
          <p:nvPr/>
        </p:nvSpPr>
        <p:spPr>
          <a:xfrm>
            <a:off x="777240" y="3630167"/>
            <a:ext cx="3383280" cy="73152"/>
          </a:xfrm>
          <a:prstGeom prst="rect">
            <a:avLst/>
          </a:prstGeom>
          <a:solidFill>
            <a:srgbClr val="005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389120" y="3630167"/>
            <a:ext cx="3383280" cy="1554480"/>
          </a:xfrm>
          <a:prstGeom prst="roundRect">
            <a:avLst>
              <a:gd name="adj" fmla="val 6000"/>
            </a:avLst>
          </a:prstGeom>
          <a:solidFill>
            <a:srgbClr val="F2F3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64592" tIns="201168" rIns="164592" rtlCol="0" anchor="t"/>
          <a:lstStyle/>
          <a:p>
            <a:pPr algn="l">
              <a:spcBef>
                <a:spcPts val="0"/>
              </a:spcBef>
              <a:spcAft>
                <a:spcPts val="500"/>
              </a:spcAft>
            </a:pPr>
            <a:r>
              <a:rPr sz="1450" b="1" i="0">
                <a:solidFill>
                  <a:srgbClr val="131B2E"/>
                </a:solidFill>
                <a:latin typeface="Space Grotesk"/>
              </a:rPr>
              <a:t>Périmètre fiduciaire</a:t>
            </a:r>
          </a:p>
          <a:p>
            <a:pPr algn="l">
              <a:spcBef>
                <a:spcPts val="0"/>
              </a:spcBef>
              <a:spcAft>
                <a:spcPts val="0"/>
              </a:spcAft>
            </a:pPr>
            <a:r>
              <a:rPr sz="1200" b="0" i="0">
                <a:solidFill>
                  <a:srgbClr val="3D4947"/>
                </a:solidFill>
                <a:latin typeface="Inter"/>
              </a:rPr>
              <a:t>Rémunération de négo vendor : part de l'économie, ou forfait ?</a:t>
            </a:r>
          </a:p>
        </p:txBody>
      </p:sp>
      <p:sp>
        <p:nvSpPr>
          <p:cNvPr id="15" name="Rectangle 14"/>
          <p:cNvSpPr/>
          <p:nvPr/>
        </p:nvSpPr>
        <p:spPr>
          <a:xfrm>
            <a:off x="4389120" y="3630167"/>
            <a:ext cx="3383280" cy="73152"/>
          </a:xfrm>
          <a:prstGeom prst="rect">
            <a:avLst/>
          </a:prstGeom>
          <a:solidFill>
            <a:srgbClr val="7D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001000" y="3630167"/>
            <a:ext cx="3383280" cy="1554480"/>
          </a:xfrm>
          <a:prstGeom prst="roundRect">
            <a:avLst>
              <a:gd name="adj" fmla="val 6000"/>
            </a:avLst>
          </a:prstGeom>
          <a:solidFill>
            <a:srgbClr val="F2F3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164592" tIns="201168" rIns="164592" rtlCol="0" anchor="t"/>
          <a:lstStyle/>
          <a:p>
            <a:pPr algn="l">
              <a:spcBef>
                <a:spcPts val="0"/>
              </a:spcBef>
              <a:spcAft>
                <a:spcPts val="500"/>
              </a:spcAft>
            </a:pPr>
            <a:r>
              <a:rPr sz="1450" b="1" i="0">
                <a:solidFill>
                  <a:srgbClr val="131B2E"/>
                </a:solidFill>
                <a:latin typeface="Space Grotesk"/>
              </a:rPr>
              <a:t>Effet réseau</a:t>
            </a:r>
          </a:p>
          <a:p>
            <a:pPr algn="l">
              <a:spcBef>
                <a:spcPts val="0"/>
              </a:spcBef>
              <a:spcAft>
                <a:spcPts val="0"/>
              </a:spcAft>
            </a:pPr>
            <a:r>
              <a:rPr sz="1200" b="0" i="0">
                <a:solidFill>
                  <a:srgbClr val="3D4947"/>
                </a:solidFill>
                <a:latin typeface="Inter"/>
              </a:rPr>
              <a:t>Combien de déploiements pour que la calibration batte le ±30 % ?</a:t>
            </a:r>
          </a:p>
        </p:txBody>
      </p:sp>
      <p:sp>
        <p:nvSpPr>
          <p:cNvPr id="17" name="Rectangle 16"/>
          <p:cNvSpPr/>
          <p:nvPr/>
        </p:nvSpPr>
        <p:spPr>
          <a:xfrm>
            <a:off x="8001000" y="3630167"/>
            <a:ext cx="3383280" cy="73152"/>
          </a:xfrm>
          <a:prstGeom prst="rect">
            <a:avLst/>
          </a:prstGeom>
          <a:solidFill>
            <a:srgbClr val="006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6446520"/>
            <a:ext cx="10607040" cy="274320"/>
          </a:xfrm>
          <a:prstGeom prst="rect">
            <a:avLst/>
          </a:prstGeom>
          <a:noFill/>
        </p:spPr>
        <p:txBody>
          <a:bodyPr wrap="square" lIns="0" tIns="0" rIns="0" bIns="0" anchor="t">
            <a:spAutoFit/>
          </a:bodyPr>
          <a:lstStyle/>
          <a:p>
            <a:pPr algn="l"/>
            <a:r>
              <a:rPr sz="900" b="0" i="0">
                <a:solidFill>
                  <a:srgbClr val="BCC9C6"/>
                </a:solidFill>
                <a:latin typeface="JetBrains Mono"/>
              </a:rPr>
              <a:t>Strate · Business model</a:t>
            </a:r>
          </a:p>
        </p:txBody>
      </p:sp>
      <p:sp>
        <p:nvSpPr>
          <p:cNvPr id="19" name="TextBox 18"/>
          <p:cNvSpPr txBox="1"/>
          <p:nvPr/>
        </p:nvSpPr>
        <p:spPr>
          <a:xfrm>
            <a:off x="10789920" y="6446520"/>
            <a:ext cx="594360" cy="274320"/>
          </a:xfrm>
          <a:prstGeom prst="rect">
            <a:avLst/>
          </a:prstGeom>
          <a:noFill/>
        </p:spPr>
        <p:txBody>
          <a:bodyPr wrap="square" lIns="0" tIns="0" rIns="0" bIns="0" anchor="t">
            <a:spAutoFit/>
          </a:bodyPr>
          <a:lstStyle/>
          <a:p>
            <a:pPr algn="r"/>
            <a:r>
              <a:rPr sz="900" b="0" i="0">
                <a:solidFill>
                  <a:srgbClr val="BCC9C6"/>
                </a:solidFill>
                <a:latin typeface="JetBrains Mono"/>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8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006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02920"/>
            <a:ext cx="10607040" cy="320040"/>
          </a:xfrm>
          <a:prstGeom prst="rect">
            <a:avLst/>
          </a:prstGeom>
          <a:noFill/>
        </p:spPr>
        <p:txBody>
          <a:bodyPr wrap="square" lIns="0" tIns="0" rIns="0" bIns="0" anchor="t">
            <a:spAutoFit/>
          </a:bodyPr>
          <a:lstStyle/>
          <a:p>
            <a:pPr algn="l">
              <a:spcBef>
                <a:spcPts val="0"/>
              </a:spcBef>
              <a:spcAft>
                <a:spcPts val="600"/>
              </a:spcAft>
            </a:pPr>
            <a:r>
              <a:rPr sz="1250" b="1" i="0" spc="140">
                <a:solidFill>
                  <a:srgbClr val="00685F"/>
                </a:solidFill>
                <a:latin typeface="Inter"/>
              </a:rPr>
              <a:t>ROADMAP &amp; PROCHAINES ÉTAPES</a:t>
            </a:r>
          </a:p>
        </p:txBody>
      </p:sp>
      <p:sp>
        <p:nvSpPr>
          <p:cNvPr id="4" name="TextBox 3"/>
          <p:cNvSpPr txBox="1"/>
          <p:nvPr/>
        </p:nvSpPr>
        <p:spPr>
          <a:xfrm>
            <a:off x="777240" y="841248"/>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31B2E"/>
                </a:solidFill>
                <a:latin typeface="Space Grotesk"/>
              </a:rPr>
              <a:t>Jalons de preuve, pas seulement de features</a:t>
            </a:r>
          </a:p>
        </p:txBody>
      </p:sp>
      <p:sp>
        <p:nvSpPr>
          <p:cNvPr id="5" name="Rectangle 4"/>
          <p:cNvSpPr/>
          <p:nvPr/>
        </p:nvSpPr>
        <p:spPr>
          <a:xfrm>
            <a:off x="777240" y="1627632"/>
            <a:ext cx="10607040" cy="17780"/>
          </a:xfrm>
          <a:prstGeom prst="rect">
            <a:avLst/>
          </a:prstGeom>
          <a:solidFill>
            <a:srgbClr val="BCC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77240" y="1828800"/>
            <a:ext cx="10607040" cy="1143000"/>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228600" rIns="2103120" rtlCol="0" anchor="ctr"/>
          <a:lstStyle/>
          <a:p>
            <a:pPr algn="l">
              <a:spcBef>
                <a:spcPts val="0"/>
              </a:spcBef>
              <a:spcAft>
                <a:spcPts val="400"/>
              </a:spcAft>
            </a:pPr>
            <a:r>
              <a:rPr sz="1500" b="1" i="0">
                <a:solidFill>
                  <a:srgbClr val="131B2E"/>
                </a:solidFill>
                <a:latin typeface="Space Grotesk"/>
              </a:rPr>
              <a:t>Lot 1 — Conseil + moats</a:t>
            </a:r>
          </a:p>
          <a:p>
            <a:pPr algn="l">
              <a:spcBef>
                <a:spcPts val="0"/>
              </a:spcBef>
              <a:spcAft>
                <a:spcPts val="0"/>
              </a:spcAft>
            </a:pPr>
            <a:r>
              <a:rPr sz="1200" b="0" i="0">
                <a:solidFill>
                  <a:srgbClr val="3D4947"/>
                </a:solidFill>
                <a:latin typeface="Inter"/>
              </a:rPr>
              <a:t>LIVRÉ + déployé en prod. Reco 7 couches sourcée, ensemble, livrable, Exit Escrow, charte fiduciaire, rails Network, épic LLM complet (intake/narration/assistant/reco vivante/admin).</a:t>
            </a:r>
          </a:p>
        </p:txBody>
      </p:sp>
      <p:sp>
        <p:nvSpPr>
          <p:cNvPr id="7" name="Rectangle 6"/>
          <p:cNvSpPr/>
          <p:nvPr/>
        </p:nvSpPr>
        <p:spPr>
          <a:xfrm>
            <a:off x="777240" y="1828800"/>
            <a:ext cx="82296" cy="1143000"/>
          </a:xfrm>
          <a:prstGeom prst="rect">
            <a:avLst/>
          </a:prstGeom>
          <a:solidFill>
            <a:srgbClr val="006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464040" y="1828800"/>
            <a:ext cx="1737360" cy="1143000"/>
          </a:xfrm>
          <a:prstGeom prst="rect">
            <a:avLst/>
          </a:prstGeom>
          <a:noFill/>
        </p:spPr>
        <p:txBody>
          <a:bodyPr wrap="square" lIns="0" tIns="0" rIns="0" bIns="0" anchor="ctr">
            <a:spAutoFit/>
          </a:bodyPr>
          <a:lstStyle/>
          <a:p>
            <a:pPr algn="r"/>
            <a:r>
              <a:rPr sz="1200" b="1" i="0">
                <a:solidFill>
                  <a:srgbClr val="00685F"/>
                </a:solidFill>
                <a:latin typeface="JetBrains Mono"/>
              </a:rPr>
              <a:t>FAIT</a:t>
            </a:r>
          </a:p>
        </p:txBody>
      </p:sp>
      <p:sp>
        <p:nvSpPr>
          <p:cNvPr id="9" name="Rounded Rectangle 8"/>
          <p:cNvSpPr/>
          <p:nvPr/>
        </p:nvSpPr>
        <p:spPr>
          <a:xfrm>
            <a:off x="777240" y="3118104"/>
            <a:ext cx="10607040" cy="1143000"/>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228600" rIns="2103120" rtlCol="0" anchor="ctr"/>
          <a:lstStyle/>
          <a:p>
            <a:pPr algn="l">
              <a:spcBef>
                <a:spcPts val="0"/>
              </a:spcBef>
              <a:spcAft>
                <a:spcPts val="400"/>
              </a:spcAft>
            </a:pPr>
            <a:r>
              <a:rPr sz="1500" b="1" i="0">
                <a:solidFill>
                  <a:srgbClr val="131B2E"/>
                </a:solidFill>
                <a:latin typeface="Space Grotesk"/>
              </a:rPr>
              <a:t>Lot 2 — Cuisine payante</a:t>
            </a:r>
          </a:p>
          <a:p>
            <a:pPr algn="l">
              <a:spcBef>
                <a:spcPts val="0"/>
              </a:spcBef>
              <a:spcAft>
                <a:spcPts val="0"/>
              </a:spcAft>
            </a:pPr>
            <a:r>
              <a:rPr sz="1200" b="0" i="0">
                <a:solidFill>
                  <a:srgbClr val="3D4947"/>
                </a:solidFill>
                <a:latin typeface="Inter"/>
              </a:rPr>
              <a:t>Provisioning hybride (human-in-the-loop), coffre de secrets, monitoring (Infra Health Score + MEL), Network actif. C'est ici que naissent les revenus récurrents.</a:t>
            </a:r>
          </a:p>
        </p:txBody>
      </p:sp>
      <p:sp>
        <p:nvSpPr>
          <p:cNvPr id="10" name="Rectangle 9"/>
          <p:cNvSpPr/>
          <p:nvPr/>
        </p:nvSpPr>
        <p:spPr>
          <a:xfrm>
            <a:off x="777240" y="3118104"/>
            <a:ext cx="82296" cy="1143000"/>
          </a:xfrm>
          <a:prstGeom prst="rect">
            <a:avLst/>
          </a:prstGeom>
          <a:solidFill>
            <a:srgbClr val="005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464040" y="3118104"/>
            <a:ext cx="1737360" cy="1143000"/>
          </a:xfrm>
          <a:prstGeom prst="rect">
            <a:avLst/>
          </a:prstGeom>
          <a:noFill/>
        </p:spPr>
        <p:txBody>
          <a:bodyPr wrap="square" lIns="0" tIns="0" rIns="0" bIns="0" anchor="ctr">
            <a:spAutoFit/>
          </a:bodyPr>
          <a:lstStyle/>
          <a:p>
            <a:pPr algn="r"/>
            <a:r>
              <a:rPr sz="1200" b="1" i="0">
                <a:solidFill>
                  <a:srgbClr val="0051D5"/>
                </a:solidFill>
                <a:latin typeface="JetBrains Mono"/>
              </a:rPr>
              <a:t>À VENIR</a:t>
            </a:r>
          </a:p>
        </p:txBody>
      </p:sp>
      <p:sp>
        <p:nvSpPr>
          <p:cNvPr id="12" name="Rounded Rectangle 11"/>
          <p:cNvSpPr/>
          <p:nvPr/>
        </p:nvSpPr>
        <p:spPr>
          <a:xfrm>
            <a:off x="777240" y="4407408"/>
            <a:ext cx="10607040" cy="1143000"/>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228600" rIns="2103120" rtlCol="0" anchor="ctr"/>
          <a:lstStyle/>
          <a:p>
            <a:pPr algn="l">
              <a:spcBef>
                <a:spcPts val="0"/>
              </a:spcBef>
              <a:spcAft>
                <a:spcPts val="400"/>
              </a:spcAft>
            </a:pPr>
            <a:r>
              <a:rPr sz="1500" b="1" i="0">
                <a:solidFill>
                  <a:srgbClr val="131B2E"/>
                </a:solidFill>
                <a:latin typeface="Space Grotesk"/>
              </a:rPr>
              <a:t>En cours / proche</a:t>
            </a:r>
          </a:p>
          <a:p>
            <a:pPr algn="l">
              <a:spcBef>
                <a:spcPts val="0"/>
              </a:spcBef>
              <a:spcAft>
                <a:spcPts val="0"/>
              </a:spcAft>
            </a:pPr>
            <a:r>
              <a:rPr sz="1200" b="0" i="0">
                <a:solidFill>
                  <a:srgbClr val="3D4947"/>
                </a:solidFill>
                <a:latin typeface="Inter"/>
              </a:rPr>
              <a:t>Résidence &amp; continuité (DR multi-région), conformité transferts (RGPD chap. V / CNDP / Cloud Act) — épic S-043→048.</a:t>
            </a:r>
          </a:p>
        </p:txBody>
      </p:sp>
      <p:sp>
        <p:nvSpPr>
          <p:cNvPr id="13" name="Rectangle 12"/>
          <p:cNvSpPr/>
          <p:nvPr/>
        </p:nvSpPr>
        <p:spPr>
          <a:xfrm>
            <a:off x="777240" y="4407408"/>
            <a:ext cx="82296" cy="1143000"/>
          </a:xfrm>
          <a:prstGeom prst="rect">
            <a:avLst/>
          </a:prstGeom>
          <a:solidFill>
            <a:srgbClr val="7D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464040" y="4407408"/>
            <a:ext cx="1737360" cy="1143000"/>
          </a:xfrm>
          <a:prstGeom prst="rect">
            <a:avLst/>
          </a:prstGeom>
          <a:noFill/>
        </p:spPr>
        <p:txBody>
          <a:bodyPr wrap="square" lIns="0" tIns="0" rIns="0" bIns="0" anchor="ctr">
            <a:spAutoFit/>
          </a:bodyPr>
          <a:lstStyle/>
          <a:p>
            <a:pPr algn="r"/>
            <a:r>
              <a:rPr sz="1200" b="1" i="0">
                <a:solidFill>
                  <a:srgbClr val="7D5400"/>
                </a:solidFill>
                <a:latin typeface="JetBrains Mono"/>
              </a:rPr>
              <a:t>PLANIFIÉ</a:t>
            </a:r>
          </a:p>
        </p:txBody>
      </p:sp>
      <p:sp>
        <p:nvSpPr>
          <p:cNvPr id="15" name="TextBox 14"/>
          <p:cNvSpPr txBox="1"/>
          <p:nvPr/>
        </p:nvSpPr>
        <p:spPr>
          <a:xfrm>
            <a:off x="777240" y="5806440"/>
            <a:ext cx="10607040" cy="640080"/>
          </a:xfrm>
          <a:prstGeom prst="rect">
            <a:avLst/>
          </a:prstGeom>
          <a:noFill/>
        </p:spPr>
        <p:txBody>
          <a:bodyPr wrap="square" lIns="0" tIns="0" rIns="0" bIns="0" anchor="t">
            <a:spAutoFit/>
          </a:bodyPr>
          <a:lstStyle/>
          <a:p>
            <a:pPr algn="l">
              <a:spcBef>
                <a:spcPts val="0"/>
              </a:spcBef>
              <a:spcAft>
                <a:spcPts val="600"/>
              </a:spcAft>
            </a:pPr>
            <a:r>
              <a:rPr sz="1400" b="1" i="0">
                <a:solidFill>
                  <a:srgbClr val="00685F"/>
                </a:solidFill>
                <a:latin typeface="Inter"/>
              </a:rPr>
              <a:t>Asks : (1) clore le sondage WTP · (2) 5 LOI/arrhes P1 · (3) arbitrer bootstrap/levée pour financer le Lot 2.</a:t>
            </a:r>
          </a:p>
        </p:txBody>
      </p:sp>
      <p:sp>
        <p:nvSpPr>
          <p:cNvPr id="16" name="TextBox 15"/>
          <p:cNvSpPr txBox="1"/>
          <p:nvPr/>
        </p:nvSpPr>
        <p:spPr>
          <a:xfrm>
            <a:off x="777240" y="6446520"/>
            <a:ext cx="10607040" cy="274320"/>
          </a:xfrm>
          <a:prstGeom prst="rect">
            <a:avLst/>
          </a:prstGeom>
          <a:noFill/>
        </p:spPr>
        <p:txBody>
          <a:bodyPr wrap="square" lIns="0" tIns="0" rIns="0" bIns="0" anchor="t">
            <a:spAutoFit/>
          </a:bodyPr>
          <a:lstStyle/>
          <a:p>
            <a:pPr algn="l"/>
            <a:r>
              <a:rPr sz="900" b="0" i="0">
                <a:solidFill>
                  <a:srgbClr val="BCC9C6"/>
                </a:solidFill>
                <a:latin typeface="JetBrains Mono"/>
              </a:rPr>
              <a:t>Strate · Business model</a:t>
            </a:r>
          </a:p>
        </p:txBody>
      </p:sp>
      <p:sp>
        <p:nvSpPr>
          <p:cNvPr id="17" name="TextBox 16"/>
          <p:cNvSpPr txBox="1"/>
          <p:nvPr/>
        </p:nvSpPr>
        <p:spPr>
          <a:xfrm>
            <a:off x="10789920" y="6446520"/>
            <a:ext cx="594360" cy="274320"/>
          </a:xfrm>
          <a:prstGeom prst="rect">
            <a:avLst/>
          </a:prstGeom>
          <a:noFill/>
        </p:spPr>
        <p:txBody>
          <a:bodyPr wrap="square" lIns="0" tIns="0" rIns="0" bIns="0" anchor="t">
            <a:spAutoFit/>
          </a:bodyPr>
          <a:lstStyle/>
          <a:p>
            <a:pPr algn="r"/>
            <a:r>
              <a:rPr sz="900" b="0" i="0">
                <a:solidFill>
                  <a:srgbClr val="BCC9C6"/>
                </a:solidFill>
                <a:latin typeface="JetBrains Mono"/>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8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006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02920"/>
            <a:ext cx="10607040" cy="320040"/>
          </a:xfrm>
          <a:prstGeom prst="rect">
            <a:avLst/>
          </a:prstGeom>
          <a:noFill/>
        </p:spPr>
        <p:txBody>
          <a:bodyPr wrap="square" lIns="0" tIns="0" rIns="0" bIns="0" anchor="t">
            <a:spAutoFit/>
          </a:bodyPr>
          <a:lstStyle/>
          <a:p>
            <a:pPr algn="l">
              <a:spcBef>
                <a:spcPts val="0"/>
              </a:spcBef>
              <a:spcAft>
                <a:spcPts val="600"/>
              </a:spcAft>
            </a:pPr>
            <a:r>
              <a:rPr sz="1250" b="1" i="0" spc="140">
                <a:solidFill>
                  <a:srgbClr val="00685F"/>
                </a:solidFill>
                <a:latin typeface="Inter"/>
              </a:rPr>
              <a:t>RECOMMANDATIONS STRUCTURANTES</a:t>
            </a:r>
          </a:p>
        </p:txBody>
      </p:sp>
      <p:sp>
        <p:nvSpPr>
          <p:cNvPr id="4" name="TextBox 3"/>
          <p:cNvSpPr txBox="1"/>
          <p:nvPr/>
        </p:nvSpPr>
        <p:spPr>
          <a:xfrm>
            <a:off x="777240" y="841248"/>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31B2E"/>
                </a:solidFill>
                <a:latin typeface="Space Grotesk"/>
              </a:rPr>
              <a:t>5 décisions à trancher (options, pas verdicts)</a:t>
            </a:r>
          </a:p>
        </p:txBody>
      </p:sp>
      <p:sp>
        <p:nvSpPr>
          <p:cNvPr id="5" name="Rectangle 4"/>
          <p:cNvSpPr/>
          <p:nvPr/>
        </p:nvSpPr>
        <p:spPr>
          <a:xfrm>
            <a:off x="777240" y="1627632"/>
            <a:ext cx="10607040" cy="17780"/>
          </a:xfrm>
          <a:prstGeom prst="rect">
            <a:avLst/>
          </a:prstGeom>
          <a:solidFill>
            <a:srgbClr val="BCC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77240" y="1874519"/>
            <a:ext cx="10607040" cy="768096"/>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777240" rIns="228600" rtlCol="0" anchor="ctr"/>
          <a:lstStyle/>
          <a:p>
            <a:pPr algn="ctr"/>
            <a:r>
              <a:rPr sz="1450" b="1" i="0">
                <a:solidFill>
                  <a:srgbClr val="131B2E"/>
                </a:solidFill>
                <a:latin typeface="Space Grotesk"/>
              </a:rPr>
              <a:t>Faire du sondage WTP un GATE — </a:t>
            </a:r>
            <a:r>
              <a:rPr sz="1250" b="0" i="0">
                <a:solidFill>
                  <a:srgbClr val="3D4947"/>
                </a:solidFill>
                <a:latin typeface="Inter"/>
              </a:rPr>
              <a:t>Ne fixer aucun prix ni P&amp;L avant les seuils. Le [PLACEHOLDER] reste assumé.</a:t>
            </a:r>
          </a:p>
        </p:txBody>
      </p:sp>
      <p:sp>
        <p:nvSpPr>
          <p:cNvPr id="7" name="Oval 6"/>
          <p:cNvSpPr/>
          <p:nvPr/>
        </p:nvSpPr>
        <p:spPr>
          <a:xfrm>
            <a:off x="941832" y="2057399"/>
            <a:ext cx="402336" cy="402336"/>
          </a:xfrm>
          <a:prstGeom prst="ellipse">
            <a:avLst/>
          </a:prstGeom>
          <a:solidFill>
            <a:srgbClr val="0068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i="0">
                <a:solidFill>
                  <a:srgbClr val="FFFFFF"/>
                </a:solidFill>
                <a:latin typeface="Space Grotesk"/>
              </a:rPr>
              <a:t>1</a:t>
            </a:r>
          </a:p>
        </p:txBody>
      </p:sp>
      <p:sp>
        <p:nvSpPr>
          <p:cNvPr id="8" name="Rounded Rectangle 7"/>
          <p:cNvSpPr/>
          <p:nvPr/>
        </p:nvSpPr>
        <p:spPr>
          <a:xfrm>
            <a:off x="777240" y="2761487"/>
            <a:ext cx="10607040" cy="768096"/>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777240" rIns="228600" rtlCol="0" anchor="ctr"/>
          <a:lstStyle/>
          <a:p>
            <a:pPr algn="ctr"/>
            <a:r>
              <a:rPr sz="1450" b="1" i="0">
                <a:solidFill>
                  <a:srgbClr val="131B2E"/>
                </a:solidFill>
                <a:latin typeface="Space Grotesk"/>
              </a:rPr>
              <a:t>Tenir le wedge P1 d'abord — </a:t>
            </a:r>
            <a:r>
              <a:rPr sz="1250" b="0" i="0">
                <a:solidFill>
                  <a:srgbClr val="3D4947"/>
                </a:solidFill>
                <a:latin typeface="Inter"/>
              </a:rPr>
              <a:t>Refuser P5, séquencer P3/P4 après ; CAC quasi nul = runway préservé.</a:t>
            </a:r>
          </a:p>
        </p:txBody>
      </p:sp>
      <p:sp>
        <p:nvSpPr>
          <p:cNvPr id="9" name="Oval 8"/>
          <p:cNvSpPr/>
          <p:nvPr/>
        </p:nvSpPr>
        <p:spPr>
          <a:xfrm>
            <a:off x="941832" y="2944367"/>
            <a:ext cx="402336" cy="402336"/>
          </a:xfrm>
          <a:prstGeom prst="ellipse">
            <a:avLst/>
          </a:prstGeom>
          <a:solidFill>
            <a:srgbClr val="0068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i="0">
                <a:solidFill>
                  <a:srgbClr val="FFFFFF"/>
                </a:solidFill>
                <a:latin typeface="Space Grotesk"/>
              </a:rPr>
              <a:t>2</a:t>
            </a:r>
          </a:p>
        </p:txBody>
      </p:sp>
      <p:sp>
        <p:nvSpPr>
          <p:cNvPr id="10" name="Rounded Rectangle 9"/>
          <p:cNvSpPr/>
          <p:nvPr/>
        </p:nvSpPr>
        <p:spPr>
          <a:xfrm>
            <a:off x="777240" y="3648455"/>
            <a:ext cx="10607040" cy="768096"/>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777240" rIns="228600" rtlCol="0" anchor="ctr"/>
          <a:lstStyle/>
          <a:p>
            <a:pPr algn="ctr"/>
            <a:r>
              <a:rPr sz="1450" b="1" i="0">
                <a:solidFill>
                  <a:srgbClr val="131B2E"/>
                </a:solidFill>
                <a:latin typeface="Space Grotesk"/>
              </a:rPr>
              <a:t>Borner le coût IA du free tier — </a:t>
            </a:r>
            <a:r>
              <a:rPr sz="1250" b="0" i="0">
                <a:solidFill>
                  <a:srgbClr val="3D4947"/>
                </a:solidFill>
                <a:latin typeface="Inter"/>
              </a:rPr>
              <a:t>Quotas / cache / modèle économe via LiteLLM avant tout scale d'acquisition.</a:t>
            </a:r>
          </a:p>
        </p:txBody>
      </p:sp>
      <p:sp>
        <p:nvSpPr>
          <p:cNvPr id="11" name="Oval 10"/>
          <p:cNvSpPr/>
          <p:nvPr/>
        </p:nvSpPr>
        <p:spPr>
          <a:xfrm>
            <a:off x="941832" y="3831335"/>
            <a:ext cx="402336" cy="402336"/>
          </a:xfrm>
          <a:prstGeom prst="ellipse">
            <a:avLst/>
          </a:prstGeom>
          <a:solidFill>
            <a:srgbClr val="0068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i="0">
                <a:solidFill>
                  <a:srgbClr val="FFFFFF"/>
                </a:solidFill>
                <a:latin typeface="Space Grotesk"/>
              </a:rPr>
              <a:t>3</a:t>
            </a:r>
          </a:p>
        </p:txBody>
      </p:sp>
      <p:sp>
        <p:nvSpPr>
          <p:cNvPr id="12" name="Rounded Rectangle 11"/>
          <p:cNvSpPr/>
          <p:nvPr/>
        </p:nvSpPr>
        <p:spPr>
          <a:xfrm>
            <a:off x="777240" y="4535423"/>
            <a:ext cx="10607040" cy="768096"/>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777240" rIns="228600" rtlCol="0" anchor="ctr"/>
          <a:lstStyle/>
          <a:p>
            <a:pPr algn="ctr"/>
            <a:r>
              <a:rPr sz="1450" b="1" i="0">
                <a:solidFill>
                  <a:srgbClr val="131B2E"/>
                </a:solidFill>
                <a:latin typeface="Space Grotesk"/>
              </a:rPr>
              <a:t>Faire de l'Exit Escrow le héros — </a:t>
            </a:r>
            <a:r>
              <a:rPr sz="1250" b="0" i="0">
                <a:solidFill>
                  <a:srgbClr val="3D4947"/>
                </a:solidFill>
                <a:latin typeface="Inter"/>
              </a:rPr>
              <a:t>Centrer la comm sur la seule preuve DURE ; démonstration live = moment wow.</a:t>
            </a:r>
          </a:p>
        </p:txBody>
      </p:sp>
      <p:sp>
        <p:nvSpPr>
          <p:cNvPr id="13" name="Oval 12"/>
          <p:cNvSpPr/>
          <p:nvPr/>
        </p:nvSpPr>
        <p:spPr>
          <a:xfrm>
            <a:off x="941832" y="4718303"/>
            <a:ext cx="402336" cy="402336"/>
          </a:xfrm>
          <a:prstGeom prst="ellipse">
            <a:avLst/>
          </a:prstGeom>
          <a:solidFill>
            <a:srgbClr val="0068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i="0">
                <a:solidFill>
                  <a:srgbClr val="FFFFFF"/>
                </a:solidFill>
                <a:latin typeface="Space Grotesk"/>
              </a:rPr>
              <a:t>4</a:t>
            </a:r>
          </a:p>
        </p:txBody>
      </p:sp>
      <p:sp>
        <p:nvSpPr>
          <p:cNvPr id="14" name="Rounded Rectangle 13"/>
          <p:cNvSpPr/>
          <p:nvPr/>
        </p:nvSpPr>
        <p:spPr>
          <a:xfrm>
            <a:off x="777240" y="5422391"/>
            <a:ext cx="10607040" cy="768096"/>
          </a:xfrm>
          <a:prstGeom prst="roundRect">
            <a:avLst>
              <a:gd name="adj" fmla="val 6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wrap="square" lIns="777240" rIns="228600" rtlCol="0" anchor="ctr"/>
          <a:lstStyle/>
          <a:p>
            <a:pPr algn="ctr"/>
            <a:r>
              <a:rPr sz="1450" b="1" i="0">
                <a:solidFill>
                  <a:srgbClr val="131B2E"/>
                </a:solidFill>
                <a:latin typeface="Space Grotesk"/>
              </a:rPr>
              <a:t>Financer le Lot 2 sur jalons — </a:t>
            </a:r>
            <a:r>
              <a:rPr sz="1250" b="0" i="0">
                <a:solidFill>
                  <a:srgbClr val="3D4947"/>
                </a:solidFill>
                <a:latin typeface="Inter"/>
              </a:rPr>
              <a:t>Bootstrap si possible (cohérent avec le récit souverain) ; lever seulement si la WTP + 5 ventes le justifient.</a:t>
            </a:r>
          </a:p>
        </p:txBody>
      </p:sp>
      <p:sp>
        <p:nvSpPr>
          <p:cNvPr id="15" name="Oval 14"/>
          <p:cNvSpPr/>
          <p:nvPr/>
        </p:nvSpPr>
        <p:spPr>
          <a:xfrm>
            <a:off x="941832" y="5605271"/>
            <a:ext cx="402336" cy="402336"/>
          </a:xfrm>
          <a:prstGeom prst="ellipse">
            <a:avLst/>
          </a:prstGeom>
          <a:solidFill>
            <a:srgbClr val="0068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i="0">
                <a:solidFill>
                  <a:srgbClr val="FFFFFF"/>
                </a:solidFill>
                <a:latin typeface="Space Grotesk"/>
              </a:rPr>
              <a:t>5</a:t>
            </a:r>
          </a:p>
        </p:txBody>
      </p:sp>
      <p:sp>
        <p:nvSpPr>
          <p:cNvPr id="16" name="TextBox 15"/>
          <p:cNvSpPr txBox="1"/>
          <p:nvPr/>
        </p:nvSpPr>
        <p:spPr>
          <a:xfrm>
            <a:off x="777240" y="6446520"/>
            <a:ext cx="10607040" cy="274320"/>
          </a:xfrm>
          <a:prstGeom prst="rect">
            <a:avLst/>
          </a:prstGeom>
          <a:noFill/>
        </p:spPr>
        <p:txBody>
          <a:bodyPr wrap="square" lIns="0" tIns="0" rIns="0" bIns="0" anchor="t">
            <a:spAutoFit/>
          </a:bodyPr>
          <a:lstStyle/>
          <a:p>
            <a:pPr algn="l"/>
            <a:r>
              <a:rPr sz="900" b="0" i="0">
                <a:solidFill>
                  <a:srgbClr val="BCC9C6"/>
                </a:solidFill>
                <a:latin typeface="JetBrains Mono"/>
              </a:rPr>
              <a:t>Strate · Business model</a:t>
            </a:r>
          </a:p>
        </p:txBody>
      </p:sp>
      <p:sp>
        <p:nvSpPr>
          <p:cNvPr id="17" name="TextBox 16"/>
          <p:cNvSpPr txBox="1"/>
          <p:nvPr/>
        </p:nvSpPr>
        <p:spPr>
          <a:xfrm>
            <a:off x="10789920" y="6446520"/>
            <a:ext cx="594360" cy="274320"/>
          </a:xfrm>
          <a:prstGeom prst="rect">
            <a:avLst/>
          </a:prstGeom>
          <a:noFill/>
        </p:spPr>
        <p:txBody>
          <a:bodyPr wrap="square" lIns="0" tIns="0" rIns="0" bIns="0" anchor="t">
            <a:spAutoFit/>
          </a:bodyPr>
          <a:lstStyle/>
          <a:p>
            <a:pPr algn="r"/>
            <a:r>
              <a:rPr sz="900" b="0" i="0">
                <a:solidFill>
                  <a:srgbClr val="BCC9C6"/>
                </a:solidFill>
                <a:latin typeface="JetBrains Mono"/>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8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BCC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02920"/>
            <a:ext cx="10607040" cy="320040"/>
          </a:xfrm>
          <a:prstGeom prst="rect">
            <a:avLst/>
          </a:prstGeom>
          <a:noFill/>
        </p:spPr>
        <p:txBody>
          <a:bodyPr wrap="square" lIns="0" tIns="0" rIns="0" bIns="0" anchor="t">
            <a:spAutoFit/>
          </a:bodyPr>
          <a:lstStyle/>
          <a:p>
            <a:pPr algn="l">
              <a:spcBef>
                <a:spcPts val="0"/>
              </a:spcBef>
              <a:spcAft>
                <a:spcPts val="600"/>
              </a:spcAft>
            </a:pPr>
            <a:r>
              <a:rPr sz="1250" b="1" i="0" spc="140">
                <a:solidFill>
                  <a:srgbClr val="3D4947"/>
                </a:solidFill>
                <a:latin typeface="Inter"/>
              </a:rPr>
              <a:t>ANNEXE · 1/3</a:t>
            </a:r>
          </a:p>
        </p:txBody>
      </p:sp>
      <p:sp>
        <p:nvSpPr>
          <p:cNvPr id="4" name="TextBox 3"/>
          <p:cNvSpPr txBox="1"/>
          <p:nvPr/>
        </p:nvSpPr>
        <p:spPr>
          <a:xfrm>
            <a:off x="777240" y="841248"/>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31B2E"/>
                </a:solidFill>
                <a:latin typeface="Space Grotesk"/>
              </a:rPr>
              <a:t>Hypothèses du P&amp;L (à valider, non engageantes)</a:t>
            </a:r>
          </a:p>
        </p:txBody>
      </p:sp>
      <p:sp>
        <p:nvSpPr>
          <p:cNvPr id="5" name="Rectangle 4"/>
          <p:cNvSpPr/>
          <p:nvPr/>
        </p:nvSpPr>
        <p:spPr>
          <a:xfrm>
            <a:off x="777240" y="1627632"/>
            <a:ext cx="10607040" cy="17780"/>
          </a:xfrm>
          <a:prstGeom prst="rect">
            <a:avLst/>
          </a:prstGeom>
          <a:solidFill>
            <a:srgbClr val="BCC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828800"/>
            <a:ext cx="10607040" cy="4297680"/>
          </a:xfrm>
          <a:prstGeom prst="rect">
            <a:avLst/>
          </a:prstGeom>
          <a:noFill/>
        </p:spPr>
        <p:txBody>
          <a:bodyPr wrap="square" lIns="0" tIns="0" rIns="0" bIns="0" anchor="t">
            <a:spAutoFit/>
          </a:bodyPr>
          <a:lstStyle/>
          <a:p>
            <a:pPr>
              <a:lnSpc>
                <a:spcPct val="105000"/>
              </a:lnSpc>
              <a:spcAft>
                <a:spcPts val="800"/>
              </a:spcAft>
            </a:pPr>
            <a:r>
              <a:rPr sz="1300" b="1" i="0">
                <a:solidFill>
                  <a:srgbClr val="00685F"/>
                </a:solidFill>
                <a:latin typeface="Space Grotesk"/>
              </a:rPr>
              <a:t>ARPA : </a:t>
            </a:r>
            <a:r>
              <a:rPr sz="1250" b="0" i="0">
                <a:solidFill>
                  <a:srgbClr val="3D4947"/>
                </a:solidFill>
                <a:latin typeface="Inter"/>
              </a:rPr>
              <a:t>= prix service Pro /mois = [PLACEHOLDER]. Souverain+ sur devis (ARPA supérieur, cycle plus long). Non instancié tant que le sondage n'est pas clos.</a:t>
            </a:r>
          </a:p>
          <a:p>
            <a:pPr>
              <a:lnSpc>
                <a:spcPct val="105000"/>
              </a:lnSpc>
              <a:spcAft>
                <a:spcPts val="800"/>
              </a:spcAft>
            </a:pPr>
            <a:r>
              <a:rPr sz="1300" b="1" i="0">
                <a:solidFill>
                  <a:srgbClr val="00685F"/>
                </a:solidFill>
                <a:latin typeface="Space Grotesk"/>
              </a:rPr>
              <a:t>Clients payants (scénarios) : </a:t>
            </a:r>
            <a:r>
              <a:rPr sz="1250" b="0" i="0">
                <a:solidFill>
                  <a:srgbClr val="3D4947"/>
                </a:solidFill>
                <a:latin typeface="Inter"/>
              </a:rPr>
              <a:t>Prudent 8/25/60 · Base 15/60/180 · Ambitieux 30/150/500 sur 3 ans. Hypothèses de modélisation, PAS des prévisions.</a:t>
            </a:r>
          </a:p>
          <a:p>
            <a:pPr>
              <a:lnSpc>
                <a:spcPct val="105000"/>
              </a:lnSpc>
              <a:spcAft>
                <a:spcPts val="800"/>
              </a:spcAft>
            </a:pPr>
            <a:r>
              <a:rPr sz="1300" b="1" i="0">
                <a:solidFill>
                  <a:srgbClr val="00685F"/>
                </a:solidFill>
                <a:latin typeface="Space Grotesk"/>
              </a:rPr>
              <a:t>Marge brute : </a:t>
            </a:r>
            <a:r>
              <a:rPr sz="1250" b="0" i="0">
                <a:solidFill>
                  <a:srgbClr val="3D4947"/>
                </a:solidFill>
                <a:latin typeface="Inter"/>
              </a:rPr>
              <a:t>Service quasi pur (infra reversée sans marge). Élevée en théorie, mais nette des coûts variables IA (LLM + Firecrawl).</a:t>
            </a:r>
          </a:p>
          <a:p>
            <a:pPr>
              <a:lnSpc>
                <a:spcPct val="105000"/>
              </a:lnSpc>
              <a:spcAft>
                <a:spcPts val="800"/>
              </a:spcAft>
            </a:pPr>
            <a:r>
              <a:rPr sz="1300" b="1" i="0">
                <a:solidFill>
                  <a:srgbClr val="00685F"/>
                </a:solidFill>
                <a:latin typeface="Space Grotesk"/>
              </a:rPr>
              <a:t>Conversion / churn : </a:t>
            </a:r>
            <a:r>
              <a:rPr sz="1250" b="0" i="0">
                <a:solidFill>
                  <a:srgbClr val="3D4947"/>
                </a:solidFill>
                <a:latin typeface="Inter"/>
              </a:rPr>
              <a:t>Cibles HYPOTHÉTIQUES : conversion P1 &gt; 10 %, rétention &gt; 80 % (comptes avec Exit bundle). À observer sur ventes réelles.</a:t>
            </a:r>
          </a:p>
          <a:p>
            <a:pPr>
              <a:lnSpc>
                <a:spcPct val="105000"/>
              </a:lnSpc>
              <a:spcAft>
                <a:spcPts val="800"/>
              </a:spcAft>
            </a:pPr>
            <a:r>
              <a:rPr sz="1300" b="1" i="0">
                <a:solidFill>
                  <a:srgbClr val="00685F"/>
                </a:solidFill>
                <a:latin typeface="Space Grotesk"/>
              </a:rPr>
              <a:t>CAC : </a:t>
            </a:r>
            <a:r>
              <a:rPr sz="1250" b="0" i="0">
                <a:solidFill>
                  <a:srgbClr val="3D4947"/>
                </a:solidFill>
                <a:latin typeface="Inter"/>
              </a:rPr>
              <a:t>≈ 0 sur P1 (communauté) ; non modélisé hors réseau — à mesurer.</a:t>
            </a:r>
          </a:p>
          <a:p>
            <a:pPr>
              <a:lnSpc>
                <a:spcPct val="105000"/>
              </a:lnSpc>
              <a:spcAft>
                <a:spcPts val="800"/>
              </a:spcAft>
            </a:pPr>
            <a:r>
              <a:rPr sz="1300" b="1" i="0">
                <a:solidFill>
                  <a:srgbClr val="00685F"/>
                </a:solidFill>
                <a:latin typeface="Space Grotesk"/>
              </a:rPr>
              <a:t>Coûts variables IA : </a:t>
            </a:r>
            <a:r>
              <a:rPr sz="1250" b="0" i="0">
                <a:solidFill>
                  <a:srgbClr val="3D4947"/>
                </a:solidFill>
                <a:latin typeface="Inter"/>
              </a:rPr>
              <a:t>Intake + narration + assistant + veille (LLM via LiteLLM) + price feed (Firecrawl). Dette transparente, non chiffrée dans le moteur (story future).</a:t>
            </a:r>
          </a:p>
          <a:p>
            <a:pPr>
              <a:lnSpc>
                <a:spcPct val="105000"/>
              </a:lnSpc>
              <a:spcAft>
                <a:spcPts val="800"/>
              </a:spcAft>
            </a:pPr>
            <a:r>
              <a:rPr sz="1300" b="1" i="0">
                <a:solidFill>
                  <a:srgbClr val="00685F"/>
                </a:solidFill>
                <a:latin typeface="Space Grotesk"/>
              </a:rPr>
              <a:t>OPEX : </a:t>
            </a:r>
            <a:r>
              <a:rPr sz="1250" b="0" i="0">
                <a:solidFill>
                  <a:srgbClr val="3D4947"/>
                </a:solidFill>
                <a:latin typeface="Inter"/>
              </a:rPr>
              <a:t>Dev (équipe réduite), support, hébergement plateforme (self-host Coolify/serveur). Léger au démarrage.</a:t>
            </a:r>
          </a:p>
        </p:txBody>
      </p:sp>
      <p:sp>
        <p:nvSpPr>
          <p:cNvPr id="7" name="TextBox 6"/>
          <p:cNvSpPr txBox="1"/>
          <p:nvPr/>
        </p:nvSpPr>
        <p:spPr>
          <a:xfrm>
            <a:off x="777240" y="6446520"/>
            <a:ext cx="10607040" cy="274320"/>
          </a:xfrm>
          <a:prstGeom prst="rect">
            <a:avLst/>
          </a:prstGeom>
          <a:noFill/>
        </p:spPr>
        <p:txBody>
          <a:bodyPr wrap="square" lIns="0" tIns="0" rIns="0" bIns="0" anchor="t">
            <a:spAutoFit/>
          </a:bodyPr>
          <a:lstStyle/>
          <a:p>
            <a:pPr algn="l"/>
            <a:r>
              <a:rPr sz="900" b="0" i="0">
                <a:solidFill>
                  <a:srgbClr val="BCC9C6"/>
                </a:solidFill>
                <a:latin typeface="JetBrains Mono"/>
              </a:rPr>
              <a:t>Strate · Business model</a:t>
            </a:r>
          </a:p>
        </p:txBody>
      </p:sp>
      <p:sp>
        <p:nvSpPr>
          <p:cNvPr id="8" name="TextBox 7"/>
          <p:cNvSpPr txBox="1"/>
          <p:nvPr/>
        </p:nvSpPr>
        <p:spPr>
          <a:xfrm>
            <a:off x="10789920" y="6446520"/>
            <a:ext cx="594360" cy="274320"/>
          </a:xfrm>
          <a:prstGeom prst="rect">
            <a:avLst/>
          </a:prstGeom>
          <a:noFill/>
        </p:spPr>
        <p:txBody>
          <a:bodyPr wrap="square" lIns="0" tIns="0" rIns="0" bIns="0" anchor="t">
            <a:spAutoFit/>
          </a:bodyPr>
          <a:lstStyle/>
          <a:p>
            <a:pPr algn="r"/>
            <a:r>
              <a:rPr sz="900" b="0" i="0">
                <a:solidFill>
                  <a:srgbClr val="BCC9C6"/>
                </a:solidFill>
                <a:latin typeface="JetBrains Mono"/>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8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BCC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02920"/>
            <a:ext cx="10607040" cy="320040"/>
          </a:xfrm>
          <a:prstGeom prst="rect">
            <a:avLst/>
          </a:prstGeom>
          <a:noFill/>
        </p:spPr>
        <p:txBody>
          <a:bodyPr wrap="square" lIns="0" tIns="0" rIns="0" bIns="0" anchor="t">
            <a:spAutoFit/>
          </a:bodyPr>
          <a:lstStyle/>
          <a:p>
            <a:pPr algn="l">
              <a:spcBef>
                <a:spcPts val="0"/>
              </a:spcBef>
              <a:spcAft>
                <a:spcPts val="600"/>
              </a:spcAft>
            </a:pPr>
            <a:r>
              <a:rPr sz="1250" b="1" i="0" spc="140">
                <a:solidFill>
                  <a:srgbClr val="3D4947"/>
                </a:solidFill>
                <a:latin typeface="Inter"/>
              </a:rPr>
              <a:t>ANNEXE · 2/3</a:t>
            </a:r>
          </a:p>
        </p:txBody>
      </p:sp>
      <p:sp>
        <p:nvSpPr>
          <p:cNvPr id="4" name="TextBox 3"/>
          <p:cNvSpPr txBox="1"/>
          <p:nvPr/>
        </p:nvSpPr>
        <p:spPr>
          <a:xfrm>
            <a:off x="777240" y="841248"/>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31B2E"/>
                </a:solidFill>
                <a:latin typeface="Space Grotesk"/>
              </a:rPr>
              <a:t>Glossaire</a:t>
            </a:r>
          </a:p>
        </p:txBody>
      </p:sp>
      <p:sp>
        <p:nvSpPr>
          <p:cNvPr id="5" name="Rectangle 4"/>
          <p:cNvSpPr/>
          <p:nvPr/>
        </p:nvSpPr>
        <p:spPr>
          <a:xfrm>
            <a:off x="777240" y="1627632"/>
            <a:ext cx="10607040" cy="17780"/>
          </a:xfrm>
          <a:prstGeom prst="rect">
            <a:avLst/>
          </a:prstGeom>
          <a:solidFill>
            <a:srgbClr val="BCC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828800"/>
            <a:ext cx="5212080" cy="4297680"/>
          </a:xfrm>
          <a:prstGeom prst="rect">
            <a:avLst/>
          </a:prstGeom>
          <a:noFill/>
        </p:spPr>
        <p:txBody>
          <a:bodyPr wrap="square" lIns="0" tIns="0" rIns="0" bIns="0" anchor="t">
            <a:spAutoFit/>
          </a:bodyPr>
          <a:lstStyle/>
          <a:p>
            <a:pPr>
              <a:lnSpc>
                <a:spcPct val="105000"/>
              </a:lnSpc>
              <a:spcAft>
                <a:spcPts val="900"/>
              </a:spcAft>
            </a:pPr>
            <a:r>
              <a:rPr sz="1300" b="1" i="0">
                <a:solidFill>
                  <a:srgbClr val="00685F"/>
                </a:solidFill>
                <a:latin typeface="Space Grotesk"/>
              </a:rPr>
              <a:t>Base mémorielle</a:t>
            </a:r>
            <a:r>
              <a:rPr sz="1150" b="0" i="0">
                <a:solidFill>
                  <a:srgbClr val="3D4947"/>
                </a:solidFill>
                <a:latin typeface="Inter"/>
              </a:rPr>
              <a:t> — Mémoire d'organisation IA : doctrine, historique, savoir — souveraine et persistante.</a:t>
            </a:r>
          </a:p>
          <a:p>
            <a:pPr>
              <a:lnSpc>
                <a:spcPct val="105000"/>
              </a:lnSpc>
              <a:spcAft>
                <a:spcPts val="900"/>
              </a:spcAft>
            </a:pPr>
            <a:r>
              <a:rPr sz="1300" b="1" i="0">
                <a:solidFill>
                  <a:srgbClr val="00685F"/>
                </a:solidFill>
                <a:latin typeface="Space Grotesk"/>
              </a:rPr>
              <a:t>7 couches (C0→C6)</a:t>
            </a:r>
            <a:r>
              <a:rPr sz="1150" b="0" i="0">
                <a:solidFill>
                  <a:srgbClr val="3D4947"/>
                </a:solidFill>
                <a:latin typeface="Inter"/>
              </a:rPr>
              <a:t> — Contrat YAML, surface MCP, orchestrateur RAG, retrieval/rerank, embeddings, stockage bi-temporel, infra.</a:t>
            </a:r>
          </a:p>
          <a:p>
            <a:pPr>
              <a:lnSpc>
                <a:spcPct val="105000"/>
              </a:lnSpc>
              <a:spcAft>
                <a:spcPts val="900"/>
              </a:spcAft>
            </a:pPr>
            <a:r>
              <a:rPr sz="1300" b="1" i="0">
                <a:solidFill>
                  <a:srgbClr val="00685F"/>
                </a:solidFill>
                <a:latin typeface="Space Grotesk"/>
              </a:rPr>
              <a:t>Preset</a:t>
            </a:r>
            <a:r>
              <a:rPr sz="1150" b="0" i="0">
                <a:solidFill>
                  <a:srgbClr val="3D4947"/>
                </a:solidFill>
                <a:latin typeface="Inter"/>
              </a:rPr>
              <a:t> — Palier d'architecture (LIGHT / MEDIUM / HARD) dérivé d'un score de besoin explicable.</a:t>
            </a:r>
          </a:p>
          <a:p>
            <a:pPr>
              <a:lnSpc>
                <a:spcPct val="105000"/>
              </a:lnSpc>
              <a:spcAft>
                <a:spcPts val="900"/>
              </a:spcAft>
            </a:pPr>
            <a:r>
              <a:rPr sz="1300" b="1" i="0">
                <a:solidFill>
                  <a:srgbClr val="00685F"/>
                </a:solidFill>
                <a:latin typeface="Space Grotesk"/>
              </a:rPr>
              <a:t>Exit Escrow</a:t>
            </a:r>
            <a:r>
              <a:rPr sz="1150" b="0" i="0">
                <a:solidFill>
                  <a:srgbClr val="3D4947"/>
                </a:solidFill>
                <a:latin typeface="Inter"/>
              </a:rPr>
              <a:t> — Bundle reproductible (IaC + dumps + vault + runbook) redéployable ailleurs — moat ①.</a:t>
            </a:r>
          </a:p>
          <a:p>
            <a:pPr>
              <a:lnSpc>
                <a:spcPct val="105000"/>
              </a:lnSpc>
              <a:spcAft>
                <a:spcPts val="900"/>
              </a:spcAft>
            </a:pPr>
            <a:r>
              <a:rPr sz="1300" b="1" i="0">
                <a:solidFill>
                  <a:srgbClr val="00685F"/>
                </a:solidFill>
                <a:latin typeface="Space Grotesk"/>
              </a:rPr>
              <a:t>Fiduciary Mode</a:t>
            </a:r>
            <a:r>
              <a:rPr sz="1150" b="0" i="0">
                <a:solidFill>
                  <a:srgbClr val="3D4947"/>
                </a:solidFill>
                <a:latin typeface="Inter"/>
              </a:rPr>
              <a:t> — Engagement de mandataire : zéro commission vendor cachée — moat ②.</a:t>
            </a:r>
          </a:p>
        </p:txBody>
      </p:sp>
      <p:sp>
        <p:nvSpPr>
          <p:cNvPr id="7" name="TextBox 6"/>
          <p:cNvSpPr txBox="1"/>
          <p:nvPr/>
        </p:nvSpPr>
        <p:spPr>
          <a:xfrm>
            <a:off x="6172200" y="1828800"/>
            <a:ext cx="5212080" cy="4297680"/>
          </a:xfrm>
          <a:prstGeom prst="rect">
            <a:avLst/>
          </a:prstGeom>
          <a:noFill/>
        </p:spPr>
        <p:txBody>
          <a:bodyPr wrap="square" lIns="0" tIns="0" rIns="0" bIns="0" anchor="t">
            <a:spAutoFit/>
          </a:bodyPr>
          <a:lstStyle/>
          <a:p>
            <a:pPr>
              <a:lnSpc>
                <a:spcPct val="105000"/>
              </a:lnSpc>
              <a:spcAft>
                <a:spcPts val="900"/>
              </a:spcAft>
            </a:pPr>
            <a:r>
              <a:rPr sz="1300" b="1" i="0">
                <a:solidFill>
                  <a:srgbClr val="00685F"/>
                </a:solidFill>
                <a:latin typeface="Space Grotesk"/>
              </a:rPr>
              <a:t>Intelligence Network</a:t>
            </a:r>
            <a:r>
              <a:rPr sz="1150" b="0" i="0">
                <a:solidFill>
                  <a:srgbClr val="3D4947"/>
                </a:solidFill>
                <a:latin typeface="Inter"/>
              </a:rPr>
              <a:t> — Effet réseau de coûts réels anonymisés (opt-in RGPD) — moat ③.</a:t>
            </a:r>
          </a:p>
          <a:p>
            <a:pPr>
              <a:lnSpc>
                <a:spcPct val="105000"/>
              </a:lnSpc>
              <a:spcAft>
                <a:spcPts val="900"/>
              </a:spcAft>
            </a:pPr>
            <a:r>
              <a:rPr sz="1300" b="1" i="0">
                <a:solidFill>
                  <a:srgbClr val="00685F"/>
                </a:solidFill>
                <a:latin typeface="Space Grotesk"/>
              </a:rPr>
              <a:t>Ensemble multi-config</a:t>
            </a:r>
            <a:r>
              <a:rPr sz="1150" b="0" i="0">
                <a:solidFill>
                  <a:srgbClr val="3D4947"/>
                </a:solidFill>
                <a:latin typeface="Inter"/>
              </a:rPr>
              <a:t> — N variantes (souveraineté max / coût min / time-to-V1) ; le spread = l'incertitude.</a:t>
            </a:r>
          </a:p>
          <a:p>
            <a:pPr>
              <a:lnSpc>
                <a:spcPct val="105000"/>
              </a:lnSpc>
              <a:spcAft>
                <a:spcPts val="900"/>
              </a:spcAft>
            </a:pPr>
            <a:r>
              <a:rPr sz="1300" b="1" i="0">
                <a:solidFill>
                  <a:srgbClr val="00685F"/>
                </a:solidFill>
                <a:latin typeface="Space Grotesk"/>
              </a:rPr>
              <a:t>Van Westendorp / CBC</a:t>
            </a:r>
            <a:r>
              <a:rPr sz="1150" b="0" i="0">
                <a:solidFill>
                  <a:srgbClr val="3D4947"/>
                </a:solidFill>
                <a:latin typeface="Inter"/>
              </a:rPr>
              <a:t> — Méthodes de mesure du prix psychologique (VW) et des arbitrages de valeur (conjoint).</a:t>
            </a:r>
          </a:p>
          <a:p>
            <a:pPr>
              <a:lnSpc>
                <a:spcPct val="105000"/>
              </a:lnSpc>
              <a:spcAft>
                <a:spcPts val="900"/>
              </a:spcAft>
            </a:pPr>
            <a:r>
              <a:rPr sz="1300" b="1" i="0">
                <a:solidFill>
                  <a:srgbClr val="00685F"/>
                </a:solidFill>
                <a:latin typeface="Space Grotesk"/>
              </a:rPr>
              <a:t>±30 %</a:t>
            </a:r>
            <a:r>
              <a:rPr sz="1150" b="0" i="0">
                <a:solidFill>
                  <a:srgbClr val="3D4947"/>
                </a:solidFill>
                <a:latin typeface="Inter"/>
              </a:rPr>
              <a:t> — Bande d'incertitude assumée du chiffrage ; recalibrée par le Network ; jamais une prédiction de conso.</a:t>
            </a:r>
          </a:p>
          <a:p>
            <a:pPr>
              <a:lnSpc>
                <a:spcPct val="105000"/>
              </a:lnSpc>
              <a:spcAft>
                <a:spcPts val="900"/>
              </a:spcAft>
            </a:pPr>
            <a:r>
              <a:rPr sz="1300" b="1" i="0">
                <a:solidFill>
                  <a:srgbClr val="00685F"/>
                </a:solidFill>
                <a:latin typeface="Space Grotesk"/>
              </a:rPr>
              <a:t>DÉFCON 1</a:t>
            </a:r>
            <a:r>
              <a:rPr sz="1150" b="0" i="0">
                <a:solidFill>
                  <a:srgbClr val="3D4947"/>
                </a:solidFill>
                <a:latin typeface="Inter"/>
              </a:rPr>
              <a:t> — Règle interne : zéro donnée erronée présentée comme fiable ; tout chiffre sourcé ou étiqueté hypothèse.</a:t>
            </a:r>
          </a:p>
        </p:txBody>
      </p:sp>
      <p:sp>
        <p:nvSpPr>
          <p:cNvPr id="8" name="TextBox 7"/>
          <p:cNvSpPr txBox="1"/>
          <p:nvPr/>
        </p:nvSpPr>
        <p:spPr>
          <a:xfrm>
            <a:off x="777240" y="6446520"/>
            <a:ext cx="10607040" cy="274320"/>
          </a:xfrm>
          <a:prstGeom prst="rect">
            <a:avLst/>
          </a:prstGeom>
          <a:noFill/>
        </p:spPr>
        <p:txBody>
          <a:bodyPr wrap="square" lIns="0" tIns="0" rIns="0" bIns="0" anchor="t">
            <a:spAutoFit/>
          </a:bodyPr>
          <a:lstStyle/>
          <a:p>
            <a:pPr algn="l"/>
            <a:r>
              <a:rPr sz="900" b="0" i="0">
                <a:solidFill>
                  <a:srgbClr val="BCC9C6"/>
                </a:solidFill>
                <a:latin typeface="JetBrains Mono"/>
              </a:rPr>
              <a:t>Strate · Business model</a:t>
            </a:r>
          </a:p>
        </p:txBody>
      </p:sp>
      <p:sp>
        <p:nvSpPr>
          <p:cNvPr id="9" name="TextBox 8"/>
          <p:cNvSpPr txBox="1"/>
          <p:nvPr/>
        </p:nvSpPr>
        <p:spPr>
          <a:xfrm>
            <a:off x="10789920" y="6446520"/>
            <a:ext cx="594360" cy="274320"/>
          </a:xfrm>
          <a:prstGeom prst="rect">
            <a:avLst/>
          </a:prstGeom>
          <a:noFill/>
        </p:spPr>
        <p:txBody>
          <a:bodyPr wrap="square" lIns="0" tIns="0" rIns="0" bIns="0" anchor="t">
            <a:spAutoFit/>
          </a:bodyPr>
          <a:lstStyle/>
          <a:p>
            <a:pPr algn="r"/>
            <a:r>
              <a:rPr sz="900" b="0" i="0">
                <a:solidFill>
                  <a:srgbClr val="BCC9C6"/>
                </a:solidFill>
                <a:latin typeface="JetBrains Mono"/>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AF8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BCC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02920"/>
            <a:ext cx="10607040" cy="320040"/>
          </a:xfrm>
          <a:prstGeom prst="rect">
            <a:avLst/>
          </a:prstGeom>
          <a:noFill/>
        </p:spPr>
        <p:txBody>
          <a:bodyPr wrap="square" lIns="0" tIns="0" rIns="0" bIns="0" anchor="t">
            <a:spAutoFit/>
          </a:bodyPr>
          <a:lstStyle/>
          <a:p>
            <a:pPr algn="l">
              <a:spcBef>
                <a:spcPts val="0"/>
              </a:spcBef>
              <a:spcAft>
                <a:spcPts val="600"/>
              </a:spcAft>
            </a:pPr>
            <a:r>
              <a:rPr sz="1250" b="1" i="0" spc="140">
                <a:solidFill>
                  <a:srgbClr val="3D4947"/>
                </a:solidFill>
                <a:latin typeface="Inter"/>
              </a:rPr>
              <a:t>ANNEXE · 3/3</a:t>
            </a:r>
          </a:p>
        </p:txBody>
      </p:sp>
      <p:sp>
        <p:nvSpPr>
          <p:cNvPr id="4" name="TextBox 3"/>
          <p:cNvSpPr txBox="1"/>
          <p:nvPr/>
        </p:nvSpPr>
        <p:spPr>
          <a:xfrm>
            <a:off x="777240" y="841248"/>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31B2E"/>
                </a:solidFill>
                <a:latin typeface="Space Grotesk"/>
              </a:rPr>
              <a:t>Sources &amp; provenance</a:t>
            </a:r>
          </a:p>
        </p:txBody>
      </p:sp>
      <p:sp>
        <p:nvSpPr>
          <p:cNvPr id="5" name="Rectangle 4"/>
          <p:cNvSpPr/>
          <p:nvPr/>
        </p:nvSpPr>
        <p:spPr>
          <a:xfrm>
            <a:off x="777240" y="1627632"/>
            <a:ext cx="10607040" cy="17780"/>
          </a:xfrm>
          <a:prstGeom prst="rect">
            <a:avLst/>
          </a:prstGeom>
          <a:solidFill>
            <a:srgbClr val="BCC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828800"/>
            <a:ext cx="10607040" cy="3891450"/>
          </a:xfrm>
          <a:prstGeom prst="rect">
            <a:avLst/>
          </a:prstGeom>
          <a:noFill/>
        </p:spPr>
        <p:txBody>
          <a:bodyPr wrap="square" lIns="0" tIns="0" rIns="0" bIns="0" anchor="t">
            <a:spAutoFit/>
          </a:bodyPr>
          <a:lstStyle/>
          <a:p>
            <a:pPr algn="l">
              <a:spcBef>
                <a:spcPts val="0"/>
              </a:spcBef>
              <a:spcAft>
                <a:spcPts val="700"/>
              </a:spcAft>
            </a:pPr>
            <a:r>
              <a:rPr sz="1400" b="1" i="0" dirty="0">
                <a:solidFill>
                  <a:srgbClr val="131B2E"/>
                </a:solidFill>
                <a:latin typeface="Space Grotesk"/>
              </a:rPr>
              <a:t>Sources internes (</a:t>
            </a:r>
            <a:r>
              <a:rPr sz="1400" b="1" i="0" dirty="0" err="1">
                <a:solidFill>
                  <a:srgbClr val="131B2E"/>
                </a:solidFill>
                <a:latin typeface="Space Grotesk"/>
              </a:rPr>
              <a:t>dépôt</a:t>
            </a:r>
            <a:r>
              <a:rPr sz="1400" b="1" i="0" dirty="0">
                <a:solidFill>
                  <a:srgbClr val="131B2E"/>
                </a:solidFill>
                <a:latin typeface="Space Grotesk"/>
              </a:rPr>
              <a:t> Strate)</a:t>
            </a:r>
          </a:p>
          <a:p>
            <a:pPr>
              <a:lnSpc>
                <a:spcPct val="108000"/>
              </a:lnSpc>
              <a:spcAft>
                <a:spcPts val="500"/>
              </a:spcAft>
            </a:pPr>
            <a:r>
              <a:rPr sz="1200" b="1" i="0" dirty="0">
                <a:solidFill>
                  <a:srgbClr val="00685F"/>
                </a:solidFill>
                <a:latin typeface="Inter"/>
              </a:rPr>
              <a:t>—  </a:t>
            </a:r>
            <a:r>
              <a:rPr sz="1200" b="0" i="0" dirty="0">
                <a:solidFill>
                  <a:srgbClr val="3D4947"/>
                </a:solidFill>
                <a:latin typeface="Inter"/>
              </a:rPr>
              <a:t>PRD.md — spec, JTBD, personas, </a:t>
            </a:r>
            <a:r>
              <a:rPr sz="1200" b="0" i="0" dirty="0" err="1">
                <a:solidFill>
                  <a:srgbClr val="3D4947"/>
                </a:solidFill>
                <a:latin typeface="Inter"/>
              </a:rPr>
              <a:t>périmètre</a:t>
            </a:r>
            <a:r>
              <a:rPr sz="1200" b="0" i="0" dirty="0">
                <a:solidFill>
                  <a:srgbClr val="3D4947"/>
                </a:solidFill>
                <a:latin typeface="Inter"/>
              </a:rPr>
              <a:t>, </a:t>
            </a:r>
            <a:r>
              <a:rPr sz="1200" b="0" i="0" dirty="0" err="1">
                <a:solidFill>
                  <a:srgbClr val="3D4947"/>
                </a:solidFill>
                <a:latin typeface="Inter"/>
              </a:rPr>
              <a:t>modèle</a:t>
            </a:r>
            <a:r>
              <a:rPr sz="1200" b="0" i="0" dirty="0">
                <a:solidFill>
                  <a:srgbClr val="3D4947"/>
                </a:solidFill>
                <a:latin typeface="Inter"/>
              </a:rPr>
              <a:t> </a:t>
            </a:r>
            <a:r>
              <a:rPr sz="1200" b="0" i="0" dirty="0" err="1">
                <a:solidFill>
                  <a:srgbClr val="3D4947"/>
                </a:solidFill>
                <a:latin typeface="Inter"/>
              </a:rPr>
              <a:t>éco</a:t>
            </a:r>
            <a:r>
              <a:rPr sz="1200" b="0" i="0" dirty="0">
                <a:solidFill>
                  <a:srgbClr val="3D4947"/>
                </a:solidFill>
                <a:latin typeface="Inter"/>
              </a:rPr>
              <a:t>, </a:t>
            </a:r>
            <a:r>
              <a:rPr sz="1200" b="0" i="0" dirty="0" err="1">
                <a:solidFill>
                  <a:srgbClr val="3D4947"/>
                </a:solidFill>
                <a:latin typeface="Inter"/>
              </a:rPr>
              <a:t>métriques</a:t>
            </a:r>
            <a:r>
              <a:rPr sz="1200" b="0" i="0" dirty="0">
                <a:solidFill>
                  <a:srgbClr val="3D4947"/>
                </a:solidFill>
                <a:latin typeface="Inter"/>
              </a:rPr>
              <a:t>, </a:t>
            </a:r>
            <a:r>
              <a:rPr sz="1200" b="0" i="0" dirty="0" err="1">
                <a:solidFill>
                  <a:srgbClr val="3D4947"/>
                </a:solidFill>
                <a:latin typeface="Inter"/>
              </a:rPr>
              <a:t>risques</a:t>
            </a:r>
            <a:r>
              <a:rPr sz="1200" b="0" i="0" dirty="0">
                <a:solidFill>
                  <a:srgbClr val="3D4947"/>
                </a:solidFill>
                <a:latin typeface="Inter"/>
              </a:rPr>
              <a:t>.</a:t>
            </a:r>
          </a:p>
          <a:p>
            <a:pPr>
              <a:lnSpc>
                <a:spcPct val="108000"/>
              </a:lnSpc>
              <a:spcAft>
                <a:spcPts val="500"/>
              </a:spcAft>
            </a:pPr>
            <a:r>
              <a:rPr sz="1200" b="1" i="0" dirty="0">
                <a:solidFill>
                  <a:srgbClr val="00685F"/>
                </a:solidFill>
                <a:latin typeface="Inter"/>
              </a:rPr>
              <a:t>—  </a:t>
            </a:r>
            <a:r>
              <a:rPr sz="1200" b="0" i="0" dirty="0">
                <a:solidFill>
                  <a:srgbClr val="3D4947"/>
                </a:solidFill>
                <a:latin typeface="Inter"/>
              </a:rPr>
              <a:t>docs/MOAT.md — les 3 moats, analogies inter-industries, scores.</a:t>
            </a:r>
          </a:p>
          <a:p>
            <a:pPr>
              <a:lnSpc>
                <a:spcPct val="108000"/>
              </a:lnSpc>
              <a:spcAft>
                <a:spcPts val="500"/>
              </a:spcAft>
            </a:pPr>
            <a:r>
              <a:rPr sz="1200" b="1" i="0" dirty="0">
                <a:solidFill>
                  <a:srgbClr val="00685F"/>
                </a:solidFill>
                <a:latin typeface="Inter"/>
              </a:rPr>
              <a:t>—  </a:t>
            </a:r>
            <a:r>
              <a:rPr sz="1200" b="0" i="0" dirty="0">
                <a:solidFill>
                  <a:srgbClr val="3D4947"/>
                </a:solidFill>
                <a:latin typeface="Inter"/>
              </a:rPr>
              <a:t>docs/DECISIONS.md — ADR-001→020 (presets </a:t>
            </a:r>
            <a:r>
              <a:rPr sz="1200" b="0" i="0" dirty="0" err="1">
                <a:solidFill>
                  <a:srgbClr val="3D4947"/>
                </a:solidFill>
                <a:latin typeface="Inter"/>
              </a:rPr>
              <a:t>scorés</a:t>
            </a:r>
            <a:r>
              <a:rPr sz="1200" b="0" i="0" dirty="0">
                <a:solidFill>
                  <a:srgbClr val="3D4947"/>
                </a:solidFill>
                <a:latin typeface="Inter"/>
              </a:rPr>
              <a:t>, </a:t>
            </a:r>
            <a:r>
              <a:rPr sz="1200" b="0" i="0" dirty="0" err="1">
                <a:solidFill>
                  <a:srgbClr val="3D4947"/>
                </a:solidFill>
                <a:latin typeface="Inter"/>
              </a:rPr>
              <a:t>déterminisme</a:t>
            </a:r>
            <a:r>
              <a:rPr sz="1200" b="0" i="0" dirty="0">
                <a:solidFill>
                  <a:srgbClr val="3D4947"/>
                </a:solidFill>
                <a:latin typeface="Inter"/>
              </a:rPr>
              <a:t>, etc.).</a:t>
            </a:r>
          </a:p>
          <a:p>
            <a:pPr>
              <a:lnSpc>
                <a:spcPct val="108000"/>
              </a:lnSpc>
              <a:spcAft>
                <a:spcPts val="500"/>
              </a:spcAft>
            </a:pPr>
            <a:r>
              <a:rPr sz="1200" b="1" i="0" dirty="0">
                <a:solidFill>
                  <a:srgbClr val="00685F"/>
                </a:solidFill>
                <a:latin typeface="Inter"/>
              </a:rPr>
              <a:t>—  </a:t>
            </a:r>
            <a:r>
              <a:rPr sz="1200" b="0" i="0" dirty="0">
                <a:solidFill>
                  <a:srgbClr val="3D4947"/>
                </a:solidFill>
                <a:latin typeface="Inter"/>
              </a:rPr>
              <a:t>docs/pricing/wtp-research.md — </a:t>
            </a:r>
            <a:r>
              <a:rPr sz="1200" b="0" i="0" dirty="0" err="1">
                <a:solidFill>
                  <a:srgbClr val="3D4947"/>
                </a:solidFill>
                <a:latin typeface="Inter"/>
              </a:rPr>
              <a:t>méthodo</a:t>
            </a:r>
            <a:r>
              <a:rPr sz="1200" b="0" i="0" dirty="0">
                <a:solidFill>
                  <a:srgbClr val="3D4947"/>
                </a:solidFill>
                <a:latin typeface="Inter"/>
              </a:rPr>
              <a:t> Van </a:t>
            </a:r>
            <a:r>
              <a:rPr sz="1200" b="0" i="0" dirty="0" err="1">
                <a:solidFill>
                  <a:srgbClr val="3D4947"/>
                </a:solidFill>
                <a:latin typeface="Inter"/>
              </a:rPr>
              <a:t>Westendorp</a:t>
            </a:r>
            <a:r>
              <a:rPr sz="1200" b="0" i="0" dirty="0">
                <a:solidFill>
                  <a:srgbClr val="3D4947"/>
                </a:solidFill>
                <a:latin typeface="Inter"/>
              </a:rPr>
              <a:t> + conjoint, </a:t>
            </a:r>
            <a:r>
              <a:rPr sz="1200" b="0" i="0" dirty="0" err="1">
                <a:solidFill>
                  <a:srgbClr val="3D4947"/>
                </a:solidFill>
                <a:latin typeface="Inter"/>
              </a:rPr>
              <a:t>paliers</a:t>
            </a:r>
            <a:r>
              <a:rPr sz="1200" b="0" i="0" dirty="0">
                <a:solidFill>
                  <a:srgbClr val="3D4947"/>
                </a:solidFill>
                <a:latin typeface="Inter"/>
              </a:rPr>
              <a:t> </a:t>
            </a:r>
            <a:r>
              <a:rPr sz="1200" b="0" i="0" dirty="0" err="1">
                <a:solidFill>
                  <a:srgbClr val="3D4947"/>
                </a:solidFill>
                <a:latin typeface="Inter"/>
              </a:rPr>
              <a:t>candidats</a:t>
            </a:r>
            <a:r>
              <a:rPr sz="1200" b="0" i="0" dirty="0">
                <a:solidFill>
                  <a:srgbClr val="3D4947"/>
                </a:solidFill>
                <a:latin typeface="Inter"/>
              </a:rPr>
              <a:t>.</a:t>
            </a:r>
          </a:p>
          <a:p>
            <a:pPr>
              <a:lnSpc>
                <a:spcPct val="108000"/>
              </a:lnSpc>
              <a:spcAft>
                <a:spcPts val="500"/>
              </a:spcAft>
            </a:pPr>
            <a:r>
              <a:rPr sz="1200" b="1" i="0" dirty="0">
                <a:solidFill>
                  <a:srgbClr val="00685F"/>
                </a:solidFill>
                <a:latin typeface="Inter"/>
              </a:rPr>
              <a:t>—  </a:t>
            </a:r>
            <a:r>
              <a:rPr sz="1200" b="0" i="0" dirty="0">
                <a:solidFill>
                  <a:srgbClr val="3D4947"/>
                </a:solidFill>
                <a:latin typeface="Inter"/>
              </a:rPr>
              <a:t>.ralph/</a:t>
            </a:r>
            <a:r>
              <a:rPr sz="1200" b="0" i="0" dirty="0" err="1">
                <a:solidFill>
                  <a:srgbClr val="3D4947"/>
                </a:solidFill>
                <a:latin typeface="Inter"/>
              </a:rPr>
              <a:t>prd.json</a:t>
            </a:r>
            <a:r>
              <a:rPr sz="1200" b="0" i="0" dirty="0">
                <a:solidFill>
                  <a:srgbClr val="3D4947"/>
                </a:solidFill>
                <a:latin typeface="Inter"/>
              </a:rPr>
              <a:t> + progress.md — état </a:t>
            </a:r>
            <a:r>
              <a:rPr sz="1200" b="0" i="0" dirty="0" err="1">
                <a:solidFill>
                  <a:srgbClr val="3D4947"/>
                </a:solidFill>
                <a:latin typeface="Inter"/>
              </a:rPr>
              <a:t>réel</a:t>
            </a:r>
            <a:r>
              <a:rPr sz="1200" b="0" i="0" dirty="0">
                <a:solidFill>
                  <a:srgbClr val="3D4947"/>
                </a:solidFill>
                <a:latin typeface="Inter"/>
              </a:rPr>
              <a:t> des features (</a:t>
            </a:r>
            <a:r>
              <a:rPr sz="1200" b="0" i="0" dirty="0" err="1">
                <a:solidFill>
                  <a:srgbClr val="3D4947"/>
                </a:solidFill>
                <a:latin typeface="Inter"/>
              </a:rPr>
              <a:t>épic</a:t>
            </a:r>
            <a:r>
              <a:rPr sz="1200" b="0" i="0" dirty="0">
                <a:solidFill>
                  <a:srgbClr val="3D4947"/>
                </a:solidFill>
                <a:latin typeface="Inter"/>
              </a:rPr>
              <a:t> LLM, backup, compute).</a:t>
            </a:r>
          </a:p>
          <a:p>
            <a:pPr>
              <a:lnSpc>
                <a:spcPct val="108000"/>
              </a:lnSpc>
              <a:spcAft>
                <a:spcPts val="500"/>
              </a:spcAft>
            </a:pPr>
            <a:r>
              <a:rPr sz="1200" b="1" i="0" dirty="0">
                <a:solidFill>
                  <a:srgbClr val="00685F"/>
                </a:solidFill>
                <a:latin typeface="Inter"/>
              </a:rPr>
              <a:t>—  </a:t>
            </a:r>
            <a:r>
              <a:rPr sz="1200" b="0" i="0" dirty="0">
                <a:solidFill>
                  <a:srgbClr val="3D4947"/>
                </a:solidFill>
                <a:latin typeface="Inter"/>
              </a:rPr>
              <a:t>lib/fiduciary/</a:t>
            </a:r>
            <a:r>
              <a:rPr sz="1200" b="0" i="0" dirty="0" err="1">
                <a:solidFill>
                  <a:srgbClr val="3D4947"/>
                </a:solidFill>
                <a:latin typeface="Inter"/>
              </a:rPr>
              <a:t>charter.ts</a:t>
            </a:r>
            <a:r>
              <a:rPr sz="1200" b="0" i="0" dirty="0">
                <a:solidFill>
                  <a:srgbClr val="3D4947"/>
                </a:solidFill>
                <a:latin typeface="Inter"/>
              </a:rPr>
              <a:t> — </a:t>
            </a:r>
            <a:r>
              <a:rPr sz="1200" b="0" i="0" dirty="0" err="1">
                <a:solidFill>
                  <a:srgbClr val="3D4947"/>
                </a:solidFill>
                <a:latin typeface="Inter"/>
              </a:rPr>
              <a:t>charte</a:t>
            </a:r>
            <a:r>
              <a:rPr sz="1200" b="0" i="0" dirty="0">
                <a:solidFill>
                  <a:srgbClr val="3D4947"/>
                </a:solidFill>
                <a:latin typeface="Inter"/>
              </a:rPr>
              <a:t> </a:t>
            </a:r>
            <a:r>
              <a:rPr sz="1200" b="0" i="0" dirty="0" err="1">
                <a:solidFill>
                  <a:srgbClr val="3D4947"/>
                </a:solidFill>
                <a:latin typeface="Inter"/>
              </a:rPr>
              <a:t>fiduciaire</a:t>
            </a:r>
            <a:r>
              <a:rPr sz="1200" b="0" i="0" dirty="0">
                <a:solidFill>
                  <a:srgbClr val="3D4947"/>
                </a:solidFill>
                <a:latin typeface="Inter"/>
              </a:rPr>
              <a:t> (</a:t>
            </a:r>
            <a:r>
              <a:rPr sz="1200" b="0" i="0" dirty="0" err="1">
                <a:solidFill>
                  <a:srgbClr val="3D4947"/>
                </a:solidFill>
                <a:latin typeface="Inter"/>
              </a:rPr>
              <a:t>zéro</a:t>
            </a:r>
            <a:r>
              <a:rPr sz="1200" b="0" i="0" dirty="0">
                <a:solidFill>
                  <a:srgbClr val="3D4947"/>
                </a:solidFill>
                <a:latin typeface="Inter"/>
              </a:rPr>
              <a:t> commission), </a:t>
            </a:r>
            <a:r>
              <a:rPr sz="1200" b="0" i="0" dirty="0" err="1">
                <a:solidFill>
                  <a:srgbClr val="3D4947"/>
                </a:solidFill>
                <a:latin typeface="Inter"/>
              </a:rPr>
              <a:t>testée</a:t>
            </a:r>
            <a:r>
              <a:rPr sz="1200" b="0" i="0" dirty="0">
                <a:solidFill>
                  <a:srgbClr val="3D4947"/>
                </a:solidFill>
                <a:latin typeface="Inter"/>
              </a:rPr>
              <a:t>.</a:t>
            </a:r>
          </a:p>
          <a:p>
            <a:pPr>
              <a:lnSpc>
                <a:spcPct val="108000"/>
              </a:lnSpc>
              <a:spcAft>
                <a:spcPts val="500"/>
              </a:spcAft>
            </a:pPr>
            <a:r>
              <a:rPr sz="1200" b="1" i="0" dirty="0">
                <a:solidFill>
                  <a:srgbClr val="00685F"/>
                </a:solidFill>
                <a:latin typeface="Inter"/>
              </a:rPr>
              <a:t>—  </a:t>
            </a:r>
            <a:r>
              <a:rPr sz="1200" b="0" i="0" dirty="0">
                <a:solidFill>
                  <a:srgbClr val="3D4947"/>
                </a:solidFill>
                <a:latin typeface="Inter"/>
              </a:rPr>
              <a:t>design-reference/mn_mo_brand_identity/DESIGN.md — </a:t>
            </a:r>
            <a:r>
              <a:rPr sz="1200" b="0" i="0" dirty="0" err="1">
                <a:solidFill>
                  <a:srgbClr val="3D4947"/>
                </a:solidFill>
                <a:latin typeface="Inter"/>
              </a:rPr>
              <a:t>identité</a:t>
            </a:r>
            <a:r>
              <a:rPr sz="1200" b="0" i="0" dirty="0">
                <a:solidFill>
                  <a:srgbClr val="3D4947"/>
                </a:solidFill>
                <a:latin typeface="Inter"/>
              </a:rPr>
              <a:t> de marque (palette, typo).</a:t>
            </a:r>
          </a:p>
          <a:p>
            <a:pPr algn="l">
              <a:spcBef>
                <a:spcPts val="800"/>
              </a:spcBef>
              <a:spcAft>
                <a:spcPts val="700"/>
              </a:spcAft>
            </a:pPr>
            <a:r>
              <a:rPr sz="1400" b="1" i="0" dirty="0">
                <a:solidFill>
                  <a:srgbClr val="131B2E"/>
                </a:solidFill>
                <a:latin typeface="Space Grotesk"/>
              </a:rPr>
              <a:t>Sources externes (analogies de moats, dans le PRD / MOAT)</a:t>
            </a:r>
          </a:p>
          <a:p>
            <a:pPr>
              <a:lnSpc>
                <a:spcPct val="108000"/>
              </a:lnSpc>
              <a:spcAft>
                <a:spcPts val="500"/>
              </a:spcAft>
            </a:pPr>
            <a:r>
              <a:rPr sz="1200" b="1" i="0" dirty="0">
                <a:solidFill>
                  <a:srgbClr val="0051D5"/>
                </a:solidFill>
                <a:latin typeface="Inter"/>
              </a:rPr>
              <a:t>—  </a:t>
            </a:r>
            <a:r>
              <a:rPr sz="1200" b="0" i="0" dirty="0">
                <a:solidFill>
                  <a:srgbClr val="3D4947"/>
                </a:solidFill>
                <a:latin typeface="Inter"/>
              </a:rPr>
              <a:t>Escrow </a:t>
            </a:r>
            <a:r>
              <a:rPr sz="1200" b="0" i="0" dirty="0" err="1">
                <a:solidFill>
                  <a:srgbClr val="3D4947"/>
                </a:solidFill>
                <a:latin typeface="Inter"/>
              </a:rPr>
              <a:t>logiciel</a:t>
            </a:r>
            <a:r>
              <a:rPr sz="1200" b="0" i="0" dirty="0">
                <a:solidFill>
                  <a:srgbClr val="3D4947"/>
                </a:solidFill>
                <a:latin typeface="Inter"/>
              </a:rPr>
              <a:t> / IP Bankruptcy Act — en.wikipedia.org/wiki/</a:t>
            </a:r>
            <a:r>
              <a:rPr sz="1200" b="0" i="0" dirty="0" err="1">
                <a:solidFill>
                  <a:srgbClr val="3D4947"/>
                </a:solidFill>
                <a:latin typeface="Inter"/>
              </a:rPr>
              <a:t>Source_code_escrow</a:t>
            </a:r>
            <a:endParaRPr sz="1200" b="0" i="0" dirty="0">
              <a:solidFill>
                <a:srgbClr val="3D4947"/>
              </a:solidFill>
              <a:latin typeface="Inter"/>
            </a:endParaRPr>
          </a:p>
          <a:p>
            <a:pPr>
              <a:lnSpc>
                <a:spcPct val="108000"/>
              </a:lnSpc>
              <a:spcAft>
                <a:spcPts val="500"/>
              </a:spcAft>
            </a:pPr>
            <a:r>
              <a:rPr sz="1200" b="1" i="0" dirty="0">
                <a:solidFill>
                  <a:srgbClr val="0051D5"/>
                </a:solidFill>
                <a:latin typeface="Inter"/>
              </a:rPr>
              <a:t>—  </a:t>
            </a:r>
            <a:r>
              <a:rPr sz="1200" b="0" i="0" dirty="0">
                <a:solidFill>
                  <a:srgbClr val="3D4947"/>
                </a:solidFill>
                <a:latin typeface="Inter"/>
              </a:rPr>
              <a:t>Courtier &amp; secret commission — brabners.com ; fosterec.com ; </a:t>
            </a:r>
            <a:r>
              <a:rPr sz="1200" b="0" i="0" dirty="0" err="1">
                <a:solidFill>
                  <a:srgbClr val="3D4947"/>
                </a:solidFill>
                <a:latin typeface="Inter"/>
              </a:rPr>
              <a:t>moneytothemasses</a:t>
            </a:r>
            <a:r>
              <a:rPr sz="1200" b="0" i="0" dirty="0">
                <a:solidFill>
                  <a:srgbClr val="3D4947"/>
                </a:solidFill>
                <a:latin typeface="Inter"/>
              </a:rPr>
              <a:t> (Flipper).</a:t>
            </a:r>
          </a:p>
          <a:p>
            <a:pPr>
              <a:lnSpc>
                <a:spcPct val="108000"/>
              </a:lnSpc>
              <a:spcAft>
                <a:spcPts val="500"/>
              </a:spcAft>
            </a:pPr>
            <a:r>
              <a:rPr sz="1200" b="1" i="0" dirty="0">
                <a:solidFill>
                  <a:srgbClr val="0051D5"/>
                </a:solidFill>
                <a:latin typeface="Inter"/>
              </a:rPr>
              <a:t>—  </a:t>
            </a:r>
            <a:r>
              <a:rPr sz="1200" b="0" i="0" dirty="0">
                <a:solidFill>
                  <a:srgbClr val="3D4947"/>
                </a:solidFill>
                <a:latin typeface="Inter"/>
              </a:rPr>
              <a:t>ISAC / collective defense — anomali.com ; nationalisacs.org.</a:t>
            </a:r>
          </a:p>
          <a:p>
            <a:pPr>
              <a:lnSpc>
                <a:spcPct val="108000"/>
              </a:lnSpc>
              <a:spcAft>
                <a:spcPts val="500"/>
              </a:spcAft>
            </a:pPr>
            <a:r>
              <a:rPr sz="1200" b="1" i="0" dirty="0">
                <a:solidFill>
                  <a:srgbClr val="0051D5"/>
                </a:solidFill>
                <a:latin typeface="Inter"/>
              </a:rPr>
              <a:t>—  </a:t>
            </a:r>
            <a:r>
              <a:rPr sz="1200" b="0" i="0" dirty="0">
                <a:solidFill>
                  <a:srgbClr val="3D4947"/>
                </a:solidFill>
                <a:latin typeface="Inter"/>
              </a:rPr>
              <a:t>Ensemble forecasting — science.org (</a:t>
            </a:r>
            <a:r>
              <a:rPr sz="1200" b="0" i="0" dirty="0" err="1">
                <a:solidFill>
                  <a:srgbClr val="3D4947"/>
                </a:solidFill>
                <a:latin typeface="Inter"/>
              </a:rPr>
              <a:t>FuXi</a:t>
            </a:r>
            <a:r>
              <a:rPr sz="1200" b="0" i="0" dirty="0">
                <a:solidFill>
                  <a:srgbClr val="3D4947"/>
                </a:solidFill>
                <a:latin typeface="Inter"/>
              </a:rPr>
              <a:t>-ENS) · MEL aviation — skybrary.aero · NEWS2 — nice.org.uk.</a:t>
            </a:r>
          </a:p>
          <a:p>
            <a:pPr algn="l">
              <a:spcBef>
                <a:spcPts val="800"/>
              </a:spcBef>
              <a:spcAft>
                <a:spcPts val="600"/>
              </a:spcAft>
            </a:pPr>
            <a:r>
              <a:rPr sz="1150" b="0" i="1" dirty="0" err="1">
                <a:solidFill>
                  <a:srgbClr val="BA1A1A"/>
                </a:solidFill>
                <a:latin typeface="Inter"/>
              </a:rPr>
              <a:t>Aucune</a:t>
            </a:r>
            <a:r>
              <a:rPr sz="1150" b="0" i="1" dirty="0">
                <a:solidFill>
                  <a:srgbClr val="BA1A1A"/>
                </a:solidFill>
                <a:latin typeface="Inter"/>
              </a:rPr>
              <a:t> taille de </a:t>
            </a:r>
            <a:r>
              <a:rPr sz="1150" b="0" i="1" dirty="0" err="1">
                <a:solidFill>
                  <a:srgbClr val="BA1A1A"/>
                </a:solidFill>
                <a:latin typeface="Inter"/>
              </a:rPr>
              <a:t>marché</a:t>
            </a:r>
            <a:r>
              <a:rPr sz="1150" b="0" i="1" dirty="0">
                <a:solidFill>
                  <a:srgbClr val="BA1A1A"/>
                </a:solidFill>
                <a:latin typeface="Inter"/>
              </a:rPr>
              <a:t> (TAM) </a:t>
            </a:r>
            <a:r>
              <a:rPr sz="1150" b="0" i="1" dirty="0" err="1">
                <a:solidFill>
                  <a:srgbClr val="BA1A1A"/>
                </a:solidFill>
                <a:latin typeface="Inter"/>
              </a:rPr>
              <a:t>n'est</a:t>
            </a:r>
            <a:r>
              <a:rPr sz="1150" b="0" i="1" dirty="0">
                <a:solidFill>
                  <a:srgbClr val="BA1A1A"/>
                </a:solidFill>
                <a:latin typeface="Inter"/>
              </a:rPr>
              <a:t> </a:t>
            </a:r>
            <a:r>
              <a:rPr sz="1150" b="0" i="1" dirty="0" err="1">
                <a:solidFill>
                  <a:srgbClr val="BA1A1A"/>
                </a:solidFill>
                <a:latin typeface="Inter"/>
              </a:rPr>
              <a:t>sourcée</a:t>
            </a:r>
            <a:r>
              <a:rPr sz="1150" b="0" i="1" dirty="0">
                <a:solidFill>
                  <a:srgbClr val="BA1A1A"/>
                </a:solidFill>
                <a:latin typeface="Inter"/>
              </a:rPr>
              <a:t> → </a:t>
            </a:r>
            <a:r>
              <a:rPr sz="1150" b="0" i="1" dirty="0" err="1">
                <a:solidFill>
                  <a:srgbClr val="BA1A1A"/>
                </a:solidFill>
                <a:latin typeface="Inter"/>
              </a:rPr>
              <a:t>traitée</a:t>
            </a:r>
            <a:r>
              <a:rPr sz="1150" b="0" i="1" dirty="0">
                <a:solidFill>
                  <a:srgbClr val="BA1A1A"/>
                </a:solidFill>
                <a:latin typeface="Inter"/>
              </a:rPr>
              <a:t> </a:t>
            </a:r>
            <a:r>
              <a:rPr sz="1150" b="0" i="1" dirty="0" err="1">
                <a:solidFill>
                  <a:srgbClr val="BA1A1A"/>
                </a:solidFill>
                <a:latin typeface="Inter"/>
              </a:rPr>
              <a:t>comme</a:t>
            </a:r>
            <a:r>
              <a:rPr sz="1150" b="0" i="1" dirty="0">
                <a:solidFill>
                  <a:srgbClr val="BA1A1A"/>
                </a:solidFill>
                <a:latin typeface="Inter"/>
              </a:rPr>
              <a:t> inconnue, pas </a:t>
            </a:r>
            <a:r>
              <a:rPr sz="1150" b="0" i="1" dirty="0" err="1">
                <a:solidFill>
                  <a:srgbClr val="BA1A1A"/>
                </a:solidFill>
                <a:latin typeface="Inter"/>
              </a:rPr>
              <a:t>comme</a:t>
            </a:r>
            <a:r>
              <a:rPr sz="1150" b="0" i="1" dirty="0">
                <a:solidFill>
                  <a:srgbClr val="BA1A1A"/>
                </a:solidFill>
                <a:latin typeface="Inter"/>
              </a:rPr>
              <a:t> acquis (cf. </a:t>
            </a:r>
            <a:r>
              <a:rPr sz="1150" b="0" i="1" dirty="0" err="1">
                <a:solidFill>
                  <a:srgbClr val="BA1A1A"/>
                </a:solidFill>
                <a:latin typeface="Inter"/>
              </a:rPr>
              <a:t>risques</a:t>
            </a:r>
            <a:r>
              <a:rPr sz="1150" b="0" i="1" dirty="0">
                <a:solidFill>
                  <a:srgbClr val="BA1A1A"/>
                </a:solidFill>
                <a:latin typeface="Inter"/>
              </a:rPr>
              <a:t>).</a:t>
            </a:r>
          </a:p>
        </p:txBody>
      </p:sp>
      <p:sp>
        <p:nvSpPr>
          <p:cNvPr id="7" name="TextBox 6"/>
          <p:cNvSpPr txBox="1"/>
          <p:nvPr/>
        </p:nvSpPr>
        <p:spPr>
          <a:xfrm>
            <a:off x="777240" y="6446520"/>
            <a:ext cx="10607040" cy="274320"/>
          </a:xfrm>
          <a:prstGeom prst="rect">
            <a:avLst/>
          </a:prstGeom>
          <a:noFill/>
        </p:spPr>
        <p:txBody>
          <a:bodyPr wrap="square" lIns="0" tIns="0" rIns="0" bIns="0" anchor="t">
            <a:spAutoFit/>
          </a:bodyPr>
          <a:lstStyle/>
          <a:p>
            <a:pPr algn="l"/>
            <a:r>
              <a:rPr sz="900" b="0" i="0">
                <a:solidFill>
                  <a:srgbClr val="BCC9C6"/>
                </a:solidFill>
                <a:latin typeface="JetBrains Mono"/>
              </a:rPr>
              <a:t>Strate · Business model</a:t>
            </a:r>
          </a:p>
        </p:txBody>
      </p:sp>
      <p:sp>
        <p:nvSpPr>
          <p:cNvPr id="8" name="TextBox 7"/>
          <p:cNvSpPr txBox="1"/>
          <p:nvPr/>
        </p:nvSpPr>
        <p:spPr>
          <a:xfrm>
            <a:off x="10789920" y="6446520"/>
            <a:ext cx="594360" cy="274320"/>
          </a:xfrm>
          <a:prstGeom prst="rect">
            <a:avLst/>
          </a:prstGeom>
          <a:noFill/>
        </p:spPr>
        <p:txBody>
          <a:bodyPr wrap="square" lIns="0" tIns="0" rIns="0" bIns="0" anchor="t">
            <a:spAutoFit/>
          </a:bodyPr>
          <a:lstStyle/>
          <a:p>
            <a:pPr algn="r"/>
            <a:r>
              <a:rPr sz="900" b="0" i="0">
                <a:solidFill>
                  <a:srgbClr val="BCC9C6"/>
                </a:solidFill>
                <a:latin typeface="JetBrains Mono"/>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283044"/>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006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194560"/>
            <a:ext cx="10515600" cy="2011680"/>
          </a:xfrm>
          <a:prstGeom prst="rect">
            <a:avLst/>
          </a:prstGeom>
          <a:noFill/>
        </p:spPr>
        <p:txBody>
          <a:bodyPr wrap="square" lIns="0" tIns="0" rIns="0" bIns="0" anchor="ctr">
            <a:spAutoFit/>
          </a:bodyPr>
          <a:lstStyle/>
          <a:p>
            <a:pPr algn="l">
              <a:spcBef>
                <a:spcPts val="0"/>
              </a:spcBef>
              <a:spcAft>
                <a:spcPts val="200"/>
              </a:spcAft>
            </a:pPr>
            <a:r>
              <a:rPr sz="3000" b="1" i="0">
                <a:solidFill>
                  <a:srgbClr val="FFFFFF"/>
                </a:solidFill>
                <a:latin typeface="Space Grotesk"/>
              </a:rPr>
              <a:t>Une thèse claire, des moats défendables,</a:t>
            </a:r>
          </a:p>
          <a:p>
            <a:pPr algn="l">
              <a:spcBef>
                <a:spcPts val="0"/>
              </a:spcBef>
              <a:spcAft>
                <a:spcPts val="1400"/>
              </a:spcAft>
            </a:pPr>
            <a:r>
              <a:rPr sz="3000" b="1" i="0">
                <a:solidFill>
                  <a:srgbClr val="6BD8CB"/>
                </a:solidFill>
                <a:latin typeface="Space Grotesk"/>
              </a:rPr>
              <a:t>des chiffres honnêtement étiquetés.</a:t>
            </a:r>
          </a:p>
          <a:p>
            <a:pPr algn="l">
              <a:spcBef>
                <a:spcPts val="0"/>
              </a:spcBef>
              <a:spcAft>
                <a:spcPts val="600"/>
              </a:spcAft>
            </a:pPr>
            <a:r>
              <a:rPr sz="1600" b="0" i="0">
                <a:solidFill>
                  <a:srgbClr val="EEF0FF"/>
                </a:solidFill>
                <a:latin typeface="Inter"/>
              </a:rPr>
              <a:t>Prochain pas : clore le sondage, signer 5 clients P1, financer la cuisine.</a:t>
            </a:r>
          </a:p>
        </p:txBody>
      </p:sp>
      <p:sp>
        <p:nvSpPr>
          <p:cNvPr id="4" name="TextBox 3"/>
          <p:cNvSpPr txBox="1"/>
          <p:nvPr/>
        </p:nvSpPr>
        <p:spPr>
          <a:xfrm>
            <a:off x="822960" y="6035040"/>
            <a:ext cx="10515600" cy="457200"/>
          </a:xfrm>
          <a:prstGeom prst="rect">
            <a:avLst/>
          </a:prstGeom>
          <a:noFill/>
        </p:spPr>
        <p:txBody>
          <a:bodyPr wrap="square" lIns="0" tIns="0" rIns="0" bIns="0" anchor="t">
            <a:spAutoFit/>
          </a:bodyPr>
          <a:lstStyle/>
          <a:p>
            <a:pPr algn="l">
              <a:spcBef>
                <a:spcPts val="0"/>
              </a:spcBef>
              <a:spcAft>
                <a:spcPts val="600"/>
              </a:spcAft>
            </a:pPr>
            <a:r>
              <a:rPr sz="1200" b="0" i="0">
                <a:solidFill>
                  <a:srgbClr val="B4C5FF"/>
                </a:solidFill>
                <a:latin typeface="JetBrains Mono"/>
              </a:rPr>
              <a:t>Strate · base mémorielle souveraine · sans migration, sans verrouillage, sans coûts cachés.</a:t>
            </a:r>
          </a:p>
        </p:txBody>
      </p:sp>
      <p:sp>
        <p:nvSpPr>
          <p:cNvPr id="5" name="TextBox 4"/>
          <p:cNvSpPr txBox="1"/>
          <p:nvPr/>
        </p:nvSpPr>
        <p:spPr>
          <a:xfrm>
            <a:off x="777240" y="6446520"/>
            <a:ext cx="10607040" cy="274320"/>
          </a:xfrm>
          <a:prstGeom prst="rect">
            <a:avLst/>
          </a:prstGeom>
          <a:noFill/>
        </p:spPr>
        <p:txBody>
          <a:bodyPr wrap="square" lIns="0" tIns="0" rIns="0" bIns="0" anchor="t">
            <a:spAutoFit/>
          </a:bodyPr>
          <a:lstStyle/>
          <a:p>
            <a:pPr algn="l"/>
            <a:endParaRPr/>
          </a:p>
        </p:txBody>
      </p:sp>
      <p:sp>
        <p:nvSpPr>
          <p:cNvPr id="6" name="TextBox 5"/>
          <p:cNvSpPr txBox="1"/>
          <p:nvPr/>
        </p:nvSpPr>
        <p:spPr>
          <a:xfrm>
            <a:off x="10789920" y="6446520"/>
            <a:ext cx="594360" cy="274320"/>
          </a:xfrm>
          <a:prstGeom prst="rect">
            <a:avLst/>
          </a:prstGeom>
          <a:noFill/>
        </p:spPr>
        <p:txBody>
          <a:bodyPr wrap="square" lIns="0" tIns="0" rIns="0" bIns="0" anchor="t">
            <a:spAutoFit/>
          </a:bodyPr>
          <a:lstStyle/>
          <a:p>
            <a:pPr algn="r"/>
            <a:r>
              <a:rPr sz="900" b="0" i="0">
                <a:solidFill>
                  <a:srgbClr val="BCC9C6"/>
                </a:solidFill>
                <a:latin typeface="JetBrains Mono"/>
              </a:rPr>
              <a:t>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11312</Words>
  <Application>Microsoft Office PowerPoint</Application>
  <PresentationFormat>Grand écran</PresentationFormat>
  <Paragraphs>655</Paragraphs>
  <Slides>25</Slides>
  <Notes>25</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25</vt:i4>
      </vt:variant>
    </vt:vector>
  </HeadingPairs>
  <TitlesOfParts>
    <vt:vector size="31" baseType="lpstr">
      <vt:lpstr>Arial</vt:lpstr>
      <vt:lpstr>Calibri</vt:lpstr>
      <vt:lpstr>Inter</vt:lpstr>
      <vt:lpstr>JetBrains Mono</vt:lpstr>
      <vt:lpstr>Space Grotesk</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Med Amine MANSOURI IDRISSI</cp:lastModifiedBy>
  <cp:revision>1</cp:revision>
  <dcterms:created xsi:type="dcterms:W3CDTF">2013-01-27T09:14:16Z</dcterms:created>
  <dcterms:modified xsi:type="dcterms:W3CDTF">2026-05-28T17:49:58Z</dcterms:modified>
  <cp:category/>
</cp:coreProperties>
</file>