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5D7819-BFEF-42E3-B76B-82932B1B9693}" v="3" dt="2026-05-28T18:46:29.0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945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d'ouverture du Business Model Canvas (méthode Osterwalder &amp; Pigneur, Business Model Generation).</a:t>
            </a:r>
          </a:p>
          <a:p>
            <a:endParaRPr/>
          </a:p>
          <a:p>
            <a:r>
              <a:t>Le canevas qui suit synthétise sur UNE page les 9 briques du modèle économique de Strate. Il est dérivé du produit RÉEL (dépôt Infra) : Lot 1 (conseil + moats) livré et déployé en prod, épic LLM complet ; Lot 2 (cuisine payante : déploiement assisté + monitoring) et l'épic résidence/DR sont signalés « à venir ».</a:t>
            </a:r>
          </a:p>
          <a:p>
            <a:endParaRPr/>
          </a:p>
          <a:p>
            <a:r>
              <a:t>Garde-fous (règle DÉFCON 1 d'Amine) à rappeler d'entrée :</a:t>
            </a:r>
          </a:p>
          <a:p>
            <a:r>
              <a:t>- Le prix de vente du service Strate est un [PLACEHOLDER] : un sondage de willingness-to-pay (Van Westendorp + conjoint) est en cours (cf. docs/pricing/wtp-research.md). Aucun montant ferme n'est asséné.</a:t>
            </a:r>
          </a:p>
          <a:p>
            <a:r>
              <a:t>- Toute mention de revenus ou de coûts est une HYPOTHÈSE de modélisation, pas une prévision.</a:t>
            </a:r>
          </a:p>
          <a:p>
            <a:r>
              <a:t>- Aucune taille de marché n'est inventée.</a:t>
            </a:r>
          </a:p>
          <a:p>
            <a:endParaRPr/>
          </a:p>
          <a:p>
            <a:r>
              <a:t>Les slides 3 à 5 détaillent chaque bloc, avec le « pourquoi » et les preuves. La slide 2 est le canevas grille à présenter en plénière.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CANEVAS EN PLÉNIÈRE. Présenter dans l'ordre de la logique Osterwalder : commencer par le CENTRE (proposition de valeur) et la DROITE (pour qui), puis remonter à GAUCHE (comment on le produit), enfin le BAS (combien ça coûte / combien ça rapporte).</a:t>
            </a:r>
          </a:p>
          <a:p>
            <a:endParaRPr/>
          </a:p>
          <a:p>
            <a:r>
              <a:t>PROPOSITION DE VALEUR (01) : « Base mémorielle souveraine qui grandit avec vous — sans migration, sans verrouillage, sans coûts cachés. » Cinq promesses : souveraineté (UE/Maroc/on-prem), anti-lock-in (Exit Escrow, seule preuve DURE), conseil honnête (fiduciaire), coûts sourcés ±30 % (feed live), décision sans expert (verdict 90 s + intake libre). On vend un RÉSULTAT souverain + une tranquillité, pas une stack.</a:t>
            </a:r>
          </a:p>
          <a:p>
            <a:endParaRPr/>
          </a:p>
          <a:p>
            <a:r>
              <a:t>SEGMENTS (02) : P1 (bâtisseur souverain FR Maroc-UE) = cœur/wedge (accès direct, CAC ≈0) ; P2 (PME tech) secondaire ; P3 (agences) et P4 (régulés) à venir ; P5 (ETI/grand groupe) hors périmètre self-service. B2B francophone d'abord.</a:t>
            </a:r>
          </a:p>
          <a:p>
            <a:endParaRPr/>
          </a:p>
          <a:p>
            <a:r>
              <a:t>CANAUX (03) : configurateur web (PLG, diagnostic 90 s gratuit), communauté + bouche-à-oreille, contenu/démo live de l'Exit Escrow (moment wow), livrable exportable MD/PDF (effet viral léger).</a:t>
            </a:r>
          </a:p>
          <a:p>
            <a:endParaRPr/>
          </a:p>
          <a:p>
            <a:r>
              <a:t>RELATIONS CLIENTS (04) : self-service en haut de funnel + assistant Q&amp;A contextuel sourcé ; le mandat fiduciaire crée une confiance durable ; accompagnement humain réservé à la « cuisine » payante.</a:t>
            </a:r>
          </a:p>
          <a:p>
            <a:endParaRPr/>
          </a:p>
          <a:p>
            <a:r>
              <a:t>FLUX DE REVENUS (05) : Diagnostic gratuit (lead magnet) ; Pro = forfait service /mois = [PLACEHOLDER] (à caler par le sondage) ; Souverain+ sur devis ; négo vendor fiduciaire (rémunération affichée) ; setup one-time + run récurrent. On tarife le SERVICE, jamais l'infra.</a:t>
            </a:r>
          </a:p>
          <a:p>
            <a:endParaRPr/>
          </a:p>
          <a:p>
            <a:r>
              <a:t>ACTIVITÉS (06) : moteur de reco 7 couches déterministe, price feed + veille catalogue live sourcés, génération Exit Escrow, déploiement assisté + supervision (Lot 2).</a:t>
            </a:r>
          </a:p>
          <a:p>
            <a:endParaRPr/>
          </a:p>
          <a:p>
            <a:r>
              <a:t>PARTENAIRES (07) : fournisseurs infra souveraine (Scaleway/OVH), hébergeurs self-host, proxy LiteLLM, Firecrawl, open-source (embeddings Apache 2.0), intégrateurs/conseil, juridiques/DPO, communauté d'Amine.</a:t>
            </a:r>
          </a:p>
          <a:p>
            <a:endParaRPr/>
          </a:p>
          <a:p>
            <a:r>
              <a:t>RESSOURCES (08) : codebase moteur pur + 3 moats (IP), catalogue/baseline de prix sourcés, futur dataset de coûts réels (Network), marque souveraine + charte fiduciaire.</a:t>
            </a:r>
          </a:p>
          <a:p>
            <a:endParaRPr/>
          </a:p>
          <a:p>
            <a:r>
              <a:t>STRUCTURE DE COÛTS (09) : coûts VARIABLES IA (LLM + Firecrawl, même sur le free tier — à borner), dev/maintenance, hébergement plateforme, support, CAC (≈0 sur P1). L'infra du client est REVERSÉE sans marge → hors P&amp;L de Strate. Modèle orienté coûts variables IA. Tout montant = hypothèse.</a:t>
            </a:r>
          </a:p>
          <a:p>
            <a:endParaRPr/>
          </a:p>
          <a:p>
            <a:r>
              <a:t>DÉFCON 1 : prix = [PLACEHOLDER], revenus/coûts = hypothèses, aucune stat inventée.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4 blocs « côté marché » (la moitié droite + centre du canevas).</a:t>
            </a:r>
          </a:p>
          <a:p>
            <a:endParaRPr/>
          </a:p>
          <a:p>
            <a:r>
              <a:t>01 PROPOSITION DE VALEUR — Le job (JTBD) : permettre à un non-expert de prendre, exécuter et maintenir dans le temps une décision d'infra engageante et difficilement réversible, sans se faire capturer. Distinction de régime de preuve essentielle (DÉFCON 1) : seules deux promesses sont démontrables aujourd'hui — l'Exit Escrow (le bundle redéploie une stack identique, c'est testé) et la charte fiduciaire (engagement contractuel). Le gain de temps / la qualité de réponse = « à mesurer chez vous », jamais chiffrés sans donnée.</a:t>
            </a:r>
          </a:p>
          <a:p>
            <a:endParaRPr/>
          </a:p>
          <a:p>
            <a:r>
              <a:t>02 SEGMENTS — La cible couvre 5 ordres de grandeur, donc la discipline ICP est cruciale. On commence par P1 (bâtisseur souverain de la communauté d'Amine) car la demande y est quasi acquise et le CAC ≈0. P2 (PME tech) suit. P3 (agences) et P4 (régulés) sont des lots ultérieurs : plus de valeur mais cycle plus lourd. P5 (ETI/grand groupe) est hors périmètre self-service (appel d'offres, DPA, SecNumCloud). Dire non à P5 est une décision, pas une faiblesse.</a:t>
            </a:r>
          </a:p>
          <a:p>
            <a:endParaRPr/>
          </a:p>
          <a:p>
            <a:r>
              <a:t>03 CANAUX — Product-Led Growth : le diagnostic gratuit (4 questions ou intake en langage libre) est le canal d'entrée. La communauté d'Amine + le bouche-à-oreille portent l'acquisition initiale. La démonstration live de l'Exit Escrow est le « moment wow » qui matérialise l'anti-lock-in. Le livrable exportable (MD/PDF) circule et fait connaître la marque.</a:t>
            </a:r>
          </a:p>
          <a:p>
            <a:endParaRPr/>
          </a:p>
          <a:p>
            <a:r>
              <a:t>04 RELATIONS CLIENTS — Self-service automatisé en haut de funnel (configurateur, assistant Q&amp;A contextuel et sourcé), accompagnement humain réservé à la « cuisine » payante (déploiement, supervision). Le ressort de fidélité central est le MANDAT FIDUCIAIRE : être payé par le client et jamais commissionné par les vendors crée une relation de confiance qu'un acteur commissionné ne peut pas répliquer (leçon Flipper).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3 blocs « côté production » (moitié gauche du canevas) : comment la valeur est créée.</a:t>
            </a:r>
          </a:p>
          <a:p>
            <a:endParaRPr/>
          </a:p>
          <a:p>
            <a:r>
              <a:t>06 ACTIVITÉS CLÉS — (a) Le moteur de recommandation 7 couches (C0→C6) est PUR et 100 % déterministe : le LLM propose des composants sourcés mais ne calcule JAMAIS un coût. C'est ce qui préserve la reproductibilité (Exit Escrow) et l'explicabilité fiduciaire. (b) Le price feed et la veille catalogue sont LIVE (Firecrawl + LLM via LiteLLM) mais chaque valeur passe un garde-fou : confrontée à une baseline sourcée, une valeur aberrante est rejetée au profit de la baseline (DÉFCON 1). (c) La génération de l'Exit Escrow (bundle reproductible). (d) Le déploiement assisté + la supervision = activité du Lot 2 (à venir), c'est là que naît le revenu récurrent.</a:t>
            </a:r>
          </a:p>
          <a:p>
            <a:endParaRPr/>
          </a:p>
          <a:p>
            <a:r>
              <a:t>08 RESSOURCES CLÉS — (a) La codebase du moteur pur et des 3 moats = la propriété intellectuelle défendable. (b) Le catalogue de composants + la baseline de prix sourcés (audit trail complet : figure + unité + URL + date + confiance). (c) Le futur dataset de coûts réels anonymisés (moat ③ Network) — ressource qui ne se constitue qu'avec des déploiements monitorés (Lot 2). (d) La marque souveraine + la charte fiduciaire, actifs immatériels de confiance.</a:t>
            </a:r>
          </a:p>
          <a:p>
            <a:endParaRPr/>
          </a:p>
          <a:p>
            <a:r>
              <a:t>07 PARTENAIRES CLÉS — (a) Fournisseurs d'infra souveraine (Scaleway, OVH) et hébergeurs self-host/on-prem : ce sont les briques que Strate recommande et, en Fiduciary Mode, négocie au nom du client (rémunération affichée, jamais de rétrocommission cachée). (b) Le proxy LiteLLM rend les modèles interchangeables (anti-dépendance, souveraineté) ; Firecrawl pour la veille ; open-source pour les embeddings (Apache 2.0, self-hostables). (c) Intégrateurs/cabinets pour exécuter le Lot 2 à l'échelle, juridiques/DPO pour la couche conformité (Strate reste « ingénierie, pas juridique »), et la communauté d'Amine comme premier vivier de clients.</a:t>
            </a:r>
          </a:p>
          <a:p>
            <a:endParaRPr/>
          </a:p>
          <a:p>
            <a:r>
              <a:t>Tension à rappeler : tout partenariat doit servir l'un des 3 moats, jamais les diluer — un partenariat commissionné qui orienterait la reco serait un anti-pattern à refuser, même lucratif.</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2 blocs financiers + rappel des garde-fous. Fond sombre pour marquer qu'on entre dans l'économie HYPOTHÉTIQUE.</a:t>
            </a:r>
          </a:p>
          <a:p>
            <a:endParaRPr/>
          </a:p>
          <a:p>
            <a:r>
              <a:t>05 FLUX DE REVENUS — Architecture « recette ouverte, cuisine payante » :</a:t>
            </a:r>
          </a:p>
          <a:p>
            <a:r>
              <a:t>- Diagnostic = GRATUIT (lead magnet, modèle Cloudflare free tier). Le QUOI est offert (anti-lock-in + habitude).</a:t>
            </a:r>
          </a:p>
          <a:p>
            <a:r>
              <a:t>- Pro = forfait service mensuel = [PLACEHOLDER]. C'est LE prix à caler par le sondage. Inclut déploiement assisté + supervision + recalibration + négo vendor + Exit bundle premium.</a:t>
            </a:r>
          </a:p>
          <a:p>
            <a:r>
              <a:t>- Souverain+ = sur devis (on-prem/air-gapped, gouvernance, SLA, multi-région à venir). ARPA supérieur, cycle plus long.</a:t>
            </a:r>
          </a:p>
          <a:p>
            <a:r>
              <a:t>- Négo vendor : rémunération fiduciaire AFFICHÉE (jamais une rétrocommission cachée) — compatible avec le moat ② à condition de divulgation.</a:t>
            </a:r>
          </a:p>
          <a:p>
            <a:r>
              <a:t>- Mise en route : setup one-time (ingestion du backlog) + run récurrent.</a:t>
            </a:r>
          </a:p>
          <a:p>
            <a:r>
              <a:t>Principe : on tarife le SERVICE, jamais l'infra. Margerait-on sur l'infra qu'on aurait intérêt à pousser des composants chers — exactement le conflit qu'on dénonce.</a:t>
            </a:r>
          </a:p>
          <a:p>
            <a:endParaRPr/>
          </a:p>
          <a:p>
            <a:r>
              <a:t>09 STRUCTURE DE COÛTS — Modèle plutôt « orienté coûts variables IA » :</a:t>
            </a:r>
          </a:p>
          <a:p>
            <a:r>
              <a:t>- Coûts variables IA (LLM via LiteLLM + Firecrawl) : déclenchés même par un utilisateur GRATUIT (intake, narration, assistant, veille). C'est l'angle aveugle économique principal → à borner par quotas/cache/modèle économe.</a:t>
            </a:r>
          </a:p>
          <a:p>
            <a:r>
              <a:t>- Dev &amp; maintenance (moteur, moats, veille sourcée).</a:t>
            </a:r>
          </a:p>
          <a:p>
            <a:r>
              <a:t>- Hébergement plateforme (self-host Coolify/serveur, léger au démarrage).</a:t>
            </a:r>
          </a:p>
          <a:p>
            <a:r>
              <a:t>- Support &amp; CAC (≈0 sur P1, croissant hors réseau).</a:t>
            </a:r>
          </a:p>
          <a:p>
            <a:r>
              <a:t>- L'infra du CLIENT est REVERSÉE sans marge → elle n'entre PAS dans le P&amp;L de Strate. Donc le revenu Strate est du service à forte marge brute logicielle, MAIS nette des coûts variables IA.</a:t>
            </a:r>
          </a:p>
          <a:p>
            <a:endParaRPr/>
          </a:p>
          <a:p>
            <a:r>
              <a:t>GARDE-FOUS DÉFCON 1 (à dire à voix haute) : le prix est un [PLACEHOLDER] tant que le sondage (≥15 Van Westendorp + ≥30 conjoint) n'a pas ses seuils ; tout chiffre de revenus/coûts est une hypothèse de modélisation ; aucune taille de marché n'est inventée.</a:t>
            </a:r>
          </a:p>
          <a:p>
            <a:endParaRPr/>
          </a:p>
          <a:p>
            <a:r>
              <a:t>Le vrai enjeu de viabilité n'est pas « marge par client » (le service marge bien) mais « le coût IA du free tier est-il amorti par la conversion ? » et « le CAC hors-communauté est-il soutenable ? ». D'où la priorité : clore le sondage + réaliser 5 ventes P1 pour observer conversion, ARPA effectif, churn et coût IA/lead.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304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71600"/>
            <a:ext cx="10515600" cy="365760"/>
          </a:xfrm>
          <a:prstGeom prst="rect">
            <a:avLst/>
          </a:prstGeom>
          <a:noFill/>
        </p:spPr>
        <p:txBody>
          <a:bodyPr wrap="square" lIns="0" tIns="0" rIns="0" bIns="0" anchor="t">
            <a:spAutoFit/>
          </a:bodyPr>
          <a:lstStyle/>
          <a:p>
            <a:pPr algn="l">
              <a:spcBef>
                <a:spcPts val="0"/>
              </a:spcBef>
              <a:spcAft>
                <a:spcPts val="400"/>
              </a:spcAft>
            </a:pPr>
            <a:r>
              <a:rPr sz="1300" b="1" i="0" spc="160">
                <a:solidFill>
                  <a:srgbClr val="6BD8CB"/>
                </a:solidFill>
                <a:latin typeface="Inter"/>
              </a:rPr>
              <a:t>BUSINESS MODEL CANVAS · OSTERWALDER · DOCUMENT DE TRAVAIL 2026</a:t>
            </a:r>
          </a:p>
        </p:txBody>
      </p:sp>
      <p:sp>
        <p:nvSpPr>
          <p:cNvPr id="4" name="TextBox 3"/>
          <p:cNvSpPr txBox="1"/>
          <p:nvPr/>
        </p:nvSpPr>
        <p:spPr>
          <a:xfrm>
            <a:off x="822960" y="1920240"/>
            <a:ext cx="10515600" cy="1371600"/>
          </a:xfrm>
          <a:prstGeom prst="rect">
            <a:avLst/>
          </a:prstGeom>
          <a:noFill/>
        </p:spPr>
        <p:txBody>
          <a:bodyPr wrap="square" lIns="0" tIns="0" rIns="0" bIns="0" anchor="t">
            <a:spAutoFit/>
          </a:bodyPr>
          <a:lstStyle/>
          <a:p>
            <a:pPr algn="l">
              <a:spcBef>
                <a:spcPts val="0"/>
              </a:spcBef>
              <a:spcAft>
                <a:spcPts val="200"/>
              </a:spcAft>
            </a:pPr>
            <a:r>
              <a:rPr sz="6000" b="1" i="0">
                <a:solidFill>
                  <a:srgbClr val="FFFFFF"/>
                </a:solidFill>
                <a:latin typeface="Space Grotesk"/>
              </a:rPr>
              <a:t>Strate</a:t>
            </a:r>
          </a:p>
          <a:p>
            <a:pPr algn="l">
              <a:spcBef>
                <a:spcPts val="0"/>
              </a:spcBef>
              <a:spcAft>
                <a:spcPts val="400"/>
              </a:spcAft>
            </a:pPr>
            <a:r>
              <a:rPr sz="2100" b="0" i="0">
                <a:solidFill>
                  <a:srgbClr val="EEF0FF"/>
                </a:solidFill>
                <a:latin typeface="Space Grotesk"/>
              </a:rPr>
              <a:t>Le canevas en 9 blocs d'une base mémorielle souveraine.</a:t>
            </a:r>
          </a:p>
        </p:txBody>
      </p:sp>
      <p:sp>
        <p:nvSpPr>
          <p:cNvPr id="5" name="TextBox 4"/>
          <p:cNvSpPr txBox="1"/>
          <p:nvPr/>
        </p:nvSpPr>
        <p:spPr>
          <a:xfrm>
            <a:off x="822960" y="4297680"/>
            <a:ext cx="10515600" cy="1463040"/>
          </a:xfrm>
          <a:prstGeom prst="rect">
            <a:avLst/>
          </a:prstGeom>
          <a:noFill/>
        </p:spPr>
        <p:txBody>
          <a:bodyPr wrap="square" lIns="0" tIns="0" rIns="0" bIns="0" anchor="t">
            <a:spAutoFit/>
          </a:bodyPr>
          <a:lstStyle/>
          <a:p>
            <a:pPr algn="l">
              <a:spcBef>
                <a:spcPts val="0"/>
              </a:spcBef>
              <a:spcAft>
                <a:spcPts val="600"/>
              </a:spcAft>
            </a:pPr>
            <a:r>
              <a:rPr sz="1500" b="0" i="0">
                <a:solidFill>
                  <a:srgbClr val="EEF0FF"/>
                </a:solidFill>
                <a:latin typeface="Inter"/>
              </a:rPr>
              <a:t>Configurateur SaaS souverain d'infrastructure de « base mémorielle » IA · conseil → déploiement · recette ouverte, cuisine payante.</a:t>
            </a:r>
          </a:p>
          <a:p>
            <a:pPr algn="l">
              <a:spcBef>
                <a:spcPts val="0"/>
              </a:spcBef>
              <a:spcAft>
                <a:spcPts val="400"/>
              </a:spcAft>
            </a:pPr>
            <a:r>
              <a:rPr sz="1400" b="0" i="0">
                <a:solidFill>
                  <a:srgbClr val="B4C5FF"/>
                </a:solidFill>
                <a:latin typeface="Inter"/>
              </a:rPr>
              <a:t>Trois moats (playbook Cloudflare) : ① Exit Escrow · ② Fiduciary Mode · ③ Intelligence Network.</a:t>
            </a:r>
          </a:p>
        </p:txBody>
      </p:sp>
      <p:sp>
        <p:nvSpPr>
          <p:cNvPr id="6" name="TextBox 5"/>
          <p:cNvSpPr txBox="1"/>
          <p:nvPr/>
        </p:nvSpPr>
        <p:spPr>
          <a:xfrm>
            <a:off x="822960" y="6172200"/>
            <a:ext cx="10515600" cy="365760"/>
          </a:xfrm>
          <a:prstGeom prst="rect">
            <a:avLst/>
          </a:prstGeom>
          <a:noFill/>
        </p:spPr>
        <p:txBody>
          <a:bodyPr wrap="square" lIns="0" tIns="0" rIns="0" bIns="0" anchor="t">
            <a:spAutoFit/>
          </a:bodyPr>
          <a:lstStyle/>
          <a:p>
            <a:pPr algn="l">
              <a:spcBef>
                <a:spcPts val="0"/>
              </a:spcBef>
              <a:spcAft>
                <a:spcPts val="400"/>
              </a:spcAft>
            </a:pPr>
            <a:r>
              <a:rPr sz="1100" b="0" i="0">
                <a:solidFill>
                  <a:srgbClr val="6BD8CB"/>
                </a:solidFill>
                <a:latin typeface="JetBrains Mono"/>
              </a:rPr>
              <a:t>Prix = [PLACEHOLDER] (sondage en cours) · tout revenu/coût = HYPOTHÈSE à valider · aucune stat inventée.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TextBox 1"/>
          <p:cNvSpPr txBox="1"/>
          <p:nvPr/>
        </p:nvSpPr>
        <p:spPr>
          <a:xfrm>
            <a:off x="320040" y="164592"/>
            <a:ext cx="11521440" cy="457200"/>
          </a:xfrm>
          <a:prstGeom prst="rect">
            <a:avLst/>
          </a:prstGeom>
          <a:noFill/>
        </p:spPr>
        <p:txBody>
          <a:bodyPr wrap="square" lIns="0" tIns="0" rIns="0" bIns="0" anchor="t">
            <a:spAutoFit/>
          </a:bodyPr>
          <a:lstStyle/>
          <a:p>
            <a:r>
              <a:rPr sz="1900" b="1" i="0">
                <a:solidFill>
                  <a:srgbClr val="131B2E"/>
                </a:solidFill>
                <a:latin typeface="Space Grotesk"/>
              </a:rPr>
              <a:t>Business Model Canvas — </a:t>
            </a:r>
            <a:r>
              <a:rPr sz="1900" b="1" i="0">
                <a:solidFill>
                  <a:srgbClr val="00685F"/>
                </a:solidFill>
                <a:latin typeface="Space Grotesk"/>
              </a:rPr>
              <a:t>Strate</a:t>
            </a:r>
          </a:p>
        </p:txBody>
      </p:sp>
      <p:sp>
        <p:nvSpPr>
          <p:cNvPr id="3" name="TextBox 2"/>
          <p:cNvSpPr txBox="1"/>
          <p:nvPr/>
        </p:nvSpPr>
        <p:spPr>
          <a:xfrm>
            <a:off x="9144000" y="219456"/>
            <a:ext cx="2697480" cy="365760"/>
          </a:xfrm>
          <a:prstGeom prst="rect">
            <a:avLst/>
          </a:prstGeom>
          <a:noFill/>
        </p:spPr>
        <p:txBody>
          <a:bodyPr wrap="square" lIns="0" tIns="0" rIns="0" bIns="0" anchor="t">
            <a:spAutoFit/>
          </a:bodyPr>
          <a:lstStyle/>
          <a:p>
            <a:pPr algn="r">
              <a:spcBef>
                <a:spcPts val="0"/>
              </a:spcBef>
              <a:spcAft>
                <a:spcPts val="400"/>
              </a:spcAft>
            </a:pPr>
            <a:r>
              <a:rPr sz="1000" b="0" i="0">
                <a:solidFill>
                  <a:srgbClr val="BA1A1A"/>
                </a:solidFill>
                <a:latin typeface="JetBrains Mono"/>
              </a:rPr>
              <a:t>prix = [PLACEHOLDER]</a:t>
            </a:r>
          </a:p>
        </p:txBody>
      </p:sp>
      <p:sp>
        <p:nvSpPr>
          <p:cNvPr id="4" name="Rounded Rectangle 3"/>
          <p:cNvSpPr/>
          <p:nvPr/>
        </p:nvSpPr>
        <p:spPr>
          <a:xfrm>
            <a:off x="320040" y="713232"/>
            <a:ext cx="2258568" cy="4297680"/>
          </a:xfrm>
          <a:prstGeom prst="roundRect">
            <a:avLst>
              <a:gd name="adj" fmla="val 35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20040" y="713232"/>
            <a:ext cx="2258568" cy="310896"/>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algn="ctr"/>
            <a:r>
              <a:rPr sz="1150" b="1" i="0">
                <a:solidFill>
                  <a:srgbClr val="FFFFFF"/>
                </a:solidFill>
                <a:latin typeface="JetBrains Mono"/>
              </a:rPr>
              <a:t>07  </a:t>
            </a:r>
            <a:r>
              <a:rPr sz="1150" b="1" i="0">
                <a:solidFill>
                  <a:srgbClr val="FFFFFF"/>
                </a:solidFill>
                <a:latin typeface="Space Grotesk"/>
              </a:rPr>
              <a:t>Partenaires clés</a:t>
            </a:r>
          </a:p>
        </p:txBody>
      </p:sp>
      <p:sp>
        <p:nvSpPr>
          <p:cNvPr id="6" name="TextBox 5"/>
          <p:cNvSpPr txBox="1"/>
          <p:nvPr/>
        </p:nvSpPr>
        <p:spPr>
          <a:xfrm>
            <a:off x="411480" y="1078992"/>
            <a:ext cx="2075688" cy="3877056"/>
          </a:xfrm>
          <a:prstGeom prst="rect">
            <a:avLst/>
          </a:prstGeom>
          <a:noFill/>
        </p:spPr>
        <p:txBody>
          <a:bodyPr wrap="square" lIns="0" tIns="0" rIns="0" bIns="0" anchor="t">
            <a:spAutoFit/>
          </a:bodyPr>
          <a:lstStyle/>
          <a:p>
            <a:pPr>
              <a:lnSpc>
                <a:spcPct val="100000"/>
              </a:lnSpc>
              <a:spcAft>
                <a:spcPts val="240"/>
              </a:spcAft>
            </a:pPr>
            <a:r>
              <a:rPr sz="900" b="1" i="0">
                <a:solidFill>
                  <a:srgbClr val="00685F"/>
                </a:solidFill>
                <a:latin typeface="Inter"/>
              </a:rPr>
              <a:t>› </a:t>
            </a:r>
            <a:r>
              <a:rPr sz="900" b="0" i="0">
                <a:solidFill>
                  <a:srgbClr val="3D4947"/>
                </a:solidFill>
                <a:latin typeface="Inter"/>
              </a:rPr>
              <a:t>Fournisseurs infra souveraine UE/Maroc (Scaleway, OVH)</a:t>
            </a:r>
          </a:p>
          <a:p>
            <a:pPr>
              <a:lnSpc>
                <a:spcPct val="100000"/>
              </a:lnSpc>
              <a:spcAft>
                <a:spcPts val="240"/>
              </a:spcAft>
            </a:pPr>
            <a:r>
              <a:rPr sz="900" b="1" i="0">
                <a:solidFill>
                  <a:srgbClr val="00685F"/>
                </a:solidFill>
                <a:latin typeface="Inter"/>
              </a:rPr>
              <a:t>› </a:t>
            </a:r>
            <a:r>
              <a:rPr sz="900" b="0" i="0">
                <a:solidFill>
                  <a:srgbClr val="3D4947"/>
                </a:solidFill>
                <a:latin typeface="Inter"/>
              </a:rPr>
              <a:t>Hébergeurs self-host / on-prem</a:t>
            </a:r>
          </a:p>
          <a:p>
            <a:pPr>
              <a:lnSpc>
                <a:spcPct val="100000"/>
              </a:lnSpc>
              <a:spcAft>
                <a:spcPts val="240"/>
              </a:spcAft>
            </a:pPr>
            <a:r>
              <a:rPr sz="900" b="1" i="0">
                <a:solidFill>
                  <a:srgbClr val="00685F"/>
                </a:solidFill>
                <a:latin typeface="Inter"/>
              </a:rPr>
              <a:t>› </a:t>
            </a:r>
            <a:r>
              <a:rPr sz="900" b="0" i="0">
                <a:solidFill>
                  <a:srgbClr val="3D4947"/>
                </a:solidFill>
                <a:latin typeface="Inter"/>
              </a:rPr>
              <a:t>Proxy LiteLLM (modèles interchangeables)</a:t>
            </a:r>
          </a:p>
          <a:p>
            <a:pPr>
              <a:lnSpc>
                <a:spcPct val="100000"/>
              </a:lnSpc>
              <a:spcAft>
                <a:spcPts val="240"/>
              </a:spcAft>
            </a:pPr>
            <a:r>
              <a:rPr sz="900" b="1" i="0">
                <a:solidFill>
                  <a:srgbClr val="00685F"/>
                </a:solidFill>
                <a:latin typeface="Inter"/>
              </a:rPr>
              <a:t>› </a:t>
            </a:r>
            <a:r>
              <a:rPr sz="900" b="0" i="0">
                <a:solidFill>
                  <a:srgbClr val="3D4947"/>
                </a:solidFill>
                <a:latin typeface="Inter"/>
              </a:rPr>
              <a:t>Firecrawl (veille prix + catalogue)</a:t>
            </a:r>
          </a:p>
          <a:p>
            <a:pPr>
              <a:lnSpc>
                <a:spcPct val="100000"/>
              </a:lnSpc>
              <a:spcAft>
                <a:spcPts val="240"/>
              </a:spcAft>
            </a:pPr>
            <a:r>
              <a:rPr sz="900" b="1" i="0">
                <a:solidFill>
                  <a:srgbClr val="00685F"/>
                </a:solidFill>
                <a:latin typeface="Inter"/>
              </a:rPr>
              <a:t>› </a:t>
            </a:r>
            <a:r>
              <a:rPr sz="900" b="0" i="0">
                <a:solidFill>
                  <a:srgbClr val="3D4947"/>
                </a:solidFill>
                <a:latin typeface="Inter"/>
              </a:rPr>
              <a:t>Open-source : embeddings Apache 2.0 (Qwen3-VL), LLM ouverts</a:t>
            </a:r>
          </a:p>
          <a:p>
            <a:pPr>
              <a:lnSpc>
                <a:spcPct val="100000"/>
              </a:lnSpc>
              <a:spcAft>
                <a:spcPts val="240"/>
              </a:spcAft>
            </a:pPr>
            <a:r>
              <a:rPr sz="900" b="1" i="0">
                <a:solidFill>
                  <a:srgbClr val="00685F"/>
                </a:solidFill>
                <a:latin typeface="Inter"/>
              </a:rPr>
              <a:t>› </a:t>
            </a:r>
            <a:r>
              <a:rPr sz="900" b="0" i="0">
                <a:solidFill>
                  <a:srgbClr val="3D4947"/>
                </a:solidFill>
                <a:latin typeface="Inter"/>
              </a:rPr>
              <a:t>Intégrateurs / cabinets conseil (exécution Lot 2)</a:t>
            </a:r>
          </a:p>
          <a:p>
            <a:pPr>
              <a:lnSpc>
                <a:spcPct val="100000"/>
              </a:lnSpc>
              <a:spcAft>
                <a:spcPts val="240"/>
              </a:spcAft>
            </a:pPr>
            <a:r>
              <a:rPr sz="900" b="1" i="0">
                <a:solidFill>
                  <a:srgbClr val="00685F"/>
                </a:solidFill>
                <a:latin typeface="Inter"/>
              </a:rPr>
              <a:t>› </a:t>
            </a:r>
            <a:r>
              <a:rPr sz="900" b="0" i="0">
                <a:solidFill>
                  <a:srgbClr val="3D4947"/>
                </a:solidFill>
                <a:latin typeface="Inter"/>
              </a:rPr>
              <a:t>Cabinets juridiques / DPO (couche conformité)</a:t>
            </a:r>
          </a:p>
          <a:p>
            <a:pPr>
              <a:lnSpc>
                <a:spcPct val="100000"/>
              </a:lnSpc>
              <a:spcAft>
                <a:spcPts val="240"/>
              </a:spcAft>
            </a:pPr>
            <a:r>
              <a:rPr sz="900" b="1" i="0">
                <a:solidFill>
                  <a:srgbClr val="00685F"/>
                </a:solidFill>
                <a:latin typeface="Inter"/>
              </a:rPr>
              <a:t>› </a:t>
            </a:r>
            <a:r>
              <a:rPr sz="900" b="0" i="0">
                <a:solidFill>
                  <a:srgbClr val="3D4947"/>
                </a:solidFill>
                <a:latin typeface="Inter"/>
              </a:rPr>
              <a:t>Communauté d'Amine (P1, premiers clients)</a:t>
            </a:r>
          </a:p>
        </p:txBody>
      </p:sp>
      <p:sp>
        <p:nvSpPr>
          <p:cNvPr id="7" name="Rounded Rectangle 6"/>
          <p:cNvSpPr/>
          <p:nvPr/>
        </p:nvSpPr>
        <p:spPr>
          <a:xfrm>
            <a:off x="2642616" y="713232"/>
            <a:ext cx="2258568" cy="2116836"/>
          </a:xfrm>
          <a:prstGeom prst="roundRect">
            <a:avLst>
              <a:gd name="adj" fmla="val 35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642616" y="713232"/>
            <a:ext cx="2258568" cy="310896"/>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algn="ctr"/>
            <a:r>
              <a:rPr sz="1150" b="1" i="0">
                <a:solidFill>
                  <a:srgbClr val="FFFFFF"/>
                </a:solidFill>
                <a:latin typeface="JetBrains Mono"/>
              </a:rPr>
              <a:t>06  </a:t>
            </a:r>
            <a:r>
              <a:rPr sz="1150" b="1" i="0">
                <a:solidFill>
                  <a:srgbClr val="FFFFFF"/>
                </a:solidFill>
                <a:latin typeface="Space Grotesk"/>
              </a:rPr>
              <a:t>Activités clés</a:t>
            </a:r>
          </a:p>
        </p:txBody>
      </p:sp>
      <p:sp>
        <p:nvSpPr>
          <p:cNvPr id="9" name="TextBox 8"/>
          <p:cNvSpPr txBox="1"/>
          <p:nvPr/>
        </p:nvSpPr>
        <p:spPr>
          <a:xfrm>
            <a:off x="2734056" y="1078992"/>
            <a:ext cx="2075688" cy="1696212"/>
          </a:xfrm>
          <a:prstGeom prst="rect">
            <a:avLst/>
          </a:prstGeom>
          <a:noFill/>
        </p:spPr>
        <p:txBody>
          <a:bodyPr wrap="square" lIns="0" tIns="0" rIns="0" bIns="0" anchor="t">
            <a:spAutoFit/>
          </a:bodyPr>
          <a:lstStyle/>
          <a:p>
            <a:pPr>
              <a:lnSpc>
                <a:spcPct val="100000"/>
              </a:lnSpc>
              <a:spcAft>
                <a:spcPts val="200"/>
              </a:spcAft>
            </a:pPr>
            <a:r>
              <a:rPr sz="860" b="1" i="0">
                <a:solidFill>
                  <a:srgbClr val="0051D5"/>
                </a:solidFill>
                <a:latin typeface="Inter"/>
              </a:rPr>
              <a:t>› </a:t>
            </a:r>
            <a:r>
              <a:rPr sz="860" b="0" i="0">
                <a:solidFill>
                  <a:srgbClr val="3D4947"/>
                </a:solidFill>
                <a:latin typeface="Inter"/>
              </a:rPr>
              <a:t>Moteur de reco 7 couches (déterministe, pur)</a:t>
            </a:r>
          </a:p>
          <a:p>
            <a:pPr>
              <a:lnSpc>
                <a:spcPct val="100000"/>
              </a:lnSpc>
              <a:spcAft>
                <a:spcPts val="200"/>
              </a:spcAft>
            </a:pPr>
            <a:r>
              <a:rPr sz="860" b="1" i="0">
                <a:solidFill>
                  <a:srgbClr val="0051D5"/>
                </a:solidFill>
                <a:latin typeface="Inter"/>
              </a:rPr>
              <a:t>› </a:t>
            </a:r>
            <a:r>
              <a:rPr sz="860" b="0" i="0">
                <a:solidFill>
                  <a:srgbClr val="3D4947"/>
                </a:solidFill>
                <a:latin typeface="Inter"/>
              </a:rPr>
              <a:t>Price feed + veille catalogue live (sourcés)</a:t>
            </a:r>
          </a:p>
          <a:p>
            <a:pPr>
              <a:lnSpc>
                <a:spcPct val="100000"/>
              </a:lnSpc>
              <a:spcAft>
                <a:spcPts val="200"/>
              </a:spcAft>
            </a:pPr>
            <a:r>
              <a:rPr sz="860" b="1" i="0">
                <a:solidFill>
                  <a:srgbClr val="0051D5"/>
                </a:solidFill>
                <a:latin typeface="Inter"/>
              </a:rPr>
              <a:t>› </a:t>
            </a:r>
            <a:r>
              <a:rPr sz="860" b="0" i="0">
                <a:solidFill>
                  <a:srgbClr val="3D4947"/>
                </a:solidFill>
                <a:latin typeface="Inter"/>
              </a:rPr>
              <a:t>Génération Exit Escrow reproductible</a:t>
            </a:r>
          </a:p>
          <a:p>
            <a:pPr>
              <a:lnSpc>
                <a:spcPct val="100000"/>
              </a:lnSpc>
              <a:spcAft>
                <a:spcPts val="200"/>
              </a:spcAft>
            </a:pPr>
            <a:r>
              <a:rPr sz="860" b="1" i="0">
                <a:solidFill>
                  <a:srgbClr val="0051D5"/>
                </a:solidFill>
                <a:latin typeface="Inter"/>
              </a:rPr>
              <a:t>› </a:t>
            </a:r>
            <a:r>
              <a:rPr sz="860" b="0" i="0">
                <a:solidFill>
                  <a:srgbClr val="3D4947"/>
                </a:solidFill>
                <a:latin typeface="Inter"/>
              </a:rPr>
              <a:t>Déploiement assisté + supervision (Lot 2)</a:t>
            </a:r>
          </a:p>
        </p:txBody>
      </p:sp>
      <p:sp>
        <p:nvSpPr>
          <p:cNvPr id="10" name="Rounded Rectangle 9"/>
          <p:cNvSpPr/>
          <p:nvPr/>
        </p:nvSpPr>
        <p:spPr>
          <a:xfrm>
            <a:off x="2642616" y="2894076"/>
            <a:ext cx="2258568" cy="2116836"/>
          </a:xfrm>
          <a:prstGeom prst="roundRect">
            <a:avLst>
              <a:gd name="adj" fmla="val 35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642616" y="2894076"/>
            <a:ext cx="2258568" cy="310896"/>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algn="ctr"/>
            <a:r>
              <a:rPr sz="1150" b="1" i="0">
                <a:solidFill>
                  <a:srgbClr val="FFFFFF"/>
                </a:solidFill>
                <a:latin typeface="JetBrains Mono"/>
              </a:rPr>
              <a:t>08  </a:t>
            </a:r>
            <a:r>
              <a:rPr sz="1150" b="1" i="0">
                <a:solidFill>
                  <a:srgbClr val="FFFFFF"/>
                </a:solidFill>
                <a:latin typeface="Space Grotesk"/>
              </a:rPr>
              <a:t>Ressources clés</a:t>
            </a:r>
          </a:p>
        </p:txBody>
      </p:sp>
      <p:sp>
        <p:nvSpPr>
          <p:cNvPr id="12" name="TextBox 11"/>
          <p:cNvSpPr txBox="1"/>
          <p:nvPr/>
        </p:nvSpPr>
        <p:spPr>
          <a:xfrm>
            <a:off x="2734056" y="3259836"/>
            <a:ext cx="2075688" cy="1696212"/>
          </a:xfrm>
          <a:prstGeom prst="rect">
            <a:avLst/>
          </a:prstGeom>
          <a:noFill/>
        </p:spPr>
        <p:txBody>
          <a:bodyPr wrap="square" lIns="0" tIns="0" rIns="0" bIns="0" anchor="t">
            <a:spAutoFit/>
          </a:bodyPr>
          <a:lstStyle/>
          <a:p>
            <a:pPr>
              <a:lnSpc>
                <a:spcPct val="100000"/>
              </a:lnSpc>
              <a:spcAft>
                <a:spcPts val="200"/>
              </a:spcAft>
            </a:pPr>
            <a:r>
              <a:rPr sz="860" b="1" i="0">
                <a:solidFill>
                  <a:srgbClr val="0051D5"/>
                </a:solidFill>
                <a:latin typeface="Inter"/>
              </a:rPr>
              <a:t>› </a:t>
            </a:r>
            <a:r>
              <a:rPr sz="860" b="0" i="0">
                <a:solidFill>
                  <a:srgbClr val="3D4947"/>
                </a:solidFill>
                <a:latin typeface="Inter"/>
              </a:rPr>
              <a:t>Codebase moteur pur + 3 moats (IP)</a:t>
            </a:r>
          </a:p>
          <a:p>
            <a:pPr>
              <a:lnSpc>
                <a:spcPct val="100000"/>
              </a:lnSpc>
              <a:spcAft>
                <a:spcPts val="200"/>
              </a:spcAft>
            </a:pPr>
            <a:r>
              <a:rPr sz="860" b="1" i="0">
                <a:solidFill>
                  <a:srgbClr val="0051D5"/>
                </a:solidFill>
                <a:latin typeface="Inter"/>
              </a:rPr>
              <a:t>› </a:t>
            </a:r>
            <a:r>
              <a:rPr sz="860" b="0" i="0">
                <a:solidFill>
                  <a:srgbClr val="3D4947"/>
                </a:solidFill>
                <a:latin typeface="Inter"/>
              </a:rPr>
              <a:t>Catalogue/baseline prix sourcés (DÉFCON 1)</a:t>
            </a:r>
          </a:p>
          <a:p>
            <a:pPr>
              <a:lnSpc>
                <a:spcPct val="100000"/>
              </a:lnSpc>
              <a:spcAft>
                <a:spcPts val="200"/>
              </a:spcAft>
            </a:pPr>
            <a:r>
              <a:rPr sz="860" b="1" i="0">
                <a:solidFill>
                  <a:srgbClr val="0051D5"/>
                </a:solidFill>
                <a:latin typeface="Inter"/>
              </a:rPr>
              <a:t>› </a:t>
            </a:r>
            <a:r>
              <a:rPr sz="860" b="0" i="0">
                <a:solidFill>
                  <a:srgbClr val="3D4947"/>
                </a:solidFill>
                <a:latin typeface="Inter"/>
              </a:rPr>
              <a:t>Dataset coûts réels (Network, à venir)</a:t>
            </a:r>
          </a:p>
          <a:p>
            <a:pPr>
              <a:lnSpc>
                <a:spcPct val="100000"/>
              </a:lnSpc>
              <a:spcAft>
                <a:spcPts val="200"/>
              </a:spcAft>
            </a:pPr>
            <a:r>
              <a:rPr sz="860" b="1" i="0">
                <a:solidFill>
                  <a:srgbClr val="0051D5"/>
                </a:solidFill>
                <a:latin typeface="Inter"/>
              </a:rPr>
              <a:t>› </a:t>
            </a:r>
            <a:r>
              <a:rPr sz="860" b="0" i="0">
                <a:solidFill>
                  <a:srgbClr val="3D4947"/>
                </a:solidFill>
                <a:latin typeface="Inter"/>
              </a:rPr>
              <a:t>Marque souveraine + charte fiduciaire</a:t>
            </a:r>
          </a:p>
        </p:txBody>
      </p:sp>
      <p:sp>
        <p:nvSpPr>
          <p:cNvPr id="13" name="Rounded Rectangle 12"/>
          <p:cNvSpPr/>
          <p:nvPr/>
        </p:nvSpPr>
        <p:spPr>
          <a:xfrm>
            <a:off x="4965192" y="713232"/>
            <a:ext cx="2258568" cy="4297680"/>
          </a:xfrm>
          <a:prstGeom prst="roundRect">
            <a:avLst>
              <a:gd name="adj" fmla="val 3000"/>
            </a:avLst>
          </a:prstGeom>
          <a:solidFill>
            <a:srgbClr val="E6F5F2"/>
          </a:solidFill>
          <a:ln w="25400">
            <a:solidFill>
              <a:srgbClr val="0068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965192" y="713232"/>
            <a:ext cx="2258568" cy="310896"/>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150" b="1" i="0">
                <a:solidFill>
                  <a:srgbClr val="FFFFFF"/>
                </a:solidFill>
                <a:latin typeface="JetBrains Mono"/>
              </a:rPr>
              <a:t>01  </a:t>
            </a:r>
            <a:r>
              <a:rPr sz="1100" b="1" i="0">
                <a:solidFill>
                  <a:srgbClr val="FFFFFF"/>
                </a:solidFill>
                <a:latin typeface="Space Grotesk"/>
              </a:rPr>
              <a:t>Proposition de valeur</a:t>
            </a:r>
          </a:p>
        </p:txBody>
      </p:sp>
      <p:sp>
        <p:nvSpPr>
          <p:cNvPr id="15" name="TextBox 14"/>
          <p:cNvSpPr txBox="1"/>
          <p:nvPr/>
        </p:nvSpPr>
        <p:spPr>
          <a:xfrm>
            <a:off x="5056632" y="1097280"/>
            <a:ext cx="2075688" cy="3840480"/>
          </a:xfrm>
          <a:prstGeom prst="rect">
            <a:avLst/>
          </a:prstGeom>
          <a:noFill/>
        </p:spPr>
        <p:txBody>
          <a:bodyPr wrap="square" lIns="0" tIns="0" rIns="0" bIns="0" anchor="t">
            <a:spAutoFit/>
          </a:bodyPr>
          <a:lstStyle/>
          <a:p>
            <a:pPr algn="l">
              <a:lnSpc>
                <a:spcPct val="100000"/>
              </a:lnSpc>
              <a:spcBef>
                <a:spcPts val="0"/>
              </a:spcBef>
              <a:spcAft>
                <a:spcPts val="700"/>
              </a:spcAft>
            </a:pPr>
            <a:r>
              <a:rPr sz="1050" b="1" i="1">
                <a:solidFill>
                  <a:srgbClr val="00685F"/>
                </a:solidFill>
                <a:latin typeface="Space Grotesk"/>
              </a:rPr>
              <a:t>« Base mémorielle souveraine qui grandit avec vous — sans migration, sans verrouillage, sans coûts cachés. »</a:t>
            </a:r>
          </a:p>
          <a:p>
            <a:pPr>
              <a:lnSpc>
                <a:spcPct val="100000"/>
              </a:lnSpc>
              <a:spcAft>
                <a:spcPts val="350"/>
              </a:spcAft>
            </a:pPr>
            <a:r>
              <a:rPr sz="900" b="1" i="0">
                <a:solidFill>
                  <a:srgbClr val="00685F"/>
                </a:solidFill>
                <a:latin typeface="Inter"/>
              </a:rPr>
              <a:t>› </a:t>
            </a:r>
            <a:r>
              <a:rPr sz="900" b="1" i="0">
                <a:solidFill>
                  <a:srgbClr val="131B2E"/>
                </a:solidFill>
                <a:latin typeface="Inter"/>
              </a:rPr>
              <a:t>Souveraineté </a:t>
            </a:r>
            <a:r>
              <a:rPr sz="900" b="0" i="0">
                <a:solidFill>
                  <a:srgbClr val="3D4947"/>
                </a:solidFill>
                <a:latin typeface="Inter"/>
              </a:rPr>
              <a:t>(vos données, votre loi : UE/Maroc/on-prem)</a:t>
            </a:r>
          </a:p>
          <a:p>
            <a:pPr>
              <a:lnSpc>
                <a:spcPct val="100000"/>
              </a:lnSpc>
              <a:spcAft>
                <a:spcPts val="350"/>
              </a:spcAft>
            </a:pPr>
            <a:r>
              <a:rPr sz="900" b="1" i="0">
                <a:solidFill>
                  <a:srgbClr val="00685F"/>
                </a:solidFill>
                <a:latin typeface="Inter"/>
              </a:rPr>
              <a:t>› </a:t>
            </a:r>
            <a:r>
              <a:rPr sz="900" b="1" i="0">
                <a:solidFill>
                  <a:srgbClr val="131B2E"/>
                </a:solidFill>
                <a:latin typeface="Inter"/>
              </a:rPr>
              <a:t>Anti-lock-in </a:t>
            </a:r>
            <a:r>
              <a:rPr sz="900" b="0" i="0">
                <a:solidFill>
                  <a:srgbClr val="3D4947"/>
                </a:solidFill>
                <a:latin typeface="Inter"/>
              </a:rPr>
              <a:t>(Exit Escrow : sortie en 1 clic, prouvée)</a:t>
            </a:r>
          </a:p>
          <a:p>
            <a:pPr>
              <a:lnSpc>
                <a:spcPct val="100000"/>
              </a:lnSpc>
              <a:spcAft>
                <a:spcPts val="350"/>
              </a:spcAft>
            </a:pPr>
            <a:r>
              <a:rPr sz="900" b="1" i="0">
                <a:solidFill>
                  <a:srgbClr val="00685F"/>
                </a:solidFill>
                <a:latin typeface="Inter"/>
              </a:rPr>
              <a:t>› </a:t>
            </a:r>
            <a:r>
              <a:rPr sz="900" b="1" i="0">
                <a:solidFill>
                  <a:srgbClr val="131B2E"/>
                </a:solidFill>
                <a:latin typeface="Inter"/>
              </a:rPr>
              <a:t>Conseil honnête </a:t>
            </a:r>
            <a:r>
              <a:rPr sz="900" b="0" i="0">
                <a:solidFill>
                  <a:srgbClr val="3D4947"/>
                </a:solidFill>
                <a:latin typeface="Inter"/>
              </a:rPr>
              <a:t>(fiduciaire, zéro commission cachée)</a:t>
            </a:r>
          </a:p>
          <a:p>
            <a:pPr>
              <a:lnSpc>
                <a:spcPct val="100000"/>
              </a:lnSpc>
              <a:spcAft>
                <a:spcPts val="350"/>
              </a:spcAft>
            </a:pPr>
            <a:r>
              <a:rPr sz="900" b="1" i="0">
                <a:solidFill>
                  <a:srgbClr val="00685F"/>
                </a:solidFill>
                <a:latin typeface="Inter"/>
              </a:rPr>
              <a:t>› </a:t>
            </a:r>
            <a:r>
              <a:rPr sz="900" b="1" i="0">
                <a:solidFill>
                  <a:srgbClr val="131B2E"/>
                </a:solidFill>
                <a:latin typeface="Inter"/>
              </a:rPr>
              <a:t>Coûts sourcés ±30 % </a:t>
            </a:r>
            <a:r>
              <a:rPr sz="900" b="0" i="0">
                <a:solidFill>
                  <a:srgbClr val="3D4947"/>
                </a:solidFill>
                <a:latin typeface="Inter"/>
              </a:rPr>
              <a:t>(URL+date+confiance, feed live)</a:t>
            </a:r>
          </a:p>
          <a:p>
            <a:pPr>
              <a:lnSpc>
                <a:spcPct val="100000"/>
              </a:lnSpc>
              <a:spcAft>
                <a:spcPts val="350"/>
              </a:spcAft>
            </a:pPr>
            <a:r>
              <a:rPr sz="900" b="1" i="0">
                <a:solidFill>
                  <a:srgbClr val="00685F"/>
                </a:solidFill>
                <a:latin typeface="Inter"/>
              </a:rPr>
              <a:t>› </a:t>
            </a:r>
            <a:r>
              <a:rPr sz="900" b="1" i="0">
                <a:solidFill>
                  <a:srgbClr val="131B2E"/>
                </a:solidFill>
                <a:latin typeface="Inter"/>
              </a:rPr>
              <a:t>Décision sans expert </a:t>
            </a:r>
            <a:r>
              <a:rPr sz="900" b="0" i="0">
                <a:solidFill>
                  <a:srgbClr val="3D4947"/>
                </a:solidFill>
                <a:latin typeface="Inter"/>
              </a:rPr>
              <a:t>(verdict 90 s + intake libre)</a:t>
            </a:r>
          </a:p>
        </p:txBody>
      </p:sp>
      <p:sp>
        <p:nvSpPr>
          <p:cNvPr id="16" name="Rounded Rectangle 15"/>
          <p:cNvSpPr/>
          <p:nvPr/>
        </p:nvSpPr>
        <p:spPr>
          <a:xfrm>
            <a:off x="7287768" y="713232"/>
            <a:ext cx="2258568" cy="2116836"/>
          </a:xfrm>
          <a:prstGeom prst="roundRect">
            <a:avLst>
              <a:gd name="adj" fmla="val 35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287768" y="713232"/>
            <a:ext cx="2258568" cy="310896"/>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algn="ctr"/>
            <a:r>
              <a:rPr sz="1150" b="1" i="0">
                <a:solidFill>
                  <a:srgbClr val="FFFFFF"/>
                </a:solidFill>
                <a:latin typeface="JetBrains Mono"/>
              </a:rPr>
              <a:t>04  </a:t>
            </a:r>
            <a:r>
              <a:rPr sz="1150" b="1" i="0">
                <a:solidFill>
                  <a:srgbClr val="FFFFFF"/>
                </a:solidFill>
                <a:latin typeface="Space Grotesk"/>
              </a:rPr>
              <a:t>Relations clients</a:t>
            </a:r>
          </a:p>
        </p:txBody>
      </p:sp>
      <p:sp>
        <p:nvSpPr>
          <p:cNvPr id="18" name="TextBox 17"/>
          <p:cNvSpPr txBox="1"/>
          <p:nvPr/>
        </p:nvSpPr>
        <p:spPr>
          <a:xfrm>
            <a:off x="7379208" y="1078992"/>
            <a:ext cx="2075688" cy="1696212"/>
          </a:xfrm>
          <a:prstGeom prst="rect">
            <a:avLst/>
          </a:prstGeom>
          <a:noFill/>
        </p:spPr>
        <p:txBody>
          <a:bodyPr wrap="square" lIns="0" tIns="0" rIns="0" bIns="0" anchor="t">
            <a:spAutoFit/>
          </a:bodyPr>
          <a:lstStyle/>
          <a:p>
            <a:pPr>
              <a:lnSpc>
                <a:spcPct val="100000"/>
              </a:lnSpc>
              <a:spcAft>
                <a:spcPts val="200"/>
              </a:spcAft>
            </a:pPr>
            <a:r>
              <a:rPr sz="860" b="1" i="0">
                <a:solidFill>
                  <a:srgbClr val="7D5400"/>
                </a:solidFill>
                <a:latin typeface="Inter"/>
              </a:rPr>
              <a:t>› </a:t>
            </a:r>
            <a:r>
              <a:rPr sz="860" b="0" i="0">
                <a:solidFill>
                  <a:srgbClr val="3D4947"/>
                </a:solidFill>
                <a:latin typeface="Inter"/>
              </a:rPr>
              <a:t>Self-service (diagnostic 90 s gratuit)</a:t>
            </a:r>
          </a:p>
          <a:p>
            <a:pPr>
              <a:lnSpc>
                <a:spcPct val="100000"/>
              </a:lnSpc>
              <a:spcAft>
                <a:spcPts val="200"/>
              </a:spcAft>
            </a:pPr>
            <a:r>
              <a:rPr sz="860" b="1" i="0">
                <a:solidFill>
                  <a:srgbClr val="7D5400"/>
                </a:solidFill>
                <a:latin typeface="Inter"/>
              </a:rPr>
              <a:t>› </a:t>
            </a:r>
            <a:r>
              <a:rPr sz="860" b="0" i="0">
                <a:solidFill>
                  <a:srgbClr val="3D4947"/>
                </a:solidFill>
                <a:latin typeface="Inter"/>
              </a:rPr>
              <a:t>Assistant Q&amp;A contextuel (sourcé)</a:t>
            </a:r>
          </a:p>
          <a:p>
            <a:pPr>
              <a:lnSpc>
                <a:spcPct val="100000"/>
              </a:lnSpc>
              <a:spcAft>
                <a:spcPts val="200"/>
              </a:spcAft>
            </a:pPr>
            <a:r>
              <a:rPr sz="860" b="1" i="0">
                <a:solidFill>
                  <a:srgbClr val="7D5400"/>
                </a:solidFill>
                <a:latin typeface="Inter"/>
              </a:rPr>
              <a:t>› </a:t>
            </a:r>
            <a:r>
              <a:rPr sz="860" b="0" i="0">
                <a:solidFill>
                  <a:srgbClr val="3D4947"/>
                </a:solidFill>
                <a:latin typeface="Inter"/>
              </a:rPr>
              <a:t>Mandat fiduciaire = confiance durable</a:t>
            </a:r>
          </a:p>
          <a:p>
            <a:pPr>
              <a:lnSpc>
                <a:spcPct val="100000"/>
              </a:lnSpc>
              <a:spcAft>
                <a:spcPts val="200"/>
              </a:spcAft>
            </a:pPr>
            <a:r>
              <a:rPr sz="860" b="1" i="0">
                <a:solidFill>
                  <a:srgbClr val="7D5400"/>
                </a:solidFill>
                <a:latin typeface="Inter"/>
              </a:rPr>
              <a:t>› </a:t>
            </a:r>
            <a:r>
              <a:rPr sz="860" b="0" i="0">
                <a:solidFill>
                  <a:srgbClr val="3D4947"/>
                </a:solidFill>
                <a:latin typeface="Inter"/>
              </a:rPr>
              <a:t>Accompagnement humain sur la cuisine</a:t>
            </a:r>
          </a:p>
        </p:txBody>
      </p:sp>
      <p:sp>
        <p:nvSpPr>
          <p:cNvPr id="19" name="Rounded Rectangle 18"/>
          <p:cNvSpPr/>
          <p:nvPr/>
        </p:nvSpPr>
        <p:spPr>
          <a:xfrm>
            <a:off x="7287768" y="2894076"/>
            <a:ext cx="2258568" cy="2116836"/>
          </a:xfrm>
          <a:prstGeom prst="roundRect">
            <a:avLst>
              <a:gd name="adj" fmla="val 35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287768" y="2894076"/>
            <a:ext cx="2258568" cy="310896"/>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algn="ctr"/>
            <a:r>
              <a:rPr sz="1150" b="1" i="0">
                <a:solidFill>
                  <a:srgbClr val="FFFFFF"/>
                </a:solidFill>
                <a:latin typeface="JetBrains Mono"/>
              </a:rPr>
              <a:t>03  </a:t>
            </a:r>
            <a:r>
              <a:rPr sz="1150" b="1" i="0">
                <a:solidFill>
                  <a:srgbClr val="FFFFFF"/>
                </a:solidFill>
                <a:latin typeface="Space Grotesk"/>
              </a:rPr>
              <a:t>Canaux</a:t>
            </a:r>
          </a:p>
        </p:txBody>
      </p:sp>
      <p:sp>
        <p:nvSpPr>
          <p:cNvPr id="21" name="TextBox 20"/>
          <p:cNvSpPr txBox="1"/>
          <p:nvPr/>
        </p:nvSpPr>
        <p:spPr>
          <a:xfrm>
            <a:off x="7379208" y="3259836"/>
            <a:ext cx="2075688" cy="1696212"/>
          </a:xfrm>
          <a:prstGeom prst="rect">
            <a:avLst/>
          </a:prstGeom>
          <a:noFill/>
        </p:spPr>
        <p:txBody>
          <a:bodyPr wrap="square" lIns="0" tIns="0" rIns="0" bIns="0" anchor="t">
            <a:spAutoFit/>
          </a:bodyPr>
          <a:lstStyle/>
          <a:p>
            <a:pPr>
              <a:lnSpc>
                <a:spcPct val="100000"/>
              </a:lnSpc>
              <a:spcAft>
                <a:spcPts val="200"/>
              </a:spcAft>
            </a:pPr>
            <a:r>
              <a:rPr sz="860" b="1" i="0">
                <a:solidFill>
                  <a:srgbClr val="7D5400"/>
                </a:solidFill>
                <a:latin typeface="Inter"/>
              </a:rPr>
              <a:t>› </a:t>
            </a:r>
            <a:r>
              <a:rPr sz="860" b="0" i="0">
                <a:solidFill>
                  <a:srgbClr val="3D4947"/>
                </a:solidFill>
                <a:latin typeface="Inter"/>
              </a:rPr>
              <a:t>Site / configurateur web (PLG)</a:t>
            </a:r>
          </a:p>
          <a:p>
            <a:pPr>
              <a:lnSpc>
                <a:spcPct val="100000"/>
              </a:lnSpc>
              <a:spcAft>
                <a:spcPts val="200"/>
              </a:spcAft>
            </a:pPr>
            <a:r>
              <a:rPr sz="860" b="1" i="0">
                <a:solidFill>
                  <a:srgbClr val="7D5400"/>
                </a:solidFill>
                <a:latin typeface="Inter"/>
              </a:rPr>
              <a:t>› </a:t>
            </a:r>
            <a:r>
              <a:rPr sz="860" b="0" i="0">
                <a:solidFill>
                  <a:srgbClr val="3D4947"/>
                </a:solidFill>
                <a:latin typeface="Inter"/>
              </a:rPr>
              <a:t>Communauté d'Amine + bouche-à-oreille</a:t>
            </a:r>
          </a:p>
          <a:p>
            <a:pPr>
              <a:lnSpc>
                <a:spcPct val="100000"/>
              </a:lnSpc>
              <a:spcAft>
                <a:spcPts val="200"/>
              </a:spcAft>
            </a:pPr>
            <a:r>
              <a:rPr sz="860" b="1" i="0">
                <a:solidFill>
                  <a:srgbClr val="7D5400"/>
                </a:solidFill>
                <a:latin typeface="Inter"/>
              </a:rPr>
              <a:t>› </a:t>
            </a:r>
            <a:r>
              <a:rPr sz="860" b="0" i="0">
                <a:solidFill>
                  <a:srgbClr val="3D4947"/>
                </a:solidFill>
                <a:latin typeface="Inter"/>
              </a:rPr>
              <a:t>Contenu / démo live Exit Escrow</a:t>
            </a:r>
          </a:p>
          <a:p>
            <a:pPr>
              <a:lnSpc>
                <a:spcPct val="100000"/>
              </a:lnSpc>
              <a:spcAft>
                <a:spcPts val="200"/>
              </a:spcAft>
            </a:pPr>
            <a:r>
              <a:rPr sz="860" b="1" i="0">
                <a:solidFill>
                  <a:srgbClr val="7D5400"/>
                </a:solidFill>
                <a:latin typeface="Inter"/>
              </a:rPr>
              <a:t>› </a:t>
            </a:r>
            <a:r>
              <a:rPr sz="860" b="0" i="0">
                <a:solidFill>
                  <a:srgbClr val="3D4947"/>
                </a:solidFill>
                <a:latin typeface="Inter"/>
              </a:rPr>
              <a:t>Livrable exportable (MD/PDF) viral</a:t>
            </a:r>
          </a:p>
        </p:txBody>
      </p:sp>
      <p:sp>
        <p:nvSpPr>
          <p:cNvPr id="22" name="Rounded Rectangle 21"/>
          <p:cNvSpPr/>
          <p:nvPr/>
        </p:nvSpPr>
        <p:spPr>
          <a:xfrm>
            <a:off x="9610344" y="713232"/>
            <a:ext cx="2258568" cy="4297680"/>
          </a:xfrm>
          <a:prstGeom prst="roundRect">
            <a:avLst>
              <a:gd name="adj" fmla="val 35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610344" y="713232"/>
            <a:ext cx="2258568" cy="310896"/>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wrap="square" tIns="0" rIns="54864" bIns="0" rtlCol="0" anchor="ctr"/>
          <a:lstStyle/>
          <a:p>
            <a:pPr algn="ctr"/>
            <a:r>
              <a:rPr sz="1150" b="1" i="0">
                <a:solidFill>
                  <a:srgbClr val="FFFFFF"/>
                </a:solidFill>
                <a:latin typeface="JetBrains Mono"/>
              </a:rPr>
              <a:t>02  </a:t>
            </a:r>
            <a:r>
              <a:rPr sz="1150" b="1" i="0">
                <a:solidFill>
                  <a:srgbClr val="FFFFFF"/>
                </a:solidFill>
                <a:latin typeface="Space Grotesk"/>
              </a:rPr>
              <a:t>Segments de clientèle</a:t>
            </a:r>
          </a:p>
        </p:txBody>
      </p:sp>
      <p:sp>
        <p:nvSpPr>
          <p:cNvPr id="24" name="TextBox 23"/>
          <p:cNvSpPr txBox="1"/>
          <p:nvPr/>
        </p:nvSpPr>
        <p:spPr>
          <a:xfrm>
            <a:off x="9701784" y="1078992"/>
            <a:ext cx="2075688" cy="3877056"/>
          </a:xfrm>
          <a:prstGeom prst="rect">
            <a:avLst/>
          </a:prstGeom>
          <a:noFill/>
        </p:spPr>
        <p:txBody>
          <a:bodyPr wrap="square" lIns="0" tIns="0" rIns="0" bIns="0" anchor="t">
            <a:spAutoFit/>
          </a:bodyPr>
          <a:lstStyle/>
          <a:p>
            <a:pPr>
              <a:lnSpc>
                <a:spcPct val="100000"/>
              </a:lnSpc>
              <a:spcAft>
                <a:spcPts val="240"/>
              </a:spcAft>
            </a:pPr>
            <a:r>
              <a:rPr sz="900" b="1" i="0">
                <a:solidFill>
                  <a:srgbClr val="7D5400"/>
                </a:solidFill>
                <a:latin typeface="Inter"/>
              </a:rPr>
              <a:t>› </a:t>
            </a:r>
            <a:r>
              <a:rPr sz="900" b="1" i="0">
                <a:solidFill>
                  <a:srgbClr val="131B2E"/>
                </a:solidFill>
                <a:latin typeface="Inter"/>
              </a:rPr>
              <a:t>P1 cœur </a:t>
            </a:r>
            <a:r>
              <a:rPr sz="900" b="0" i="0">
                <a:solidFill>
                  <a:srgbClr val="3D4947"/>
                </a:solidFill>
                <a:latin typeface="Inter"/>
              </a:rPr>
              <a:t>— bâtisseur souverain (coach/consultant FR Maroc-UE)</a:t>
            </a:r>
          </a:p>
          <a:p>
            <a:pPr>
              <a:lnSpc>
                <a:spcPct val="100000"/>
              </a:lnSpc>
              <a:spcAft>
                <a:spcPts val="240"/>
              </a:spcAft>
            </a:pPr>
            <a:r>
              <a:rPr sz="900" b="1" i="0">
                <a:solidFill>
                  <a:srgbClr val="7D5400"/>
                </a:solidFill>
                <a:latin typeface="Inter"/>
              </a:rPr>
              <a:t>› </a:t>
            </a:r>
            <a:r>
              <a:rPr sz="900" b="1" i="0">
                <a:solidFill>
                  <a:srgbClr val="131B2E"/>
                </a:solidFill>
                <a:latin typeface="Inter"/>
              </a:rPr>
              <a:t>P2 </a:t>
            </a:r>
            <a:r>
              <a:rPr sz="900" b="0" i="0">
                <a:solidFill>
                  <a:srgbClr val="3D4947"/>
                </a:solidFill>
                <a:latin typeface="Inter"/>
              </a:rPr>
              <a:t>— PME / startup tech (5-10 pers.)</a:t>
            </a:r>
          </a:p>
          <a:p>
            <a:pPr>
              <a:lnSpc>
                <a:spcPct val="100000"/>
              </a:lnSpc>
              <a:spcAft>
                <a:spcPts val="240"/>
              </a:spcAft>
            </a:pPr>
            <a:r>
              <a:rPr sz="900" b="1" i="0">
                <a:solidFill>
                  <a:srgbClr val="7D5400"/>
                </a:solidFill>
                <a:latin typeface="Inter"/>
              </a:rPr>
              <a:t>› </a:t>
            </a:r>
            <a:r>
              <a:rPr sz="900" b="1" i="0">
                <a:solidFill>
                  <a:srgbClr val="131B2E"/>
                </a:solidFill>
                <a:latin typeface="Inter"/>
              </a:rPr>
              <a:t>P3 à venir </a:t>
            </a:r>
            <a:r>
              <a:rPr sz="900" b="0" i="0">
                <a:solidFill>
                  <a:srgbClr val="3D4947"/>
                </a:solidFill>
                <a:latin typeface="Inter"/>
              </a:rPr>
              <a:t>— agence / programme (multi-tenant)</a:t>
            </a:r>
          </a:p>
          <a:p>
            <a:pPr>
              <a:lnSpc>
                <a:spcPct val="100000"/>
              </a:lnSpc>
              <a:spcAft>
                <a:spcPts val="240"/>
              </a:spcAft>
            </a:pPr>
            <a:r>
              <a:rPr sz="900" b="1" i="0">
                <a:solidFill>
                  <a:srgbClr val="7D5400"/>
                </a:solidFill>
                <a:latin typeface="Inter"/>
              </a:rPr>
              <a:t>› </a:t>
            </a:r>
            <a:r>
              <a:rPr sz="900" b="1" i="0">
                <a:solidFill>
                  <a:srgbClr val="131B2E"/>
                </a:solidFill>
                <a:latin typeface="Inter"/>
              </a:rPr>
              <a:t>P4 à venir </a:t>
            </a:r>
            <a:r>
              <a:rPr sz="900" b="0" i="0">
                <a:solidFill>
                  <a:srgbClr val="3D4947"/>
                </a:solidFill>
                <a:latin typeface="Inter"/>
              </a:rPr>
              <a:t>— cabinet régulé (secret pro, HARD)</a:t>
            </a:r>
          </a:p>
          <a:p>
            <a:pPr>
              <a:lnSpc>
                <a:spcPct val="100000"/>
              </a:lnSpc>
              <a:spcAft>
                <a:spcPts val="240"/>
              </a:spcAft>
            </a:pPr>
            <a:r>
              <a:rPr sz="900" b="1" i="0">
                <a:solidFill>
                  <a:srgbClr val="7D5400"/>
                </a:solidFill>
                <a:latin typeface="Inter"/>
              </a:rPr>
              <a:t>› </a:t>
            </a:r>
            <a:r>
              <a:rPr sz="900" b="1" i="0">
                <a:solidFill>
                  <a:srgbClr val="131B2E"/>
                </a:solidFill>
                <a:latin typeface="Inter"/>
              </a:rPr>
              <a:t>P5 hors périmètre </a:t>
            </a:r>
            <a:r>
              <a:rPr sz="900" b="0" i="0">
                <a:solidFill>
                  <a:srgbClr val="3D4947"/>
                </a:solidFill>
                <a:latin typeface="Inter"/>
              </a:rPr>
              <a:t>— ETI / grand groupe (appel d'offres)</a:t>
            </a:r>
          </a:p>
          <a:p>
            <a:pPr>
              <a:lnSpc>
                <a:spcPct val="100000"/>
              </a:lnSpc>
              <a:spcAft>
                <a:spcPts val="240"/>
              </a:spcAft>
            </a:pPr>
            <a:r>
              <a:rPr sz="900" b="1" i="0">
                <a:solidFill>
                  <a:srgbClr val="7D5400"/>
                </a:solidFill>
                <a:latin typeface="Inter"/>
              </a:rPr>
              <a:t>› </a:t>
            </a:r>
            <a:r>
              <a:rPr sz="900" b="0" i="0">
                <a:solidFill>
                  <a:srgbClr val="3D4947"/>
                </a:solidFill>
                <a:latin typeface="Inter"/>
              </a:rPr>
              <a:t>Marché B2B, francophone d'abord</a:t>
            </a:r>
          </a:p>
        </p:txBody>
      </p:sp>
      <p:sp>
        <p:nvSpPr>
          <p:cNvPr id="25" name="Rounded Rectangle 24"/>
          <p:cNvSpPr/>
          <p:nvPr/>
        </p:nvSpPr>
        <p:spPr>
          <a:xfrm>
            <a:off x="320040" y="5074920"/>
            <a:ext cx="5742432" cy="1481328"/>
          </a:xfrm>
          <a:prstGeom prst="roundRect">
            <a:avLst>
              <a:gd name="adj" fmla="val 3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0040" y="5074920"/>
            <a:ext cx="5742432" cy="292608"/>
          </a:xfrm>
          <a:prstGeom prst="rect">
            <a:avLst/>
          </a:prstGeom>
          <a:solidFill>
            <a:srgbClr val="B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JetBrains Mono"/>
              </a:rPr>
              <a:t>09  </a:t>
            </a:r>
            <a:r>
              <a:rPr sz="1100" b="1" i="0">
                <a:solidFill>
                  <a:srgbClr val="FFFFFF"/>
                </a:solidFill>
                <a:latin typeface="Space Grotesk"/>
              </a:rPr>
              <a:t>Structure de coûts</a:t>
            </a:r>
          </a:p>
        </p:txBody>
      </p:sp>
      <p:sp>
        <p:nvSpPr>
          <p:cNvPr id="27" name="TextBox 26"/>
          <p:cNvSpPr txBox="1"/>
          <p:nvPr/>
        </p:nvSpPr>
        <p:spPr>
          <a:xfrm>
            <a:off x="429768" y="5440680"/>
            <a:ext cx="5522976" cy="1060704"/>
          </a:xfrm>
          <a:prstGeom prst="rect">
            <a:avLst/>
          </a:prstGeom>
          <a:noFill/>
        </p:spPr>
        <p:txBody>
          <a:bodyPr wrap="square" lIns="0" tIns="0" rIns="0" bIns="0" anchor="t">
            <a:spAutoFit/>
          </a:bodyPr>
          <a:lstStyle/>
          <a:p>
            <a:pPr>
              <a:lnSpc>
                <a:spcPct val="105000"/>
              </a:lnSpc>
            </a:pPr>
            <a:r>
              <a:rPr sz="900" b="1" i="0">
                <a:solidFill>
                  <a:srgbClr val="131B2E"/>
                </a:solidFill>
                <a:latin typeface="Inter"/>
              </a:rPr>
              <a:t>Coûts variables IA </a:t>
            </a:r>
            <a:r>
              <a:rPr sz="900" b="0" i="0">
                <a:solidFill>
                  <a:srgbClr val="3D4947"/>
                </a:solidFill>
                <a:latin typeface="Inter"/>
              </a:rPr>
              <a:t>(LLM via LiteLLM + Firecrawl, même free tier) · </a:t>
            </a:r>
            <a:r>
              <a:rPr sz="900" b="1" i="0">
                <a:solidFill>
                  <a:srgbClr val="131B2E"/>
                </a:solidFill>
                <a:latin typeface="Inter"/>
              </a:rPr>
              <a:t>Dev &amp; maintenance </a:t>
            </a:r>
            <a:r>
              <a:rPr sz="900" b="0" i="0">
                <a:solidFill>
                  <a:srgbClr val="3D4947"/>
                </a:solidFill>
                <a:latin typeface="Inter"/>
              </a:rPr>
              <a:t>(moteur, moats, veille) · </a:t>
            </a:r>
            <a:r>
              <a:rPr sz="900" b="1" i="0">
                <a:solidFill>
                  <a:srgbClr val="131B2E"/>
                </a:solidFill>
                <a:latin typeface="Inter"/>
              </a:rPr>
              <a:t>Hébergement plateforme </a:t>
            </a:r>
            <a:r>
              <a:rPr sz="900" b="0" i="0">
                <a:solidFill>
                  <a:srgbClr val="3D4947"/>
                </a:solidFill>
                <a:latin typeface="Inter"/>
              </a:rPr>
              <a:t>(self-host) · </a:t>
            </a:r>
            <a:r>
              <a:rPr sz="900" b="1" i="0">
                <a:solidFill>
                  <a:srgbClr val="131B2E"/>
                </a:solidFill>
                <a:latin typeface="Inter"/>
              </a:rPr>
              <a:t>Support &amp; CAC </a:t>
            </a:r>
            <a:r>
              <a:rPr sz="900" b="0" i="0">
                <a:solidFill>
                  <a:srgbClr val="3D4947"/>
                </a:solidFill>
                <a:latin typeface="Inter"/>
              </a:rPr>
              <a:t>(≈0 sur P1) · infra client = REVERSÉE, hors marge Strate</a:t>
            </a:r>
          </a:p>
          <a:p>
            <a:pPr algn="l">
              <a:spcBef>
                <a:spcPts val="300"/>
              </a:spcBef>
              <a:spcAft>
                <a:spcPts val="0"/>
              </a:spcAft>
            </a:pPr>
            <a:r>
              <a:rPr sz="850" b="0" i="1">
                <a:solidFill>
                  <a:srgbClr val="BA1A1A"/>
                </a:solidFill>
                <a:latin typeface="Inter"/>
              </a:rPr>
              <a:t>Modèle orienté coûts variables IA à borner. Tout montant = hypothèse.</a:t>
            </a:r>
          </a:p>
        </p:txBody>
      </p:sp>
      <p:sp>
        <p:nvSpPr>
          <p:cNvPr id="28" name="Rounded Rectangle 27"/>
          <p:cNvSpPr/>
          <p:nvPr/>
        </p:nvSpPr>
        <p:spPr>
          <a:xfrm>
            <a:off x="6126480" y="5074920"/>
            <a:ext cx="5742432" cy="1481328"/>
          </a:xfrm>
          <a:prstGeom prst="roundRect">
            <a:avLst>
              <a:gd name="adj" fmla="val 3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26480" y="5074920"/>
            <a:ext cx="5742432" cy="292608"/>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JetBrains Mono"/>
              </a:rPr>
              <a:t>05  </a:t>
            </a:r>
            <a:r>
              <a:rPr sz="1100" b="1" i="0">
                <a:solidFill>
                  <a:srgbClr val="FFFFFF"/>
                </a:solidFill>
                <a:latin typeface="Space Grotesk"/>
              </a:rPr>
              <a:t>Flux de revenus</a:t>
            </a:r>
          </a:p>
        </p:txBody>
      </p:sp>
      <p:sp>
        <p:nvSpPr>
          <p:cNvPr id="30" name="TextBox 29"/>
          <p:cNvSpPr txBox="1"/>
          <p:nvPr/>
        </p:nvSpPr>
        <p:spPr>
          <a:xfrm>
            <a:off x="6236208" y="5440680"/>
            <a:ext cx="5522976" cy="1060704"/>
          </a:xfrm>
          <a:prstGeom prst="rect">
            <a:avLst/>
          </a:prstGeom>
          <a:noFill/>
        </p:spPr>
        <p:txBody>
          <a:bodyPr wrap="square" lIns="0" tIns="0" rIns="0" bIns="0" anchor="t">
            <a:spAutoFit/>
          </a:bodyPr>
          <a:lstStyle/>
          <a:p>
            <a:pPr>
              <a:lnSpc>
                <a:spcPct val="105000"/>
              </a:lnSpc>
            </a:pPr>
            <a:r>
              <a:rPr sz="900" b="1" i="0">
                <a:solidFill>
                  <a:srgbClr val="131B2E"/>
                </a:solidFill>
                <a:latin typeface="Inter"/>
              </a:rPr>
              <a:t>Diagnostic gratuit </a:t>
            </a:r>
            <a:r>
              <a:rPr sz="900" b="0" i="0">
                <a:solidFill>
                  <a:srgbClr val="3D4947"/>
                </a:solidFill>
                <a:latin typeface="Inter"/>
              </a:rPr>
              <a:t>(lead magnet) · </a:t>
            </a:r>
            <a:r>
              <a:rPr sz="900" b="1" i="0">
                <a:solidFill>
                  <a:srgbClr val="131B2E"/>
                </a:solidFill>
                <a:latin typeface="Inter"/>
              </a:rPr>
              <a:t>Pro </a:t>
            </a:r>
            <a:r>
              <a:rPr sz="900" b="0" i="0">
                <a:solidFill>
                  <a:srgbClr val="3D4947"/>
                </a:solidFill>
                <a:latin typeface="Inter"/>
              </a:rPr>
              <a:t>= forfait service /mois [PLACEHOLDER] · </a:t>
            </a:r>
            <a:r>
              <a:rPr sz="900" b="1" i="0">
                <a:solidFill>
                  <a:srgbClr val="131B2E"/>
                </a:solidFill>
                <a:latin typeface="Inter"/>
              </a:rPr>
              <a:t>Souverain+ </a:t>
            </a:r>
            <a:r>
              <a:rPr sz="900" b="0" i="0">
                <a:solidFill>
                  <a:srgbClr val="3D4947"/>
                </a:solidFill>
                <a:latin typeface="Inter"/>
              </a:rPr>
              <a:t>sur devis · </a:t>
            </a:r>
            <a:r>
              <a:rPr sz="900" b="1" i="0">
                <a:solidFill>
                  <a:srgbClr val="131B2E"/>
                </a:solidFill>
                <a:latin typeface="Inter"/>
              </a:rPr>
              <a:t>Négo vendor </a:t>
            </a:r>
            <a:r>
              <a:rPr sz="900" b="0" i="0">
                <a:solidFill>
                  <a:srgbClr val="3D4947"/>
                </a:solidFill>
                <a:latin typeface="Inter"/>
              </a:rPr>
              <a:t>fiduciaire (rémunération affichée) · setup one-time + run récurrent</a:t>
            </a:r>
          </a:p>
          <a:p>
            <a:pPr algn="l">
              <a:spcBef>
                <a:spcPts val="300"/>
              </a:spcBef>
              <a:spcAft>
                <a:spcPts val="0"/>
              </a:spcAft>
            </a:pPr>
            <a:r>
              <a:rPr sz="850" b="0" i="1">
                <a:solidFill>
                  <a:srgbClr val="00685F"/>
                </a:solidFill>
                <a:latin typeface="Inter"/>
              </a:rPr>
              <a:t>On tarife le SERVICE, jamais l'infra (zéro marge dessus). Prix à caler par le sondage.</a:t>
            </a:r>
          </a:p>
        </p:txBody>
      </p:sp>
      <p:sp>
        <p:nvSpPr>
          <p:cNvPr id="31" name="TextBox 30"/>
          <p:cNvSpPr txBox="1"/>
          <p:nvPr/>
        </p:nvSpPr>
        <p:spPr>
          <a:xfrm>
            <a:off x="320040" y="6547104"/>
            <a:ext cx="11521440" cy="274320"/>
          </a:xfrm>
          <a:prstGeom prst="rect">
            <a:avLst/>
          </a:prstGeom>
          <a:noFill/>
        </p:spPr>
        <p:txBody>
          <a:bodyPr wrap="square" lIns="0" tIns="0" rIns="0" bIns="0" anchor="t">
            <a:spAutoFit/>
          </a:bodyPr>
          <a:lstStyle/>
          <a:p>
            <a:r>
              <a:rPr sz="900" b="0" i="1">
                <a:solidFill>
                  <a:srgbClr val="3D4947"/>
                </a:solidFill>
                <a:latin typeface="Inter"/>
              </a:rPr>
              <a:t>Lecture : la valeur (centre) sert les segments (droite) via relations &amp; canaux ; elle est produite par activités/ressources/partenaires (gauche) ; coûts vs revenus en bas.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11480"/>
            <a:ext cx="10972800" cy="365760"/>
          </a:xfrm>
          <a:prstGeom prst="rect">
            <a:avLst/>
          </a:prstGeom>
          <a:noFill/>
        </p:spPr>
        <p:txBody>
          <a:bodyPr wrap="square" lIns="0" tIns="0" rIns="0" bIns="0" anchor="t">
            <a:spAutoFit/>
          </a:bodyPr>
          <a:lstStyle/>
          <a:p>
            <a:pPr algn="l">
              <a:spcBef>
                <a:spcPts val="0"/>
              </a:spcBef>
              <a:spcAft>
                <a:spcPts val="400"/>
              </a:spcAft>
            </a:pPr>
            <a:r>
              <a:rPr sz="1250" b="1" i="0" spc="140">
                <a:solidFill>
                  <a:srgbClr val="00685F"/>
                </a:solidFill>
                <a:latin typeface="Inter"/>
              </a:rPr>
              <a:t>DÉTAIL DES BLOCS · CÔTÉ MARCHÉ</a:t>
            </a:r>
          </a:p>
        </p:txBody>
      </p:sp>
      <p:sp>
        <p:nvSpPr>
          <p:cNvPr id="4" name="TextBox 3"/>
          <p:cNvSpPr txBox="1"/>
          <p:nvPr/>
        </p:nvSpPr>
        <p:spPr>
          <a:xfrm>
            <a:off x="502920" y="749808"/>
            <a:ext cx="10972800" cy="640080"/>
          </a:xfrm>
          <a:prstGeom prst="rect">
            <a:avLst/>
          </a:prstGeom>
          <a:noFill/>
        </p:spPr>
        <p:txBody>
          <a:bodyPr wrap="square" lIns="0" tIns="0" rIns="0" bIns="0" anchor="t">
            <a:spAutoFit/>
          </a:bodyPr>
          <a:lstStyle/>
          <a:p>
            <a:pPr algn="l">
              <a:spcBef>
                <a:spcPts val="0"/>
              </a:spcBef>
              <a:spcAft>
                <a:spcPts val="400"/>
              </a:spcAft>
            </a:pPr>
            <a:r>
              <a:rPr sz="2600" b="1" i="0">
                <a:solidFill>
                  <a:srgbClr val="131B2E"/>
                </a:solidFill>
                <a:latin typeface="Space Grotesk"/>
              </a:rPr>
              <a:t>Valeur · Segments · Canaux · Relations</a:t>
            </a:r>
          </a:p>
        </p:txBody>
      </p:sp>
      <p:sp>
        <p:nvSpPr>
          <p:cNvPr id="5" name="Rounded Rectangle 4"/>
          <p:cNvSpPr/>
          <p:nvPr/>
        </p:nvSpPr>
        <p:spPr>
          <a:xfrm>
            <a:off x="502920" y="1554480"/>
            <a:ext cx="11155680" cy="1115568"/>
          </a:xfrm>
          <a:prstGeom prst="roundRect">
            <a:avLst>
              <a:gd name="adj" fmla="val 4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73152" cy="1115568"/>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1673352"/>
            <a:ext cx="10698480" cy="896112"/>
          </a:xfrm>
          <a:prstGeom prst="rect">
            <a:avLst/>
          </a:prstGeom>
          <a:noFill/>
        </p:spPr>
        <p:txBody>
          <a:bodyPr wrap="square" lIns="0" tIns="0" rIns="0" bIns="0" anchor="t">
            <a:spAutoFit/>
          </a:bodyPr>
          <a:lstStyle/>
          <a:p>
            <a:pPr algn="l">
              <a:spcBef>
                <a:spcPts val="0"/>
              </a:spcBef>
              <a:spcAft>
                <a:spcPts val="500"/>
              </a:spcAft>
            </a:pPr>
            <a:r>
              <a:rPr sz="1400" b="1" i="0">
                <a:solidFill>
                  <a:srgbClr val="00685F"/>
                </a:solidFill>
                <a:latin typeface="Space Grotesk"/>
              </a:rPr>
              <a:t>01 · Proposition de valeur</a:t>
            </a:r>
          </a:p>
          <a:p>
            <a:pPr>
              <a:lnSpc>
                <a:spcPct val="100000"/>
              </a:lnSpc>
              <a:spcAft>
                <a:spcPts val="200"/>
              </a:spcAft>
            </a:pPr>
            <a:r>
              <a:rPr sz="1100" b="1" i="0">
                <a:solidFill>
                  <a:srgbClr val="00685F"/>
                </a:solidFill>
                <a:latin typeface="Inter"/>
              </a:rPr>
              <a:t>— </a:t>
            </a:r>
            <a:r>
              <a:rPr sz="1100" b="0" i="0">
                <a:solidFill>
                  <a:srgbClr val="3D4947"/>
                </a:solidFill>
                <a:latin typeface="Inter"/>
              </a:rPr>
              <a:t>Job : décider, exécuter et maintenir une infra mémorielle engageante, sans expertise et sans capture.</a:t>
            </a:r>
          </a:p>
          <a:p>
            <a:pPr>
              <a:lnSpc>
                <a:spcPct val="100000"/>
              </a:lnSpc>
              <a:spcAft>
                <a:spcPts val="200"/>
              </a:spcAft>
            </a:pPr>
            <a:r>
              <a:rPr sz="1100" b="1" i="0">
                <a:solidFill>
                  <a:srgbClr val="00685F"/>
                </a:solidFill>
                <a:latin typeface="Inter"/>
              </a:rPr>
              <a:t>— </a:t>
            </a:r>
            <a:r>
              <a:rPr sz="1100" b="0" i="0">
                <a:solidFill>
                  <a:srgbClr val="3D4947"/>
                </a:solidFill>
                <a:latin typeface="Inter"/>
              </a:rPr>
              <a:t>Preuve DURE = Exit Escrow + charte fiduciaire ; le reste « à mesurer chez vous » (zéro stat inventée).</a:t>
            </a:r>
          </a:p>
        </p:txBody>
      </p:sp>
      <p:sp>
        <p:nvSpPr>
          <p:cNvPr id="8" name="Rounded Rectangle 7"/>
          <p:cNvSpPr/>
          <p:nvPr/>
        </p:nvSpPr>
        <p:spPr>
          <a:xfrm>
            <a:off x="502920" y="2798064"/>
            <a:ext cx="11155680" cy="1115568"/>
          </a:xfrm>
          <a:prstGeom prst="roundRect">
            <a:avLst>
              <a:gd name="adj" fmla="val 4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798064"/>
            <a:ext cx="73152" cy="1115568"/>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916936"/>
            <a:ext cx="10698480" cy="896112"/>
          </a:xfrm>
          <a:prstGeom prst="rect">
            <a:avLst/>
          </a:prstGeom>
          <a:noFill/>
        </p:spPr>
        <p:txBody>
          <a:bodyPr wrap="square" lIns="0" tIns="0" rIns="0" bIns="0" anchor="t">
            <a:spAutoFit/>
          </a:bodyPr>
          <a:lstStyle/>
          <a:p>
            <a:pPr algn="l">
              <a:spcBef>
                <a:spcPts val="0"/>
              </a:spcBef>
              <a:spcAft>
                <a:spcPts val="500"/>
              </a:spcAft>
            </a:pPr>
            <a:r>
              <a:rPr sz="1400" b="1" i="0">
                <a:solidFill>
                  <a:srgbClr val="7D5400"/>
                </a:solidFill>
                <a:latin typeface="Space Grotesk"/>
              </a:rPr>
              <a:t>02 · Segments de clientèle</a:t>
            </a:r>
          </a:p>
          <a:p>
            <a:pPr>
              <a:lnSpc>
                <a:spcPct val="100000"/>
              </a:lnSpc>
              <a:spcAft>
                <a:spcPts val="200"/>
              </a:spcAft>
            </a:pPr>
            <a:r>
              <a:rPr sz="1100" b="1" i="0">
                <a:solidFill>
                  <a:srgbClr val="7D5400"/>
                </a:solidFill>
                <a:latin typeface="Inter"/>
              </a:rPr>
              <a:t>— </a:t>
            </a:r>
            <a:r>
              <a:rPr sz="1100" b="0" i="0">
                <a:solidFill>
                  <a:srgbClr val="3D4947"/>
                </a:solidFill>
                <a:latin typeface="Inter"/>
              </a:rPr>
              <a:t>P1 cœur (communauté d'Amine) → demande quasi acquise ; P2 extension technophile.</a:t>
            </a:r>
          </a:p>
          <a:p>
            <a:pPr>
              <a:lnSpc>
                <a:spcPct val="100000"/>
              </a:lnSpc>
              <a:spcAft>
                <a:spcPts val="200"/>
              </a:spcAft>
            </a:pPr>
            <a:r>
              <a:rPr sz="1100" b="1" i="0">
                <a:solidFill>
                  <a:srgbClr val="7D5400"/>
                </a:solidFill>
                <a:latin typeface="Inter"/>
              </a:rPr>
              <a:t>— </a:t>
            </a:r>
            <a:r>
              <a:rPr sz="1100" b="0" i="0">
                <a:solidFill>
                  <a:srgbClr val="3D4947"/>
                </a:solidFill>
                <a:latin typeface="Inter"/>
              </a:rPr>
              <a:t>P3/P4 à venir (multi-tenant déjà câblé / premium régulé) ; P5 explicitement hors périmètre.</a:t>
            </a:r>
          </a:p>
        </p:txBody>
      </p:sp>
      <p:sp>
        <p:nvSpPr>
          <p:cNvPr id="11" name="Rounded Rectangle 10"/>
          <p:cNvSpPr/>
          <p:nvPr/>
        </p:nvSpPr>
        <p:spPr>
          <a:xfrm>
            <a:off x="502920" y="4041648"/>
            <a:ext cx="11155680" cy="1115568"/>
          </a:xfrm>
          <a:prstGeom prst="roundRect">
            <a:avLst>
              <a:gd name="adj" fmla="val 4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4041648"/>
            <a:ext cx="73152" cy="1115568"/>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4160520"/>
            <a:ext cx="10698480" cy="896112"/>
          </a:xfrm>
          <a:prstGeom prst="rect">
            <a:avLst/>
          </a:prstGeom>
          <a:noFill/>
        </p:spPr>
        <p:txBody>
          <a:bodyPr wrap="square" lIns="0" tIns="0" rIns="0" bIns="0" anchor="t">
            <a:spAutoFit/>
          </a:bodyPr>
          <a:lstStyle/>
          <a:p>
            <a:pPr algn="l">
              <a:spcBef>
                <a:spcPts val="0"/>
              </a:spcBef>
              <a:spcAft>
                <a:spcPts val="500"/>
              </a:spcAft>
            </a:pPr>
            <a:r>
              <a:rPr sz="1400" b="1" i="0">
                <a:solidFill>
                  <a:srgbClr val="0051D5"/>
                </a:solidFill>
                <a:latin typeface="Space Grotesk"/>
              </a:rPr>
              <a:t>03 · Canaux</a:t>
            </a:r>
          </a:p>
          <a:p>
            <a:pPr>
              <a:lnSpc>
                <a:spcPct val="100000"/>
              </a:lnSpc>
              <a:spcAft>
                <a:spcPts val="200"/>
              </a:spcAft>
            </a:pPr>
            <a:r>
              <a:rPr sz="1100" b="1" i="0">
                <a:solidFill>
                  <a:srgbClr val="0051D5"/>
                </a:solidFill>
                <a:latin typeface="Inter"/>
              </a:rPr>
              <a:t>— </a:t>
            </a:r>
            <a:r>
              <a:rPr sz="1100" b="0" i="0">
                <a:solidFill>
                  <a:srgbClr val="3D4947"/>
                </a:solidFill>
                <a:latin typeface="Inter"/>
              </a:rPr>
              <a:t>PLG : diagnostic 90 s gratuit comme aimant (modèle Cloudflare free tier).</a:t>
            </a:r>
          </a:p>
          <a:p>
            <a:pPr>
              <a:lnSpc>
                <a:spcPct val="100000"/>
              </a:lnSpc>
              <a:spcAft>
                <a:spcPts val="200"/>
              </a:spcAft>
            </a:pPr>
            <a:r>
              <a:rPr sz="1100" b="1" i="0">
                <a:solidFill>
                  <a:srgbClr val="0051D5"/>
                </a:solidFill>
                <a:latin typeface="Inter"/>
              </a:rPr>
              <a:t>— </a:t>
            </a:r>
            <a:r>
              <a:rPr sz="1100" b="0" i="0">
                <a:solidFill>
                  <a:srgbClr val="3D4947"/>
                </a:solidFill>
                <a:latin typeface="Inter"/>
              </a:rPr>
              <a:t>Bouche-à-oreille communautaire + démonstration live de l'Exit Escrow (moment wow).</a:t>
            </a:r>
          </a:p>
        </p:txBody>
      </p:sp>
      <p:sp>
        <p:nvSpPr>
          <p:cNvPr id="14" name="Rounded Rectangle 13"/>
          <p:cNvSpPr/>
          <p:nvPr/>
        </p:nvSpPr>
        <p:spPr>
          <a:xfrm>
            <a:off x="502920" y="5285232"/>
            <a:ext cx="11155680" cy="1115568"/>
          </a:xfrm>
          <a:prstGeom prst="roundRect">
            <a:avLst>
              <a:gd name="adj" fmla="val 4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5285232"/>
            <a:ext cx="73152" cy="1115568"/>
          </a:xfrm>
          <a:prstGeom prst="rect">
            <a:avLst/>
          </a:prstGeom>
          <a:solidFill>
            <a:srgbClr val="7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 y="5404104"/>
            <a:ext cx="10698480" cy="896112"/>
          </a:xfrm>
          <a:prstGeom prst="rect">
            <a:avLst/>
          </a:prstGeom>
          <a:noFill/>
        </p:spPr>
        <p:txBody>
          <a:bodyPr wrap="square" lIns="0" tIns="0" rIns="0" bIns="0" anchor="t">
            <a:spAutoFit/>
          </a:bodyPr>
          <a:lstStyle/>
          <a:p>
            <a:pPr algn="l">
              <a:spcBef>
                <a:spcPts val="0"/>
              </a:spcBef>
              <a:spcAft>
                <a:spcPts val="500"/>
              </a:spcAft>
            </a:pPr>
            <a:r>
              <a:rPr sz="1400" b="1" i="0">
                <a:solidFill>
                  <a:srgbClr val="7D5400"/>
                </a:solidFill>
                <a:latin typeface="Space Grotesk"/>
              </a:rPr>
              <a:t>04 · Relations clients</a:t>
            </a:r>
          </a:p>
          <a:p>
            <a:pPr>
              <a:lnSpc>
                <a:spcPct val="100000"/>
              </a:lnSpc>
              <a:spcAft>
                <a:spcPts val="200"/>
              </a:spcAft>
            </a:pPr>
            <a:r>
              <a:rPr sz="1100" b="1" i="0">
                <a:solidFill>
                  <a:srgbClr val="7D5400"/>
                </a:solidFill>
                <a:latin typeface="Inter"/>
              </a:rPr>
              <a:t>— </a:t>
            </a:r>
            <a:r>
              <a:rPr sz="1100" b="0" i="0">
                <a:solidFill>
                  <a:srgbClr val="3D4947"/>
                </a:solidFill>
                <a:latin typeface="Inter"/>
              </a:rPr>
              <a:t>Self-service + assistant Q&amp;A sourcé en haut de funnel ; humain sur la cuisine payante.</a:t>
            </a:r>
          </a:p>
          <a:p>
            <a:pPr>
              <a:lnSpc>
                <a:spcPct val="100000"/>
              </a:lnSpc>
              <a:spcAft>
                <a:spcPts val="200"/>
              </a:spcAft>
            </a:pPr>
            <a:r>
              <a:rPr sz="1100" b="1" i="0">
                <a:solidFill>
                  <a:srgbClr val="7D5400"/>
                </a:solidFill>
                <a:latin typeface="Inter"/>
              </a:rPr>
              <a:t>— </a:t>
            </a:r>
            <a:r>
              <a:rPr sz="1100" b="0" i="0">
                <a:solidFill>
                  <a:srgbClr val="3D4947"/>
                </a:solidFill>
                <a:latin typeface="Inter"/>
              </a:rPr>
              <a:t>Le mandat fiduciaire (zéro commission) ancre une relation de confiance durable.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11480"/>
            <a:ext cx="10972800" cy="365760"/>
          </a:xfrm>
          <a:prstGeom prst="rect">
            <a:avLst/>
          </a:prstGeom>
          <a:noFill/>
        </p:spPr>
        <p:txBody>
          <a:bodyPr wrap="square" lIns="0" tIns="0" rIns="0" bIns="0" anchor="t">
            <a:spAutoFit/>
          </a:bodyPr>
          <a:lstStyle/>
          <a:p>
            <a:pPr algn="l">
              <a:spcBef>
                <a:spcPts val="0"/>
              </a:spcBef>
              <a:spcAft>
                <a:spcPts val="400"/>
              </a:spcAft>
            </a:pPr>
            <a:r>
              <a:rPr sz="1250" b="1" i="0" spc="140">
                <a:solidFill>
                  <a:srgbClr val="0051D5"/>
                </a:solidFill>
                <a:latin typeface="Inter"/>
              </a:rPr>
              <a:t>DÉTAIL DES BLOCS · CÔTÉ PRODUCTION</a:t>
            </a:r>
          </a:p>
        </p:txBody>
      </p:sp>
      <p:sp>
        <p:nvSpPr>
          <p:cNvPr id="4" name="TextBox 3"/>
          <p:cNvSpPr txBox="1"/>
          <p:nvPr/>
        </p:nvSpPr>
        <p:spPr>
          <a:xfrm>
            <a:off x="502920" y="749808"/>
            <a:ext cx="10972800" cy="640080"/>
          </a:xfrm>
          <a:prstGeom prst="rect">
            <a:avLst/>
          </a:prstGeom>
          <a:noFill/>
        </p:spPr>
        <p:txBody>
          <a:bodyPr wrap="square" lIns="0" tIns="0" rIns="0" bIns="0" anchor="t">
            <a:spAutoFit/>
          </a:bodyPr>
          <a:lstStyle/>
          <a:p>
            <a:pPr algn="l">
              <a:spcBef>
                <a:spcPts val="0"/>
              </a:spcBef>
              <a:spcAft>
                <a:spcPts val="400"/>
              </a:spcAft>
            </a:pPr>
            <a:r>
              <a:rPr sz="2600" b="1" i="0">
                <a:solidFill>
                  <a:srgbClr val="131B2E"/>
                </a:solidFill>
                <a:latin typeface="Space Grotesk"/>
              </a:rPr>
              <a:t>Activités · Ressources · Partenaires</a:t>
            </a:r>
          </a:p>
        </p:txBody>
      </p:sp>
      <p:sp>
        <p:nvSpPr>
          <p:cNvPr id="5" name="Rounded Rectangle 4"/>
          <p:cNvSpPr/>
          <p:nvPr/>
        </p:nvSpPr>
        <p:spPr>
          <a:xfrm>
            <a:off x="502920" y="1600200"/>
            <a:ext cx="11155680" cy="1463040"/>
          </a:xfrm>
          <a:prstGeom prst="roundRect">
            <a:avLst>
              <a:gd name="adj" fmla="val 4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00200"/>
            <a:ext cx="73152" cy="146304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1746504"/>
            <a:ext cx="10698480" cy="1188720"/>
          </a:xfrm>
          <a:prstGeom prst="rect">
            <a:avLst/>
          </a:prstGeom>
          <a:noFill/>
        </p:spPr>
        <p:txBody>
          <a:bodyPr wrap="square" lIns="0" tIns="0" rIns="0" bIns="0" anchor="t">
            <a:spAutoFit/>
          </a:bodyPr>
          <a:lstStyle/>
          <a:p>
            <a:pPr algn="l">
              <a:spcBef>
                <a:spcPts val="0"/>
              </a:spcBef>
              <a:spcAft>
                <a:spcPts val="600"/>
              </a:spcAft>
            </a:pPr>
            <a:r>
              <a:rPr sz="1400" b="1" i="0">
                <a:solidFill>
                  <a:srgbClr val="0051D5"/>
                </a:solidFill>
                <a:latin typeface="Space Grotesk"/>
              </a:rPr>
              <a:t>06 · Activités clés</a:t>
            </a:r>
          </a:p>
          <a:p>
            <a:pPr>
              <a:lnSpc>
                <a:spcPct val="100000"/>
              </a:lnSpc>
              <a:spcAft>
                <a:spcPts val="300"/>
              </a:spcAft>
            </a:pPr>
            <a:r>
              <a:rPr sz="1100" b="1" i="0">
                <a:solidFill>
                  <a:srgbClr val="0051D5"/>
                </a:solidFill>
                <a:latin typeface="Inter"/>
              </a:rPr>
              <a:t>— </a:t>
            </a:r>
            <a:r>
              <a:rPr sz="1100" b="0" i="0">
                <a:solidFill>
                  <a:srgbClr val="3D4947"/>
                </a:solidFill>
                <a:latin typeface="Inter"/>
              </a:rPr>
              <a:t>Moteur de reco 7 couches PUR et déterministe (le LLM propose, ne calcule jamais).</a:t>
            </a:r>
          </a:p>
          <a:p>
            <a:pPr>
              <a:lnSpc>
                <a:spcPct val="100000"/>
              </a:lnSpc>
              <a:spcAft>
                <a:spcPts val="300"/>
              </a:spcAft>
            </a:pPr>
            <a:r>
              <a:rPr sz="1100" b="1" i="0">
                <a:solidFill>
                  <a:srgbClr val="0051D5"/>
                </a:solidFill>
                <a:latin typeface="Inter"/>
              </a:rPr>
              <a:t>— </a:t>
            </a:r>
            <a:r>
              <a:rPr sz="1100" b="0" i="0">
                <a:solidFill>
                  <a:srgbClr val="3D4947"/>
                </a:solidFill>
                <a:latin typeface="Inter"/>
              </a:rPr>
              <a:t>Price feed + veille catalogue live (Firecrawl + LLM) réconciliés à une baseline sourcée.</a:t>
            </a:r>
          </a:p>
          <a:p>
            <a:pPr>
              <a:lnSpc>
                <a:spcPct val="100000"/>
              </a:lnSpc>
              <a:spcAft>
                <a:spcPts val="300"/>
              </a:spcAft>
            </a:pPr>
            <a:r>
              <a:rPr sz="1100" b="1" i="0">
                <a:solidFill>
                  <a:srgbClr val="0051D5"/>
                </a:solidFill>
                <a:latin typeface="Inter"/>
              </a:rPr>
              <a:t>— </a:t>
            </a:r>
            <a:r>
              <a:rPr sz="1100" b="0" i="0">
                <a:solidFill>
                  <a:srgbClr val="3D4947"/>
                </a:solidFill>
                <a:latin typeface="Inter"/>
              </a:rPr>
              <a:t>Génération de l'Exit Escrow reproductible ; déploiement assisté + supervision (Lot 2, à venir).</a:t>
            </a:r>
          </a:p>
        </p:txBody>
      </p:sp>
      <p:sp>
        <p:nvSpPr>
          <p:cNvPr id="8" name="Rounded Rectangle 7"/>
          <p:cNvSpPr/>
          <p:nvPr/>
        </p:nvSpPr>
        <p:spPr>
          <a:xfrm>
            <a:off x="502920" y="3209544"/>
            <a:ext cx="11155680" cy="1463040"/>
          </a:xfrm>
          <a:prstGeom prst="roundRect">
            <a:avLst>
              <a:gd name="adj" fmla="val 4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3209544"/>
            <a:ext cx="73152" cy="1463040"/>
          </a:xfrm>
          <a:prstGeom prst="rect">
            <a:avLst/>
          </a:prstGeom>
          <a:solidFill>
            <a:srgbClr val="005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3355848"/>
            <a:ext cx="10698480" cy="1188720"/>
          </a:xfrm>
          <a:prstGeom prst="rect">
            <a:avLst/>
          </a:prstGeom>
          <a:noFill/>
        </p:spPr>
        <p:txBody>
          <a:bodyPr wrap="square" lIns="0" tIns="0" rIns="0" bIns="0" anchor="t">
            <a:spAutoFit/>
          </a:bodyPr>
          <a:lstStyle/>
          <a:p>
            <a:pPr algn="l">
              <a:spcBef>
                <a:spcPts val="0"/>
              </a:spcBef>
              <a:spcAft>
                <a:spcPts val="600"/>
              </a:spcAft>
            </a:pPr>
            <a:r>
              <a:rPr sz="1400" b="1" i="0">
                <a:solidFill>
                  <a:srgbClr val="0051D5"/>
                </a:solidFill>
                <a:latin typeface="Space Grotesk"/>
              </a:rPr>
              <a:t>08 · Ressources clés</a:t>
            </a:r>
          </a:p>
          <a:p>
            <a:pPr>
              <a:lnSpc>
                <a:spcPct val="100000"/>
              </a:lnSpc>
              <a:spcAft>
                <a:spcPts val="300"/>
              </a:spcAft>
            </a:pPr>
            <a:r>
              <a:rPr sz="1100" b="1" i="0">
                <a:solidFill>
                  <a:srgbClr val="0051D5"/>
                </a:solidFill>
                <a:latin typeface="Inter"/>
              </a:rPr>
              <a:t>— </a:t>
            </a:r>
            <a:r>
              <a:rPr sz="1100" b="0" i="0">
                <a:solidFill>
                  <a:srgbClr val="3D4947"/>
                </a:solidFill>
                <a:latin typeface="Inter"/>
              </a:rPr>
              <a:t>Codebase du moteur pur + les 3 moats (propriété intellectuelle).</a:t>
            </a:r>
          </a:p>
          <a:p>
            <a:pPr>
              <a:lnSpc>
                <a:spcPct val="100000"/>
              </a:lnSpc>
              <a:spcAft>
                <a:spcPts val="300"/>
              </a:spcAft>
            </a:pPr>
            <a:r>
              <a:rPr sz="1100" b="1" i="0">
                <a:solidFill>
                  <a:srgbClr val="0051D5"/>
                </a:solidFill>
                <a:latin typeface="Inter"/>
              </a:rPr>
              <a:t>— </a:t>
            </a:r>
            <a:r>
              <a:rPr sz="1100" b="0" i="0">
                <a:solidFill>
                  <a:srgbClr val="3D4947"/>
                </a:solidFill>
                <a:latin typeface="Inter"/>
              </a:rPr>
              <a:t>Catalogue + baseline de prix sourcés (DÉFCON 1) ; futur dataset de coûts réels (Network).</a:t>
            </a:r>
          </a:p>
          <a:p>
            <a:pPr>
              <a:lnSpc>
                <a:spcPct val="100000"/>
              </a:lnSpc>
              <a:spcAft>
                <a:spcPts val="300"/>
              </a:spcAft>
            </a:pPr>
            <a:r>
              <a:rPr sz="1100" b="1" i="0">
                <a:solidFill>
                  <a:srgbClr val="0051D5"/>
                </a:solidFill>
                <a:latin typeface="Inter"/>
              </a:rPr>
              <a:t>— </a:t>
            </a:r>
            <a:r>
              <a:rPr sz="1100" b="0" i="0">
                <a:solidFill>
                  <a:srgbClr val="3D4947"/>
                </a:solidFill>
                <a:latin typeface="Inter"/>
              </a:rPr>
              <a:t>Marque souveraine + charte fiduciaire (actif de confiance).</a:t>
            </a:r>
          </a:p>
        </p:txBody>
      </p:sp>
      <p:sp>
        <p:nvSpPr>
          <p:cNvPr id="11" name="Rounded Rectangle 10"/>
          <p:cNvSpPr/>
          <p:nvPr/>
        </p:nvSpPr>
        <p:spPr>
          <a:xfrm>
            <a:off x="502920" y="4818888"/>
            <a:ext cx="11155680" cy="1463040"/>
          </a:xfrm>
          <a:prstGeom prst="roundRect">
            <a:avLst>
              <a:gd name="adj" fmla="val 4000"/>
            </a:avLst>
          </a:prstGeom>
          <a:solidFill>
            <a:srgbClr val="FFFFFF"/>
          </a:solidFill>
          <a:ln w="12700">
            <a:solidFill>
              <a:srgbClr val="BCC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4818888"/>
            <a:ext cx="73152" cy="1463040"/>
          </a:xfrm>
          <a:prstGeom prst="rect">
            <a:avLst/>
          </a:prstGeom>
          <a:solidFill>
            <a:srgbClr val="006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4965192"/>
            <a:ext cx="10698480" cy="1188720"/>
          </a:xfrm>
          <a:prstGeom prst="rect">
            <a:avLst/>
          </a:prstGeom>
          <a:noFill/>
        </p:spPr>
        <p:txBody>
          <a:bodyPr wrap="square" lIns="0" tIns="0" rIns="0" bIns="0" anchor="t">
            <a:spAutoFit/>
          </a:bodyPr>
          <a:lstStyle/>
          <a:p>
            <a:pPr algn="l">
              <a:spcBef>
                <a:spcPts val="0"/>
              </a:spcBef>
              <a:spcAft>
                <a:spcPts val="600"/>
              </a:spcAft>
            </a:pPr>
            <a:r>
              <a:rPr sz="1400" b="1" i="0">
                <a:solidFill>
                  <a:srgbClr val="00685F"/>
                </a:solidFill>
                <a:latin typeface="Space Grotesk"/>
              </a:rPr>
              <a:t>07 · Partenaires clés</a:t>
            </a:r>
          </a:p>
          <a:p>
            <a:pPr>
              <a:lnSpc>
                <a:spcPct val="100000"/>
              </a:lnSpc>
              <a:spcAft>
                <a:spcPts val="300"/>
              </a:spcAft>
            </a:pPr>
            <a:r>
              <a:rPr sz="1100" b="1" i="0">
                <a:solidFill>
                  <a:srgbClr val="00685F"/>
                </a:solidFill>
                <a:latin typeface="Inter"/>
              </a:rPr>
              <a:t>— </a:t>
            </a:r>
            <a:r>
              <a:rPr sz="1100" b="0" i="0">
                <a:solidFill>
                  <a:srgbClr val="3D4947"/>
                </a:solidFill>
                <a:latin typeface="Inter"/>
              </a:rPr>
              <a:t>Infra souveraine UE/Maroc (Scaleway, OVH), hébergeurs self-host/on-prem.</a:t>
            </a:r>
          </a:p>
          <a:p>
            <a:pPr>
              <a:lnSpc>
                <a:spcPct val="100000"/>
              </a:lnSpc>
              <a:spcAft>
                <a:spcPts val="300"/>
              </a:spcAft>
            </a:pPr>
            <a:r>
              <a:rPr sz="1100" b="1" i="0">
                <a:solidFill>
                  <a:srgbClr val="00685F"/>
                </a:solidFill>
                <a:latin typeface="Inter"/>
              </a:rPr>
              <a:t>— </a:t>
            </a:r>
            <a:r>
              <a:rPr sz="1100" b="0" i="0">
                <a:solidFill>
                  <a:srgbClr val="3D4947"/>
                </a:solidFill>
                <a:latin typeface="Inter"/>
              </a:rPr>
              <a:t>Proxy LiteLLM (modèles interchangeables) + Firecrawl ; open-source (embeddings Apache 2.0).</a:t>
            </a:r>
          </a:p>
          <a:p>
            <a:pPr>
              <a:lnSpc>
                <a:spcPct val="100000"/>
              </a:lnSpc>
              <a:spcAft>
                <a:spcPts val="300"/>
              </a:spcAft>
            </a:pPr>
            <a:r>
              <a:rPr sz="1100" b="1" i="0">
                <a:solidFill>
                  <a:srgbClr val="00685F"/>
                </a:solidFill>
                <a:latin typeface="Inter"/>
              </a:rPr>
              <a:t>— </a:t>
            </a:r>
            <a:r>
              <a:rPr sz="1100" b="0" i="0">
                <a:solidFill>
                  <a:srgbClr val="3D4947"/>
                </a:solidFill>
                <a:latin typeface="Inter"/>
              </a:rPr>
              <a:t>Intégrateurs/conseil (exécution Lot 2), juridiques/DPO (conformité), communauté d'Amine (P1).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83044"/>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9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411480"/>
            <a:ext cx="10972800" cy="365760"/>
          </a:xfrm>
          <a:prstGeom prst="rect">
            <a:avLst/>
          </a:prstGeom>
          <a:noFill/>
        </p:spPr>
        <p:txBody>
          <a:bodyPr wrap="square" lIns="0" tIns="0" rIns="0" bIns="0" anchor="t">
            <a:spAutoFit/>
          </a:bodyPr>
          <a:lstStyle/>
          <a:p>
            <a:pPr algn="l">
              <a:spcBef>
                <a:spcPts val="0"/>
              </a:spcBef>
              <a:spcAft>
                <a:spcPts val="400"/>
              </a:spcAft>
            </a:pPr>
            <a:r>
              <a:rPr sz="1250" b="1" i="0" spc="140">
                <a:solidFill>
                  <a:srgbClr val="FFBA46"/>
                </a:solidFill>
                <a:latin typeface="Inter"/>
              </a:rPr>
              <a:t>DÉTAIL DES BLOCS · ÉCONOMIE</a:t>
            </a:r>
          </a:p>
        </p:txBody>
      </p:sp>
      <p:sp>
        <p:nvSpPr>
          <p:cNvPr id="4" name="TextBox 3"/>
          <p:cNvSpPr txBox="1"/>
          <p:nvPr/>
        </p:nvSpPr>
        <p:spPr>
          <a:xfrm>
            <a:off x="502920" y="749808"/>
            <a:ext cx="10972800" cy="640080"/>
          </a:xfrm>
          <a:prstGeom prst="rect">
            <a:avLst/>
          </a:prstGeom>
          <a:noFill/>
        </p:spPr>
        <p:txBody>
          <a:bodyPr wrap="square" lIns="0" tIns="0" rIns="0" bIns="0" anchor="t">
            <a:spAutoFit/>
          </a:bodyPr>
          <a:lstStyle/>
          <a:p>
            <a:pPr algn="l">
              <a:spcBef>
                <a:spcPts val="0"/>
              </a:spcBef>
              <a:spcAft>
                <a:spcPts val="400"/>
              </a:spcAft>
            </a:pPr>
            <a:r>
              <a:rPr sz="2600" b="1" i="0">
                <a:solidFill>
                  <a:srgbClr val="FFFFFF"/>
                </a:solidFill>
                <a:latin typeface="Space Grotesk"/>
              </a:rPr>
              <a:t>Flux de revenus · Structure de coûts</a:t>
            </a:r>
          </a:p>
        </p:txBody>
      </p:sp>
      <p:sp>
        <p:nvSpPr>
          <p:cNvPr id="5" name="Rounded Rectangle 4"/>
          <p:cNvSpPr/>
          <p:nvPr/>
        </p:nvSpPr>
        <p:spPr>
          <a:xfrm>
            <a:off x="502920" y="1600200"/>
            <a:ext cx="5486400" cy="4114800"/>
          </a:xfrm>
          <a:prstGeom prst="roundRect">
            <a:avLst>
              <a:gd name="adj" fmla="val 4000"/>
            </a:avLst>
          </a:prstGeom>
          <a:solidFill>
            <a:srgbClr val="323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783080"/>
            <a:ext cx="5074920" cy="3840480"/>
          </a:xfrm>
          <a:prstGeom prst="rect">
            <a:avLst/>
          </a:prstGeom>
          <a:noFill/>
        </p:spPr>
        <p:txBody>
          <a:bodyPr wrap="square" lIns="0" tIns="0" rIns="0" bIns="0" anchor="t">
            <a:spAutoFit/>
          </a:bodyPr>
          <a:lstStyle/>
          <a:p>
            <a:pPr algn="l">
              <a:spcBef>
                <a:spcPts val="0"/>
              </a:spcBef>
              <a:spcAft>
                <a:spcPts val="900"/>
              </a:spcAft>
            </a:pPr>
            <a:r>
              <a:rPr sz="1500" b="1" i="0">
                <a:solidFill>
                  <a:srgbClr val="6BD8CB"/>
                </a:solidFill>
                <a:latin typeface="Space Grotesk"/>
              </a:rPr>
              <a:t>05 · Flux de revenus</a:t>
            </a:r>
          </a:p>
          <a:p>
            <a:pPr>
              <a:lnSpc>
                <a:spcPct val="105000"/>
              </a:lnSpc>
              <a:spcAft>
                <a:spcPts val="700"/>
              </a:spcAft>
            </a:pPr>
            <a:r>
              <a:rPr sz="1200" b="1" i="0">
                <a:solidFill>
                  <a:srgbClr val="6BD8CB"/>
                </a:solidFill>
                <a:latin typeface="Inter"/>
              </a:rPr>
              <a:t>› </a:t>
            </a:r>
            <a:r>
              <a:rPr sz="1200" b="1" i="0">
                <a:solidFill>
                  <a:srgbClr val="FFFFFF"/>
                </a:solidFill>
                <a:latin typeface="Inter"/>
              </a:rPr>
              <a:t>Diagnostic </a:t>
            </a:r>
            <a:r>
              <a:rPr sz="1200" b="0" i="0">
                <a:solidFill>
                  <a:srgbClr val="EEF0FF"/>
                </a:solidFill>
                <a:latin typeface="Inter"/>
              </a:rPr>
              <a:t>= gratuit (lead magnet, crée l'habitude).</a:t>
            </a:r>
          </a:p>
          <a:p>
            <a:pPr>
              <a:lnSpc>
                <a:spcPct val="105000"/>
              </a:lnSpc>
              <a:spcAft>
                <a:spcPts val="700"/>
              </a:spcAft>
            </a:pPr>
            <a:r>
              <a:rPr sz="1200" b="1" i="0">
                <a:solidFill>
                  <a:srgbClr val="6BD8CB"/>
                </a:solidFill>
                <a:latin typeface="Inter"/>
              </a:rPr>
              <a:t>› </a:t>
            </a:r>
            <a:r>
              <a:rPr sz="1200" b="1" i="0">
                <a:solidFill>
                  <a:srgbClr val="FFFFFF"/>
                </a:solidFill>
                <a:latin typeface="Inter"/>
              </a:rPr>
              <a:t>Pro </a:t>
            </a:r>
            <a:r>
              <a:rPr sz="1200" b="0" i="0">
                <a:solidFill>
                  <a:srgbClr val="EEF0FF"/>
                </a:solidFill>
                <a:latin typeface="Inter"/>
              </a:rPr>
              <a:t>= forfait service /mois = [PLACEHOLDER].</a:t>
            </a:r>
          </a:p>
          <a:p>
            <a:pPr>
              <a:lnSpc>
                <a:spcPct val="105000"/>
              </a:lnSpc>
              <a:spcAft>
                <a:spcPts val="700"/>
              </a:spcAft>
            </a:pPr>
            <a:r>
              <a:rPr sz="1200" b="1" i="0">
                <a:solidFill>
                  <a:srgbClr val="6BD8CB"/>
                </a:solidFill>
                <a:latin typeface="Inter"/>
              </a:rPr>
              <a:t>› </a:t>
            </a:r>
            <a:r>
              <a:rPr sz="1200" b="1" i="0">
                <a:solidFill>
                  <a:srgbClr val="FFFFFF"/>
                </a:solidFill>
                <a:latin typeface="Inter"/>
              </a:rPr>
              <a:t>Souverain+ </a:t>
            </a:r>
            <a:r>
              <a:rPr sz="1200" b="0" i="0">
                <a:solidFill>
                  <a:srgbClr val="EEF0FF"/>
                </a:solidFill>
                <a:latin typeface="Inter"/>
              </a:rPr>
              <a:t>= sur devis (on-prem, SLA, multi-région à venir).</a:t>
            </a:r>
          </a:p>
          <a:p>
            <a:pPr>
              <a:lnSpc>
                <a:spcPct val="105000"/>
              </a:lnSpc>
              <a:spcAft>
                <a:spcPts val="700"/>
              </a:spcAft>
            </a:pPr>
            <a:r>
              <a:rPr sz="1200" b="1" i="0">
                <a:solidFill>
                  <a:srgbClr val="6BD8CB"/>
                </a:solidFill>
                <a:latin typeface="Inter"/>
              </a:rPr>
              <a:t>› </a:t>
            </a:r>
            <a:r>
              <a:rPr sz="1200" b="1" i="0">
                <a:solidFill>
                  <a:srgbClr val="FFFFFF"/>
                </a:solidFill>
                <a:latin typeface="Inter"/>
              </a:rPr>
              <a:t>Négo vendor </a:t>
            </a:r>
            <a:r>
              <a:rPr sz="1200" b="0" i="0">
                <a:solidFill>
                  <a:srgbClr val="EEF0FF"/>
                </a:solidFill>
                <a:latin typeface="Inter"/>
              </a:rPr>
              <a:t>= rémunération fiduciaire AFFICHÉE.</a:t>
            </a:r>
          </a:p>
          <a:p>
            <a:pPr>
              <a:lnSpc>
                <a:spcPct val="105000"/>
              </a:lnSpc>
              <a:spcAft>
                <a:spcPts val="700"/>
              </a:spcAft>
            </a:pPr>
            <a:r>
              <a:rPr sz="1200" b="1" i="0">
                <a:solidFill>
                  <a:srgbClr val="6BD8CB"/>
                </a:solidFill>
                <a:latin typeface="Inter"/>
              </a:rPr>
              <a:t>› </a:t>
            </a:r>
            <a:r>
              <a:rPr sz="1200" b="1" i="0">
                <a:solidFill>
                  <a:srgbClr val="FFFFFF"/>
                </a:solidFill>
                <a:latin typeface="Inter"/>
              </a:rPr>
              <a:t>Mise en route </a:t>
            </a:r>
            <a:r>
              <a:rPr sz="1200" b="0" i="0">
                <a:solidFill>
                  <a:srgbClr val="EEF0FF"/>
                </a:solidFill>
                <a:latin typeface="Inter"/>
              </a:rPr>
              <a:t>= setup one-time + run récurrent.</a:t>
            </a:r>
          </a:p>
          <a:p>
            <a:pPr algn="l">
              <a:spcBef>
                <a:spcPts val="400"/>
              </a:spcBef>
              <a:spcAft>
                <a:spcPts val="400"/>
              </a:spcAft>
            </a:pPr>
            <a:r>
              <a:rPr sz="1100" b="0" i="1">
                <a:solidFill>
                  <a:srgbClr val="6BD8CB"/>
                </a:solidFill>
                <a:latin typeface="Inter"/>
              </a:rPr>
              <a:t>On tarife le SERVICE ; l'infra reste au coût fournisseur (zéro marge cachée).</a:t>
            </a:r>
          </a:p>
        </p:txBody>
      </p:sp>
      <p:sp>
        <p:nvSpPr>
          <p:cNvPr id="7" name="Rounded Rectangle 6"/>
          <p:cNvSpPr/>
          <p:nvPr/>
        </p:nvSpPr>
        <p:spPr>
          <a:xfrm>
            <a:off x="6172200" y="1600200"/>
            <a:ext cx="5486400" cy="4114800"/>
          </a:xfrm>
          <a:prstGeom prst="roundRect">
            <a:avLst>
              <a:gd name="adj" fmla="val 4000"/>
            </a:avLst>
          </a:prstGeom>
          <a:solidFill>
            <a:srgbClr val="323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82512" y="1783080"/>
            <a:ext cx="5074920" cy="3840480"/>
          </a:xfrm>
          <a:prstGeom prst="rect">
            <a:avLst/>
          </a:prstGeom>
          <a:noFill/>
        </p:spPr>
        <p:txBody>
          <a:bodyPr wrap="square" lIns="0" tIns="0" rIns="0" bIns="0" anchor="t">
            <a:spAutoFit/>
          </a:bodyPr>
          <a:lstStyle/>
          <a:p>
            <a:pPr algn="l">
              <a:spcBef>
                <a:spcPts val="0"/>
              </a:spcBef>
              <a:spcAft>
                <a:spcPts val="900"/>
              </a:spcAft>
            </a:pPr>
            <a:r>
              <a:rPr sz="1500" b="1" i="0">
                <a:solidFill>
                  <a:srgbClr val="FFBA46"/>
                </a:solidFill>
                <a:latin typeface="Space Grotesk"/>
              </a:rPr>
              <a:t>09 · Structure de coûts</a:t>
            </a:r>
          </a:p>
          <a:p>
            <a:pPr>
              <a:lnSpc>
                <a:spcPct val="105000"/>
              </a:lnSpc>
              <a:spcAft>
                <a:spcPts val="700"/>
              </a:spcAft>
            </a:pPr>
            <a:r>
              <a:rPr sz="1200" b="1" i="0">
                <a:solidFill>
                  <a:srgbClr val="FFBA46"/>
                </a:solidFill>
                <a:latin typeface="Inter"/>
              </a:rPr>
              <a:t>› </a:t>
            </a:r>
            <a:r>
              <a:rPr sz="1200" b="1" i="0">
                <a:solidFill>
                  <a:srgbClr val="FFFFFF"/>
                </a:solidFill>
                <a:latin typeface="Inter"/>
              </a:rPr>
              <a:t>Coûts variables IA </a:t>
            </a:r>
            <a:r>
              <a:rPr sz="1200" b="0" i="0">
                <a:solidFill>
                  <a:srgbClr val="EEF0FF"/>
                </a:solidFill>
                <a:latin typeface="Inter"/>
              </a:rPr>
              <a:t>(LLM via LiteLLM + Firecrawl), même au free tier.</a:t>
            </a:r>
          </a:p>
          <a:p>
            <a:pPr>
              <a:lnSpc>
                <a:spcPct val="105000"/>
              </a:lnSpc>
              <a:spcAft>
                <a:spcPts val="700"/>
              </a:spcAft>
            </a:pPr>
            <a:r>
              <a:rPr sz="1200" b="1" i="0">
                <a:solidFill>
                  <a:srgbClr val="FFBA46"/>
                </a:solidFill>
                <a:latin typeface="Inter"/>
              </a:rPr>
              <a:t>› </a:t>
            </a:r>
            <a:r>
              <a:rPr sz="1200" b="1" i="0">
                <a:solidFill>
                  <a:srgbClr val="FFFFFF"/>
                </a:solidFill>
                <a:latin typeface="Inter"/>
              </a:rPr>
              <a:t>Dev &amp; maintenance </a:t>
            </a:r>
            <a:r>
              <a:rPr sz="1200" b="0" i="0">
                <a:solidFill>
                  <a:srgbClr val="EEF0FF"/>
                </a:solidFill>
                <a:latin typeface="Inter"/>
              </a:rPr>
              <a:t>(moteur, moats, veille sourcée).</a:t>
            </a:r>
          </a:p>
          <a:p>
            <a:pPr>
              <a:lnSpc>
                <a:spcPct val="105000"/>
              </a:lnSpc>
              <a:spcAft>
                <a:spcPts val="700"/>
              </a:spcAft>
            </a:pPr>
            <a:r>
              <a:rPr sz="1200" b="1" i="0">
                <a:solidFill>
                  <a:srgbClr val="FFBA46"/>
                </a:solidFill>
                <a:latin typeface="Inter"/>
              </a:rPr>
              <a:t>› </a:t>
            </a:r>
            <a:r>
              <a:rPr sz="1200" b="1" i="0">
                <a:solidFill>
                  <a:srgbClr val="FFFFFF"/>
                </a:solidFill>
                <a:latin typeface="Inter"/>
              </a:rPr>
              <a:t>Hébergement plateforme </a:t>
            </a:r>
            <a:r>
              <a:rPr sz="1200" b="0" i="0">
                <a:solidFill>
                  <a:srgbClr val="EEF0FF"/>
                </a:solidFill>
                <a:latin typeface="Inter"/>
              </a:rPr>
              <a:t>(self-host Coolify/serveur).</a:t>
            </a:r>
          </a:p>
          <a:p>
            <a:pPr>
              <a:lnSpc>
                <a:spcPct val="105000"/>
              </a:lnSpc>
              <a:spcAft>
                <a:spcPts val="700"/>
              </a:spcAft>
            </a:pPr>
            <a:r>
              <a:rPr sz="1200" b="1" i="0">
                <a:solidFill>
                  <a:srgbClr val="FFBA46"/>
                </a:solidFill>
                <a:latin typeface="Inter"/>
              </a:rPr>
              <a:t>› </a:t>
            </a:r>
            <a:r>
              <a:rPr sz="1200" b="1" i="0">
                <a:solidFill>
                  <a:srgbClr val="FFFFFF"/>
                </a:solidFill>
                <a:latin typeface="Inter"/>
              </a:rPr>
              <a:t>Support &amp; CAC </a:t>
            </a:r>
            <a:r>
              <a:rPr sz="1200" b="0" i="0">
                <a:solidFill>
                  <a:srgbClr val="EEF0FF"/>
                </a:solidFill>
                <a:latin typeface="Inter"/>
              </a:rPr>
              <a:t>(≈0 sur P1, croissant ensuite).</a:t>
            </a:r>
          </a:p>
          <a:p>
            <a:pPr>
              <a:lnSpc>
                <a:spcPct val="105000"/>
              </a:lnSpc>
              <a:spcAft>
                <a:spcPts val="700"/>
              </a:spcAft>
            </a:pPr>
            <a:r>
              <a:rPr sz="1200" b="1" i="0">
                <a:solidFill>
                  <a:srgbClr val="FFBA46"/>
                </a:solidFill>
                <a:latin typeface="Inter"/>
              </a:rPr>
              <a:t>› </a:t>
            </a:r>
            <a:r>
              <a:rPr sz="1200" b="1" i="0">
                <a:solidFill>
                  <a:srgbClr val="FFFFFF"/>
                </a:solidFill>
                <a:latin typeface="Inter"/>
              </a:rPr>
              <a:t>Infra client </a:t>
            </a:r>
            <a:r>
              <a:rPr sz="1200" b="0" i="0">
                <a:solidFill>
                  <a:srgbClr val="EEF0FF"/>
                </a:solidFill>
                <a:latin typeface="Inter"/>
              </a:rPr>
              <a:t>= REVERSÉE sans marge → hors P&amp;L Strate.</a:t>
            </a:r>
          </a:p>
          <a:p>
            <a:pPr algn="l">
              <a:spcBef>
                <a:spcPts val="400"/>
              </a:spcBef>
              <a:spcAft>
                <a:spcPts val="400"/>
              </a:spcAft>
            </a:pPr>
            <a:r>
              <a:rPr sz="1100" b="0" i="1">
                <a:solidFill>
                  <a:srgbClr val="FFBA46"/>
                </a:solidFill>
                <a:latin typeface="Inter"/>
              </a:rPr>
              <a:t>Modèle orienté coûts variables IA → à borner (quotas/cache).</a:t>
            </a:r>
          </a:p>
        </p:txBody>
      </p:sp>
      <p:sp>
        <p:nvSpPr>
          <p:cNvPr id="9" name="TextBox 8"/>
          <p:cNvSpPr txBox="1"/>
          <p:nvPr/>
        </p:nvSpPr>
        <p:spPr>
          <a:xfrm>
            <a:off x="502920" y="5943600"/>
            <a:ext cx="11155680" cy="640080"/>
          </a:xfrm>
          <a:prstGeom prst="rect">
            <a:avLst/>
          </a:prstGeom>
          <a:noFill/>
        </p:spPr>
        <p:txBody>
          <a:bodyPr wrap="square" lIns="0" tIns="0" rIns="0" bIns="0" anchor="t">
            <a:spAutoFit/>
          </a:bodyPr>
          <a:lstStyle/>
          <a:p>
            <a:pPr algn="l">
              <a:lnSpc>
                <a:spcPct val="105000"/>
              </a:lnSpc>
              <a:spcBef>
                <a:spcPts val="0"/>
              </a:spcBef>
              <a:spcAft>
                <a:spcPts val="400"/>
              </a:spcAft>
            </a:pPr>
            <a:r>
              <a:rPr sz="1150" b="0" i="0">
                <a:solidFill>
                  <a:srgbClr val="FFB4AB"/>
                </a:solidFill>
                <a:latin typeface="JetBrains Mono"/>
              </a:rPr>
              <a:t>DÉFCON 1 : prix de vente = [PLACEHOLDER] (sondage Van Westendorp + conjoint en cours) · tout montant de revenus/coûts = hypothèse à valider · aucune stat de marché inventée.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3097</Words>
  <Application>Microsoft Office PowerPoint</Application>
  <PresentationFormat>Grand écran</PresentationFormat>
  <Paragraphs>172</Paragraphs>
  <Slides>5</Slides>
  <Notes>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vt:i4>
      </vt:variant>
    </vt:vector>
  </HeadingPairs>
  <TitlesOfParts>
    <vt:vector size="11" baseType="lpstr">
      <vt:lpstr>Arial</vt:lpstr>
      <vt:lpstr>Calibri</vt:lpstr>
      <vt:lpstr>Inter</vt:lpstr>
      <vt:lpstr>JetBrains Mono</vt:lpstr>
      <vt:lpstr>Space Grotesk</vt:lpstr>
      <vt:lpstr>Office Theme</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Med Amine MANSOURI IDRISSI</dc:creator>
  <cp:keywords/>
  <dc:description>generated using python-pptx</dc:description>
  <cp:lastModifiedBy>Med Amine MANSOURI IDRISSI</cp:lastModifiedBy>
  <cp:revision>1</cp:revision>
  <dcterms:created xsi:type="dcterms:W3CDTF">2013-01-27T09:14:16Z</dcterms:created>
  <dcterms:modified xsi:type="dcterms:W3CDTF">2026-05-28T18:46:31Z</dcterms:modified>
  <cp:category/>
</cp:coreProperties>
</file>